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7" r:id="rId3"/>
    <p:sldId id="279" r:id="rId4"/>
    <p:sldId id="27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1" r:id="rId16"/>
    <p:sldId id="290" r:id="rId1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499"/>
    <a:srgbClr val="993300"/>
    <a:srgbClr val="0080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2" autoAdjust="0"/>
    <p:restoredTop sz="94686" autoAdjust="0"/>
  </p:normalViewPr>
  <p:slideViewPr>
    <p:cSldViewPr>
      <p:cViewPr varScale="1">
        <p:scale>
          <a:sx n="66" d="100"/>
          <a:sy n="66" d="100"/>
        </p:scale>
        <p:origin x="127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-2488" y="-12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ad Alsuwat" userId="4d685af158c72bc1" providerId="LiveId" clId="{923E3472-4856-46A5-A215-5DB28FDF05D7}"/>
    <pc:docChg chg="modSld">
      <pc:chgData name="Emad Alsuwat" userId="4d685af158c72bc1" providerId="LiveId" clId="{923E3472-4856-46A5-A215-5DB28FDF05D7}" dt="2025-10-22T20:48:46.240" v="1" actId="20577"/>
      <pc:docMkLst>
        <pc:docMk/>
      </pc:docMkLst>
      <pc:sldChg chg="modSp mod">
        <pc:chgData name="Emad Alsuwat" userId="4d685af158c72bc1" providerId="LiveId" clId="{923E3472-4856-46A5-A215-5DB28FDF05D7}" dt="2025-10-22T20:48:46.240" v="1" actId="20577"/>
        <pc:sldMkLst>
          <pc:docMk/>
          <pc:sldMk cId="0" sldId="256"/>
        </pc:sldMkLst>
        <pc:spChg chg="mod">
          <ac:chgData name="Emad Alsuwat" userId="4d685af158c72bc1" providerId="LiveId" clId="{923E3472-4856-46A5-A215-5DB28FDF05D7}" dt="2025-10-22T20:48:46.240" v="1" actId="20577"/>
          <ac:spMkLst>
            <pc:docMk/>
            <pc:sldMk cId="0" sldId="256"/>
            <ac:spMk id="307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CA144533-BEA3-2545-A94F-B7234F27640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36B93693-98B9-BC43-85D8-215E76AA73BD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4F5D8FF-3C0C-AB40-AA9F-7357EBEA47F2}" type="slidenum">
              <a:rPr lang="en-US" altLang="x-none" sz="1300"/>
              <a:pPr/>
              <a:t>1</a:t>
            </a:fld>
            <a:endParaRPr lang="en-US" altLang="x-none" sz="1300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15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BB974A6-8F66-6843-8EAE-49E1C598F2DC}" type="slidenum">
              <a:rPr lang="en-US" altLang="x-none" sz="1300"/>
              <a:pPr/>
              <a:t>2</a:t>
            </a:fld>
            <a:endParaRPr lang="en-US" altLang="x-none" sz="1300"/>
          </a:p>
        </p:txBody>
      </p:sp>
      <p:sp>
        <p:nvSpPr>
          <p:cNvPr id="215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7CCE7688-21D1-A840-A219-59958C9C1FCE}" type="slidenum">
              <a:rPr lang="en-US" altLang="x-none" sz="1300"/>
              <a:pPr/>
              <a:t>3</a:t>
            </a:fld>
            <a:endParaRPr lang="en-US" altLang="x-none" sz="1300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35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E52C6FA-E311-7444-8C79-950A530E7871}" type="slidenum">
              <a:rPr lang="en-US" altLang="x-none" sz="1300"/>
              <a:pPr/>
              <a:t>4</a:t>
            </a:fld>
            <a:endParaRPr lang="en-US" altLang="x-none" sz="1300"/>
          </a:p>
        </p:txBody>
      </p:sp>
      <p:sp>
        <p:nvSpPr>
          <p:cNvPr id="235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DEB9FD98-F49A-0B41-9ED8-B6F728AFFABD}" type="slidenum">
              <a:rPr lang="en-US" altLang="x-none" sz="1300"/>
              <a:pPr/>
              <a:t>5</a:t>
            </a:fld>
            <a:endParaRPr lang="en-US" altLang="x-none" sz="1300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56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6759D3A-A02D-124E-A495-00FF827BA46B}" type="slidenum">
              <a:rPr lang="en-US" altLang="x-none" sz="1300"/>
              <a:pPr/>
              <a:t>6</a:t>
            </a:fld>
            <a:endParaRPr lang="en-US" altLang="x-none" sz="1300"/>
          </a:p>
        </p:txBody>
      </p:sp>
      <p:sp>
        <p:nvSpPr>
          <p:cNvPr id="25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66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2CAAF4EC-E3FC-1142-B13A-F8F326E17B23}" type="slidenum">
              <a:rPr lang="en-US" altLang="x-none" sz="1300"/>
              <a:pPr/>
              <a:t>7</a:t>
            </a:fld>
            <a:endParaRPr lang="en-US" altLang="x-none" sz="1300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76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76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EEDE7778-C80D-C740-9699-419F192375D6}" type="slidenum">
              <a:rPr lang="en-US" altLang="x-none" sz="1300"/>
              <a:pPr/>
              <a:t>8</a:t>
            </a:fld>
            <a:endParaRPr lang="en-US" altLang="x-none" sz="1300"/>
          </a:p>
        </p:txBody>
      </p:sp>
      <p:sp>
        <p:nvSpPr>
          <p:cNvPr id="276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4CE7B6E-2143-7F41-9A21-ADA2ECCE5A94}" type="slidenum">
              <a:rPr lang="en-US" altLang="x-none" sz="1300"/>
              <a:pPr/>
              <a:t>9</a:t>
            </a:fld>
            <a:endParaRPr lang="en-US" altLang="x-none" sz="1300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296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297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C0F8EC0-6E05-8042-B706-54E3D8C34BE1}" type="slidenum">
              <a:rPr lang="en-US" altLang="x-none" sz="1300"/>
              <a:pPr/>
              <a:t>10</a:t>
            </a:fld>
            <a:endParaRPr lang="en-US" altLang="x-none" sz="1300"/>
          </a:p>
        </p:txBody>
      </p:sp>
      <p:sp>
        <p:nvSpPr>
          <p:cNvPr id="297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55C989FA-C593-C74A-B261-67A1BABE34B7}" type="slidenum">
              <a:rPr lang="en-US" altLang="x-none" sz="1300"/>
              <a:pPr/>
              <a:t>11</a:t>
            </a:fld>
            <a:endParaRPr lang="en-US" altLang="x-none" sz="1300"/>
          </a:p>
        </p:txBody>
      </p:sp>
      <p:sp>
        <p:nvSpPr>
          <p:cNvPr id="307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317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317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6B5F266F-FD4B-D647-AB63-E31DD0E229EE}" type="slidenum">
              <a:rPr lang="en-US" altLang="x-none" sz="1300"/>
              <a:pPr/>
              <a:t>12</a:t>
            </a:fld>
            <a:endParaRPr lang="en-US" altLang="x-none" sz="1300"/>
          </a:p>
        </p:txBody>
      </p:sp>
      <p:sp>
        <p:nvSpPr>
          <p:cNvPr id="317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6BC42EA-C13E-2B4A-AA3B-4305DCC677DF}" type="slidenum">
              <a:rPr lang="en-US" altLang="x-none" sz="1300"/>
              <a:pPr/>
              <a:t>13</a:t>
            </a:fld>
            <a:endParaRPr lang="en-US" altLang="x-none" sz="1300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337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337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57C3683-FE74-144E-83EC-75BD1EB9FAD2}" type="slidenum">
              <a:rPr lang="en-US" altLang="x-none" sz="1300"/>
              <a:pPr/>
              <a:t>14</a:t>
            </a:fld>
            <a:endParaRPr lang="en-US" altLang="x-none" sz="1300"/>
          </a:p>
        </p:txBody>
      </p:sp>
      <p:sp>
        <p:nvSpPr>
          <p:cNvPr id="337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348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2B2673C-9F27-9A4E-B2BF-8640DA086C03}" type="slidenum">
              <a:rPr lang="en-US" altLang="x-none" sz="1300"/>
              <a:pPr/>
              <a:t>15</a:t>
            </a:fld>
            <a:endParaRPr lang="en-US" altLang="x-none" sz="1300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Cpt S 317: Spring 2009</a:t>
            </a:r>
          </a:p>
        </p:txBody>
      </p:sp>
      <p:sp>
        <p:nvSpPr>
          <p:cNvPr id="358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300"/>
              <a:t>School of EECS, WSU</a:t>
            </a:r>
          </a:p>
        </p:txBody>
      </p:sp>
      <p:sp>
        <p:nvSpPr>
          <p:cNvPr id="358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313A0837-2CFF-A248-8899-9542DCE3CA51}" type="slidenum">
              <a:rPr lang="en-US" altLang="x-none" sz="1300"/>
              <a:pPr/>
              <a:t>16</a:t>
            </a:fld>
            <a:endParaRPr lang="en-US" altLang="x-none" sz="1300"/>
          </a:p>
        </p:txBody>
      </p:sp>
      <p:sp>
        <p:nvSpPr>
          <p:cNvPr id="358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x-none" altLang="x-none"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90513" y="2546350"/>
            <a:ext cx="711200" cy="474663"/>
            <a:chOff x="720" y="336"/>
            <a:chExt cx="624" cy="432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720" y="336"/>
              <a:ext cx="384" cy="432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ea typeface="ＭＳ Ｐゴシック" pitchFamily="28" charset="-128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056" y="336"/>
              <a:ext cx="288" cy="432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ea typeface="ＭＳ Ｐゴシック" pitchFamily="28" charset="-128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414338" y="2968625"/>
            <a:ext cx="738187" cy="474663"/>
            <a:chOff x="912" y="2640"/>
            <a:chExt cx="672" cy="432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912" y="2640"/>
              <a:ext cx="384" cy="43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ea typeface="ＭＳ Ｐゴシック" pitchFamily="28" charset="-128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249" y="2640"/>
              <a:ext cx="335" cy="432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ea typeface="ＭＳ Ｐゴシック" pitchFamily="28" charset="-128"/>
              </a:endParaRPr>
            </a:p>
          </p:txBody>
        </p:sp>
      </p:grp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28956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35000" y="24384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gray">
          <a:xfrm flipV="1">
            <a:off x="315913" y="3265488"/>
            <a:ext cx="8683625" cy="4603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43018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019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20E7158-55B2-F54E-88E5-279B4C983B95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8416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2F77EF-7FC9-6A4F-BE21-9612BE1A840A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11592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3131A9-DC17-D646-968D-D60016C468A4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20887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E98201-120E-8C46-853E-29013A034D4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3498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AA048E-449D-534D-A967-A65A900837A1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887332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513A8C-872B-884D-85B9-2C3AA775BA4B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71508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22D69C-676D-1E41-ADB9-9F239996C458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38390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6AF78B-7464-4D4B-B5BA-F55117FB364F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185580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DE01D5-7DA6-BE40-8DC5-60FDA0BDD93E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705581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E2489C-4037-5045-A156-6B7216765F5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100147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6126D7-6B05-DA4A-BB5C-DB7B7D7A1771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37134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211321-946E-CB4A-BE81-725BB7DDECC2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153041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gray">
          <a:xfrm flipV="1">
            <a:off x="460375" y="1828800"/>
            <a:ext cx="8683625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  <a:ea typeface="ＭＳ Ｐゴシック" pitchFamily="28" charset="-128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4199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  <a:ea typeface="ＭＳ Ｐゴシック" pitchFamily="2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53929611-FF21-DA45-9253-DDDAC8C39466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28DC5C78-6D79-3142-B0AC-40BAA62D9BCB}" type="slidenum">
              <a:rPr lang="en-US" altLang="x-none" sz="1400">
                <a:solidFill>
                  <a:schemeClr val="bg2"/>
                </a:solidFill>
              </a:rPr>
              <a:pPr/>
              <a:t>1</a:t>
            </a:fld>
            <a:endParaRPr lang="en-US" altLang="x-none" sz="1400">
              <a:solidFill>
                <a:schemeClr val="bg2"/>
              </a:solidFill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1905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x-none"/>
              <a:t>Regular Expressions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276600"/>
            <a:ext cx="6400800" cy="1752600"/>
          </a:xfrm>
        </p:spPr>
        <p:txBody>
          <a:bodyPr/>
          <a:lstStyle/>
          <a:p>
            <a:pPr eaLnBrk="1" hangingPunct="1">
              <a:buFont typeface="Wingdings" charset="2"/>
              <a:buNone/>
            </a:pPr>
            <a:r>
              <a:rPr lang="en-US" altLang="x-none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AC0CCB6-7D89-1A44-B165-4AAD8ADA55D8}" type="slidenum">
              <a:rPr lang="en-US" altLang="x-none" sz="1400"/>
              <a:pPr/>
              <a:t>2</a:t>
            </a:fld>
            <a:endParaRPr lang="en-US" altLang="x-none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3600"/>
              <a:t>Regular Expressions vs. Finite Automata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x-none" sz="2400"/>
              <a:t>Offers a declarative way to express the pattern of any string we want to accept	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000"/>
              <a:t>E.g., </a:t>
            </a:r>
            <a:r>
              <a:rPr lang="en-US" altLang="x-none" sz="2000">
                <a:solidFill>
                  <a:srgbClr val="CC3499"/>
                </a:solidFill>
              </a:rPr>
              <a:t>01*+ 10*</a:t>
            </a:r>
          </a:p>
          <a:p>
            <a:pPr lvl="1" eaLnBrk="1" hangingPunct="1">
              <a:lnSpc>
                <a:spcPct val="90000"/>
              </a:lnSpc>
            </a:pPr>
            <a:endParaRPr lang="en-US" altLang="x-none" sz="2000">
              <a:solidFill>
                <a:srgbClr val="CC3499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x-none" sz="2400"/>
              <a:t>Automata =&gt; more machine-like </a:t>
            </a:r>
          </a:p>
          <a:p>
            <a:pPr lvl="1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x-none" sz="2000"/>
              <a:t> &lt; input: string  , output: [accept/reject]  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400"/>
              <a:t>Regular expressions =&gt; more program syntax-like</a:t>
            </a:r>
          </a:p>
          <a:p>
            <a:pPr eaLnBrk="1" hangingPunct="1">
              <a:lnSpc>
                <a:spcPct val="90000"/>
              </a:lnSpc>
            </a:pPr>
            <a:endParaRPr lang="en-US" altLang="x-none" sz="2400"/>
          </a:p>
          <a:p>
            <a:pPr eaLnBrk="1" hangingPunct="1">
              <a:lnSpc>
                <a:spcPct val="90000"/>
              </a:lnSpc>
            </a:pPr>
            <a:r>
              <a:rPr lang="en-US" altLang="x-none" sz="2400"/>
              <a:t>Unix environments heavily use regular expressions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000"/>
              <a:t>E.g., bash shell, grep, vi &amp; other editors, sed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400"/>
              <a:t>Perl scripting – good for string processing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400"/>
              <a:t>Lexical analyzers such as Lex or Flex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4B035BB-48E2-E141-9073-FCD19B0C6106}" type="slidenum">
              <a:rPr lang="en-US" altLang="x-none" sz="1400"/>
              <a:pPr/>
              <a:t>3</a:t>
            </a:fld>
            <a:endParaRPr lang="en-US" altLang="x-none" sz="14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Regular Expressions</a:t>
            </a:r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1676400" y="2286000"/>
            <a:ext cx="16764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Regular </a:t>
            </a:r>
            <a:br>
              <a:rPr lang="en-US" altLang="x-none"/>
            </a:br>
            <a:r>
              <a:rPr lang="en-US" altLang="x-none"/>
              <a:t>expressions</a:t>
            </a:r>
          </a:p>
        </p:txBody>
      </p:sp>
      <p:sp>
        <p:nvSpPr>
          <p:cNvPr id="5125" name="AutoShape 6"/>
          <p:cNvSpPr>
            <a:spLocks noChangeArrowheads="1"/>
          </p:cNvSpPr>
          <p:nvPr/>
        </p:nvSpPr>
        <p:spPr bwMode="auto">
          <a:xfrm>
            <a:off x="4876800" y="2286000"/>
            <a:ext cx="22860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Finite Automata</a:t>
            </a:r>
            <a:br>
              <a:rPr lang="en-US" altLang="x-none"/>
            </a:br>
            <a:r>
              <a:rPr lang="en-US" altLang="x-none"/>
              <a:t>(DFA, NFA, </a:t>
            </a:r>
            <a:r>
              <a:rPr lang="en-US" altLang="x-none">
                <a:sym typeface="Symbol" charset="2"/>
              </a:rPr>
              <a:t></a:t>
            </a:r>
            <a:r>
              <a:rPr lang="en-US" altLang="x-none"/>
              <a:t>-NFA)</a:t>
            </a:r>
            <a:endParaRPr lang="ru-RU" altLang="x-none"/>
          </a:p>
        </p:txBody>
      </p:sp>
      <p:sp>
        <p:nvSpPr>
          <p:cNvPr id="5126" name="AutoShape 7"/>
          <p:cNvSpPr>
            <a:spLocks noChangeArrowheads="1"/>
          </p:cNvSpPr>
          <p:nvPr/>
        </p:nvSpPr>
        <p:spPr bwMode="auto">
          <a:xfrm>
            <a:off x="3124200" y="4419600"/>
            <a:ext cx="16764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Regular</a:t>
            </a:r>
            <a:br>
              <a:rPr lang="en-US" altLang="x-none"/>
            </a:br>
            <a:r>
              <a:rPr lang="en-US" altLang="x-none"/>
              <a:t>Languages</a:t>
            </a:r>
          </a:p>
        </p:txBody>
      </p:sp>
      <p:sp>
        <p:nvSpPr>
          <p:cNvPr id="5127" name="AutoShape 9"/>
          <p:cNvSpPr>
            <a:spLocks noChangeArrowheads="1"/>
          </p:cNvSpPr>
          <p:nvPr/>
        </p:nvSpPr>
        <p:spPr bwMode="auto">
          <a:xfrm rot="-1302285">
            <a:off x="3392488" y="2947988"/>
            <a:ext cx="274637" cy="1395412"/>
          </a:xfrm>
          <a:prstGeom prst="downArrow">
            <a:avLst>
              <a:gd name="adj1" fmla="val 50000"/>
              <a:gd name="adj2" fmla="val 12702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/>
          </a:p>
        </p:txBody>
      </p:sp>
      <p:sp>
        <p:nvSpPr>
          <p:cNvPr id="5128" name="AutoShape 10"/>
          <p:cNvSpPr>
            <a:spLocks noChangeArrowheads="1"/>
          </p:cNvSpPr>
          <p:nvPr/>
        </p:nvSpPr>
        <p:spPr bwMode="auto">
          <a:xfrm rot="1827610">
            <a:off x="4459288" y="3036888"/>
            <a:ext cx="274637" cy="1371600"/>
          </a:xfrm>
          <a:prstGeom prst="downArrow">
            <a:avLst>
              <a:gd name="adj1" fmla="val 50000"/>
              <a:gd name="adj2" fmla="val 124856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/>
          </a:p>
        </p:txBody>
      </p:sp>
      <p:sp>
        <p:nvSpPr>
          <p:cNvPr id="5129" name="Text Box 11"/>
          <p:cNvSpPr txBox="1">
            <a:spLocks noChangeArrowheads="1"/>
          </p:cNvSpPr>
          <p:nvPr/>
        </p:nvSpPr>
        <p:spPr bwMode="auto">
          <a:xfrm>
            <a:off x="3946525" y="2225675"/>
            <a:ext cx="422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3200"/>
              <a:t>=</a:t>
            </a:r>
          </a:p>
        </p:txBody>
      </p:sp>
      <p:sp>
        <p:nvSpPr>
          <p:cNvPr id="5130" name="Freeform 14"/>
          <p:cNvSpPr>
            <a:spLocks/>
          </p:cNvSpPr>
          <p:nvPr/>
        </p:nvSpPr>
        <p:spPr bwMode="auto">
          <a:xfrm>
            <a:off x="2587625" y="3894138"/>
            <a:ext cx="2951163" cy="2389187"/>
          </a:xfrm>
          <a:custGeom>
            <a:avLst/>
            <a:gdLst>
              <a:gd name="T0" fmla="*/ 2147483647 w 1859"/>
              <a:gd name="T1" fmla="*/ 2147483647 h 1505"/>
              <a:gd name="T2" fmla="*/ 0 w 1859"/>
              <a:gd name="T3" fmla="*/ 2147483647 h 1505"/>
              <a:gd name="T4" fmla="*/ 2147483647 w 1859"/>
              <a:gd name="T5" fmla="*/ 2147483647 h 1505"/>
              <a:gd name="T6" fmla="*/ 2147483647 w 1859"/>
              <a:gd name="T7" fmla="*/ 2147483647 h 1505"/>
              <a:gd name="T8" fmla="*/ 2147483647 w 1859"/>
              <a:gd name="T9" fmla="*/ 2147483647 h 1505"/>
              <a:gd name="T10" fmla="*/ 2147483647 w 1859"/>
              <a:gd name="T11" fmla="*/ 2147483647 h 1505"/>
              <a:gd name="T12" fmla="*/ 2147483647 w 1859"/>
              <a:gd name="T13" fmla="*/ 2147483647 h 1505"/>
              <a:gd name="T14" fmla="*/ 2147483647 w 1859"/>
              <a:gd name="T15" fmla="*/ 2147483647 h 1505"/>
              <a:gd name="T16" fmla="*/ 2147483647 w 1859"/>
              <a:gd name="T17" fmla="*/ 2147483647 h 1505"/>
              <a:gd name="T18" fmla="*/ 2147483647 w 1859"/>
              <a:gd name="T19" fmla="*/ 2147483647 h 1505"/>
              <a:gd name="T20" fmla="*/ 2147483647 w 1859"/>
              <a:gd name="T21" fmla="*/ 2147483647 h 1505"/>
              <a:gd name="T22" fmla="*/ 2147483647 w 1859"/>
              <a:gd name="T23" fmla="*/ 2147483647 h 1505"/>
              <a:gd name="T24" fmla="*/ 2147483647 w 1859"/>
              <a:gd name="T25" fmla="*/ 2147483647 h 1505"/>
              <a:gd name="T26" fmla="*/ 2147483647 w 1859"/>
              <a:gd name="T27" fmla="*/ 2147483647 h 1505"/>
              <a:gd name="T28" fmla="*/ 2147483647 w 1859"/>
              <a:gd name="T29" fmla="*/ 2147483647 h 1505"/>
              <a:gd name="T30" fmla="*/ 2147483647 w 1859"/>
              <a:gd name="T31" fmla="*/ 2147483647 h 1505"/>
              <a:gd name="T32" fmla="*/ 2147483647 w 1859"/>
              <a:gd name="T33" fmla="*/ 2147483647 h 1505"/>
              <a:gd name="T34" fmla="*/ 2147483647 w 1859"/>
              <a:gd name="T35" fmla="*/ 2147483647 h 1505"/>
              <a:gd name="T36" fmla="*/ 2147483647 w 1859"/>
              <a:gd name="T37" fmla="*/ 2147483647 h 1505"/>
              <a:gd name="T38" fmla="*/ 2147483647 w 1859"/>
              <a:gd name="T39" fmla="*/ 2147483647 h 1505"/>
              <a:gd name="T40" fmla="*/ 2147483647 w 1859"/>
              <a:gd name="T41" fmla="*/ 2147483647 h 1505"/>
              <a:gd name="T42" fmla="*/ 2147483647 w 1859"/>
              <a:gd name="T43" fmla="*/ 2147483647 h 1505"/>
              <a:gd name="T44" fmla="*/ 2147483647 w 1859"/>
              <a:gd name="T45" fmla="*/ 2147483647 h 1505"/>
              <a:gd name="T46" fmla="*/ 2147483647 w 1859"/>
              <a:gd name="T47" fmla="*/ 2147483647 h 1505"/>
              <a:gd name="T48" fmla="*/ 2147483647 w 1859"/>
              <a:gd name="T49" fmla="*/ 2147483647 h 1505"/>
              <a:gd name="T50" fmla="*/ 2147483647 w 1859"/>
              <a:gd name="T51" fmla="*/ 2147483647 h 1505"/>
              <a:gd name="T52" fmla="*/ 2147483647 w 1859"/>
              <a:gd name="T53" fmla="*/ 2147483647 h 1505"/>
              <a:gd name="T54" fmla="*/ 2147483647 w 1859"/>
              <a:gd name="T55" fmla="*/ 2147483647 h 1505"/>
              <a:gd name="T56" fmla="*/ 2147483647 w 1859"/>
              <a:gd name="T57" fmla="*/ 2147483647 h 1505"/>
              <a:gd name="T58" fmla="*/ 2147483647 w 1859"/>
              <a:gd name="T59" fmla="*/ 2147483647 h 1505"/>
              <a:gd name="T60" fmla="*/ 2147483647 w 1859"/>
              <a:gd name="T61" fmla="*/ 2147483647 h 1505"/>
              <a:gd name="T62" fmla="*/ 2147483647 w 1859"/>
              <a:gd name="T63" fmla="*/ 2147483647 h 1505"/>
              <a:gd name="T64" fmla="*/ 2147483647 w 1859"/>
              <a:gd name="T65" fmla="*/ 0 h 1505"/>
              <a:gd name="T66" fmla="*/ 2147483647 w 1859"/>
              <a:gd name="T67" fmla="*/ 2147483647 h 1505"/>
              <a:gd name="T68" fmla="*/ 2147483647 w 1859"/>
              <a:gd name="T69" fmla="*/ 2147483647 h 1505"/>
              <a:gd name="T70" fmla="*/ 2147483647 w 1859"/>
              <a:gd name="T71" fmla="*/ 2147483647 h 1505"/>
              <a:gd name="T72" fmla="*/ 2147483647 w 1859"/>
              <a:gd name="T73" fmla="*/ 2147483647 h 1505"/>
              <a:gd name="T74" fmla="*/ 2147483647 w 1859"/>
              <a:gd name="T75" fmla="*/ 2147483647 h 1505"/>
              <a:gd name="T76" fmla="*/ 2147483647 w 1859"/>
              <a:gd name="T77" fmla="*/ 2147483647 h 1505"/>
              <a:gd name="T78" fmla="*/ 2147483647 w 1859"/>
              <a:gd name="T79" fmla="*/ 2147483647 h 1505"/>
              <a:gd name="T80" fmla="*/ 2147483647 w 1859"/>
              <a:gd name="T81" fmla="*/ 2147483647 h 1505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859"/>
              <a:gd name="T124" fmla="*/ 0 h 1505"/>
              <a:gd name="T125" fmla="*/ 1859 w 1859"/>
              <a:gd name="T126" fmla="*/ 1505 h 1505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859" h="1505">
                <a:moveTo>
                  <a:pt x="16" y="190"/>
                </a:moveTo>
                <a:cubicBezTo>
                  <a:pt x="8" y="267"/>
                  <a:pt x="15" y="346"/>
                  <a:pt x="0" y="422"/>
                </a:cubicBezTo>
                <a:cubicBezTo>
                  <a:pt x="2" y="472"/>
                  <a:pt x="2" y="521"/>
                  <a:pt x="5" y="571"/>
                </a:cubicBezTo>
                <a:cubicBezTo>
                  <a:pt x="8" y="614"/>
                  <a:pt x="68" y="622"/>
                  <a:pt x="93" y="643"/>
                </a:cubicBezTo>
                <a:cubicBezTo>
                  <a:pt x="128" y="673"/>
                  <a:pt x="144" y="700"/>
                  <a:pt x="185" y="720"/>
                </a:cubicBezTo>
                <a:cubicBezTo>
                  <a:pt x="202" y="742"/>
                  <a:pt x="213" y="743"/>
                  <a:pt x="232" y="761"/>
                </a:cubicBezTo>
                <a:cubicBezTo>
                  <a:pt x="240" y="786"/>
                  <a:pt x="254" y="856"/>
                  <a:pt x="268" y="869"/>
                </a:cubicBezTo>
                <a:cubicBezTo>
                  <a:pt x="276" y="894"/>
                  <a:pt x="288" y="912"/>
                  <a:pt x="314" y="921"/>
                </a:cubicBezTo>
                <a:cubicBezTo>
                  <a:pt x="341" y="948"/>
                  <a:pt x="381" y="961"/>
                  <a:pt x="401" y="993"/>
                </a:cubicBezTo>
                <a:cubicBezTo>
                  <a:pt x="424" y="1029"/>
                  <a:pt x="446" y="1075"/>
                  <a:pt x="479" y="1101"/>
                </a:cubicBezTo>
                <a:cubicBezTo>
                  <a:pt x="490" y="1146"/>
                  <a:pt x="556" y="1180"/>
                  <a:pt x="592" y="1209"/>
                </a:cubicBezTo>
                <a:cubicBezTo>
                  <a:pt x="686" y="1285"/>
                  <a:pt x="780" y="1354"/>
                  <a:pt x="885" y="1414"/>
                </a:cubicBezTo>
                <a:cubicBezTo>
                  <a:pt x="952" y="1452"/>
                  <a:pt x="1004" y="1490"/>
                  <a:pt x="1080" y="1502"/>
                </a:cubicBezTo>
                <a:cubicBezTo>
                  <a:pt x="1212" y="1500"/>
                  <a:pt x="1344" y="1505"/>
                  <a:pt x="1476" y="1497"/>
                </a:cubicBezTo>
                <a:cubicBezTo>
                  <a:pt x="1488" y="1496"/>
                  <a:pt x="1496" y="1482"/>
                  <a:pt x="1507" y="1476"/>
                </a:cubicBezTo>
                <a:cubicBezTo>
                  <a:pt x="1512" y="1473"/>
                  <a:pt x="1518" y="1473"/>
                  <a:pt x="1523" y="1471"/>
                </a:cubicBezTo>
                <a:cubicBezTo>
                  <a:pt x="1545" y="1457"/>
                  <a:pt x="1586" y="1438"/>
                  <a:pt x="1610" y="1430"/>
                </a:cubicBezTo>
                <a:cubicBezTo>
                  <a:pt x="1622" y="1416"/>
                  <a:pt x="1635" y="1404"/>
                  <a:pt x="1646" y="1389"/>
                </a:cubicBezTo>
                <a:cubicBezTo>
                  <a:pt x="1649" y="1384"/>
                  <a:pt x="1648" y="1378"/>
                  <a:pt x="1651" y="1373"/>
                </a:cubicBezTo>
                <a:cubicBezTo>
                  <a:pt x="1672" y="1342"/>
                  <a:pt x="1711" y="1313"/>
                  <a:pt x="1739" y="1286"/>
                </a:cubicBezTo>
                <a:cubicBezTo>
                  <a:pt x="1743" y="1247"/>
                  <a:pt x="1740" y="1233"/>
                  <a:pt x="1759" y="1204"/>
                </a:cubicBezTo>
                <a:cubicBezTo>
                  <a:pt x="1773" y="1161"/>
                  <a:pt x="1789" y="1119"/>
                  <a:pt x="1800" y="1075"/>
                </a:cubicBezTo>
                <a:cubicBezTo>
                  <a:pt x="1806" y="989"/>
                  <a:pt x="1817" y="904"/>
                  <a:pt x="1821" y="818"/>
                </a:cubicBezTo>
                <a:cubicBezTo>
                  <a:pt x="1830" y="594"/>
                  <a:pt x="1804" y="678"/>
                  <a:pt x="1831" y="597"/>
                </a:cubicBezTo>
                <a:cubicBezTo>
                  <a:pt x="1834" y="543"/>
                  <a:pt x="1833" y="506"/>
                  <a:pt x="1847" y="458"/>
                </a:cubicBezTo>
                <a:cubicBezTo>
                  <a:pt x="1845" y="422"/>
                  <a:pt x="1859" y="378"/>
                  <a:pt x="1836" y="350"/>
                </a:cubicBezTo>
                <a:cubicBezTo>
                  <a:pt x="1811" y="319"/>
                  <a:pt x="1760" y="268"/>
                  <a:pt x="1723" y="257"/>
                </a:cubicBezTo>
                <a:cubicBezTo>
                  <a:pt x="1702" y="243"/>
                  <a:pt x="1686" y="237"/>
                  <a:pt x="1661" y="232"/>
                </a:cubicBezTo>
                <a:cubicBezTo>
                  <a:pt x="1632" y="200"/>
                  <a:pt x="1595" y="183"/>
                  <a:pt x="1553" y="175"/>
                </a:cubicBezTo>
                <a:cubicBezTo>
                  <a:pt x="1519" y="151"/>
                  <a:pt x="1480" y="132"/>
                  <a:pt x="1440" y="124"/>
                </a:cubicBezTo>
                <a:cubicBezTo>
                  <a:pt x="1417" y="111"/>
                  <a:pt x="1377" y="86"/>
                  <a:pt x="1353" y="77"/>
                </a:cubicBezTo>
                <a:cubicBezTo>
                  <a:pt x="1242" y="35"/>
                  <a:pt x="1094" y="38"/>
                  <a:pt x="977" y="26"/>
                </a:cubicBezTo>
                <a:cubicBezTo>
                  <a:pt x="934" y="4"/>
                  <a:pt x="881" y="7"/>
                  <a:pt x="833" y="0"/>
                </a:cubicBezTo>
                <a:cubicBezTo>
                  <a:pt x="621" y="3"/>
                  <a:pt x="484" y="7"/>
                  <a:pt x="293" y="16"/>
                </a:cubicBezTo>
                <a:cubicBezTo>
                  <a:pt x="250" y="21"/>
                  <a:pt x="222" y="33"/>
                  <a:pt x="185" y="46"/>
                </a:cubicBezTo>
                <a:cubicBezTo>
                  <a:pt x="146" y="60"/>
                  <a:pt x="102" y="64"/>
                  <a:pt x="62" y="77"/>
                </a:cubicBezTo>
                <a:cubicBezTo>
                  <a:pt x="51" y="90"/>
                  <a:pt x="40" y="99"/>
                  <a:pt x="26" y="108"/>
                </a:cubicBezTo>
                <a:cubicBezTo>
                  <a:pt x="24" y="113"/>
                  <a:pt x="25" y="120"/>
                  <a:pt x="21" y="124"/>
                </a:cubicBezTo>
                <a:cubicBezTo>
                  <a:pt x="17" y="128"/>
                  <a:pt x="6" y="123"/>
                  <a:pt x="5" y="129"/>
                </a:cubicBezTo>
                <a:cubicBezTo>
                  <a:pt x="2" y="146"/>
                  <a:pt x="8" y="163"/>
                  <a:pt x="11" y="180"/>
                </a:cubicBezTo>
                <a:cubicBezTo>
                  <a:pt x="17" y="214"/>
                  <a:pt x="16" y="196"/>
                  <a:pt x="16" y="190"/>
                </a:cubicBezTo>
                <a:close/>
              </a:path>
            </a:pathLst>
          </a:custGeom>
          <a:solidFill>
            <a:srgbClr val="FFCC99">
              <a:alpha val="16078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1" name="Freeform 15"/>
          <p:cNvSpPr>
            <a:spLocks/>
          </p:cNvSpPr>
          <p:nvPr/>
        </p:nvSpPr>
        <p:spPr bwMode="auto">
          <a:xfrm>
            <a:off x="4495800" y="1752600"/>
            <a:ext cx="2995613" cy="1851025"/>
          </a:xfrm>
          <a:custGeom>
            <a:avLst/>
            <a:gdLst>
              <a:gd name="T0" fmla="*/ 2147483647 w 1887"/>
              <a:gd name="T1" fmla="*/ 2147483647 h 1166"/>
              <a:gd name="T2" fmla="*/ 2147483647 w 1887"/>
              <a:gd name="T3" fmla="*/ 2147483647 h 1166"/>
              <a:gd name="T4" fmla="*/ 2147483647 w 1887"/>
              <a:gd name="T5" fmla="*/ 2147483647 h 1166"/>
              <a:gd name="T6" fmla="*/ 0 w 1887"/>
              <a:gd name="T7" fmla="*/ 2147483647 h 1166"/>
              <a:gd name="T8" fmla="*/ 2147483647 w 1887"/>
              <a:gd name="T9" fmla="*/ 2147483647 h 1166"/>
              <a:gd name="T10" fmla="*/ 2147483647 w 1887"/>
              <a:gd name="T11" fmla="*/ 2147483647 h 1166"/>
              <a:gd name="T12" fmla="*/ 2147483647 w 1887"/>
              <a:gd name="T13" fmla="*/ 2147483647 h 1166"/>
              <a:gd name="T14" fmla="*/ 2147483647 w 1887"/>
              <a:gd name="T15" fmla="*/ 2147483647 h 1166"/>
              <a:gd name="T16" fmla="*/ 2147483647 w 1887"/>
              <a:gd name="T17" fmla="*/ 2147483647 h 1166"/>
              <a:gd name="T18" fmla="*/ 2147483647 w 1887"/>
              <a:gd name="T19" fmla="*/ 2147483647 h 1166"/>
              <a:gd name="T20" fmla="*/ 2147483647 w 1887"/>
              <a:gd name="T21" fmla="*/ 2147483647 h 1166"/>
              <a:gd name="T22" fmla="*/ 2147483647 w 1887"/>
              <a:gd name="T23" fmla="*/ 2147483647 h 1166"/>
              <a:gd name="T24" fmla="*/ 2147483647 w 1887"/>
              <a:gd name="T25" fmla="*/ 2147483647 h 1166"/>
              <a:gd name="T26" fmla="*/ 2147483647 w 1887"/>
              <a:gd name="T27" fmla="*/ 2147483647 h 1166"/>
              <a:gd name="T28" fmla="*/ 2147483647 w 1887"/>
              <a:gd name="T29" fmla="*/ 2147483647 h 1166"/>
              <a:gd name="T30" fmla="*/ 2147483647 w 1887"/>
              <a:gd name="T31" fmla="*/ 2147483647 h 1166"/>
              <a:gd name="T32" fmla="*/ 2147483647 w 1887"/>
              <a:gd name="T33" fmla="*/ 2147483647 h 1166"/>
              <a:gd name="T34" fmla="*/ 2147483647 w 1887"/>
              <a:gd name="T35" fmla="*/ 2147483647 h 1166"/>
              <a:gd name="T36" fmla="*/ 2147483647 w 1887"/>
              <a:gd name="T37" fmla="*/ 2147483647 h 1166"/>
              <a:gd name="T38" fmla="*/ 2147483647 w 1887"/>
              <a:gd name="T39" fmla="*/ 2147483647 h 1166"/>
              <a:gd name="T40" fmla="*/ 2147483647 w 1887"/>
              <a:gd name="T41" fmla="*/ 2147483647 h 1166"/>
              <a:gd name="T42" fmla="*/ 2147483647 w 1887"/>
              <a:gd name="T43" fmla="*/ 2147483647 h 1166"/>
              <a:gd name="T44" fmla="*/ 2147483647 w 1887"/>
              <a:gd name="T45" fmla="*/ 2147483647 h 1166"/>
              <a:gd name="T46" fmla="*/ 2147483647 w 1887"/>
              <a:gd name="T47" fmla="*/ 2147483647 h 1166"/>
              <a:gd name="T48" fmla="*/ 2147483647 w 1887"/>
              <a:gd name="T49" fmla="*/ 2147483647 h 1166"/>
              <a:gd name="T50" fmla="*/ 2147483647 w 1887"/>
              <a:gd name="T51" fmla="*/ 2147483647 h 1166"/>
              <a:gd name="T52" fmla="*/ 2147483647 w 1887"/>
              <a:gd name="T53" fmla="*/ 2147483647 h 1166"/>
              <a:gd name="T54" fmla="*/ 2147483647 w 1887"/>
              <a:gd name="T55" fmla="*/ 2147483647 h 1166"/>
              <a:gd name="T56" fmla="*/ 2147483647 w 1887"/>
              <a:gd name="T57" fmla="*/ 2147483647 h 1166"/>
              <a:gd name="T58" fmla="*/ 2147483647 w 1887"/>
              <a:gd name="T59" fmla="*/ 2147483647 h 1166"/>
              <a:gd name="T60" fmla="*/ 2147483647 w 1887"/>
              <a:gd name="T61" fmla="*/ 2147483647 h 1166"/>
              <a:gd name="T62" fmla="*/ 2147483647 w 1887"/>
              <a:gd name="T63" fmla="*/ 2147483647 h 1166"/>
              <a:gd name="T64" fmla="*/ 2147483647 w 1887"/>
              <a:gd name="T65" fmla="*/ 2147483647 h 1166"/>
              <a:gd name="T66" fmla="*/ 2147483647 w 1887"/>
              <a:gd name="T67" fmla="*/ 2147483647 h 1166"/>
              <a:gd name="T68" fmla="*/ 2147483647 w 1887"/>
              <a:gd name="T69" fmla="*/ 2147483647 h 1166"/>
              <a:gd name="T70" fmla="*/ 2147483647 w 1887"/>
              <a:gd name="T71" fmla="*/ 2147483647 h 1166"/>
              <a:gd name="T72" fmla="*/ 2147483647 w 1887"/>
              <a:gd name="T73" fmla="*/ 2147483647 h 1166"/>
              <a:gd name="T74" fmla="*/ 2147483647 w 1887"/>
              <a:gd name="T75" fmla="*/ 2147483647 h 1166"/>
              <a:gd name="T76" fmla="*/ 2147483647 w 1887"/>
              <a:gd name="T77" fmla="*/ 2147483647 h 1166"/>
              <a:gd name="T78" fmla="*/ 2147483647 w 1887"/>
              <a:gd name="T79" fmla="*/ 2147483647 h 1166"/>
              <a:gd name="T80" fmla="*/ 2147483647 w 1887"/>
              <a:gd name="T81" fmla="*/ 2147483647 h 1166"/>
              <a:gd name="T82" fmla="*/ 2147483647 w 1887"/>
              <a:gd name="T83" fmla="*/ 2147483647 h 1166"/>
              <a:gd name="T84" fmla="*/ 2147483647 w 1887"/>
              <a:gd name="T85" fmla="*/ 2147483647 h 1166"/>
              <a:gd name="T86" fmla="*/ 2147483647 w 1887"/>
              <a:gd name="T87" fmla="*/ 2147483647 h 1166"/>
              <a:gd name="T88" fmla="*/ 2147483647 w 1887"/>
              <a:gd name="T89" fmla="*/ 2147483647 h 116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1887"/>
              <a:gd name="T136" fmla="*/ 0 h 1166"/>
              <a:gd name="T137" fmla="*/ 1887 w 1887"/>
              <a:gd name="T138" fmla="*/ 1166 h 116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1887" h="1166">
                <a:moveTo>
                  <a:pt x="267" y="45"/>
                </a:moveTo>
                <a:cubicBezTo>
                  <a:pt x="188" y="47"/>
                  <a:pt x="122" y="39"/>
                  <a:pt x="51" y="66"/>
                </a:cubicBezTo>
                <a:cubicBezTo>
                  <a:pt x="35" y="90"/>
                  <a:pt x="37" y="109"/>
                  <a:pt x="31" y="138"/>
                </a:cubicBezTo>
                <a:cubicBezTo>
                  <a:pt x="26" y="160"/>
                  <a:pt x="12" y="186"/>
                  <a:pt x="0" y="204"/>
                </a:cubicBezTo>
                <a:cubicBezTo>
                  <a:pt x="3" y="278"/>
                  <a:pt x="7" y="319"/>
                  <a:pt x="20" y="384"/>
                </a:cubicBezTo>
                <a:cubicBezTo>
                  <a:pt x="22" y="401"/>
                  <a:pt x="21" y="419"/>
                  <a:pt x="25" y="436"/>
                </a:cubicBezTo>
                <a:cubicBezTo>
                  <a:pt x="26" y="442"/>
                  <a:pt x="34" y="445"/>
                  <a:pt x="36" y="451"/>
                </a:cubicBezTo>
                <a:cubicBezTo>
                  <a:pt x="47" y="487"/>
                  <a:pt x="42" y="529"/>
                  <a:pt x="56" y="564"/>
                </a:cubicBezTo>
                <a:cubicBezTo>
                  <a:pt x="66" y="589"/>
                  <a:pt x="92" y="601"/>
                  <a:pt x="108" y="621"/>
                </a:cubicBezTo>
                <a:cubicBezTo>
                  <a:pt x="126" y="644"/>
                  <a:pt x="136" y="658"/>
                  <a:pt x="154" y="678"/>
                </a:cubicBezTo>
                <a:cubicBezTo>
                  <a:pt x="168" y="720"/>
                  <a:pt x="144" y="658"/>
                  <a:pt x="180" y="708"/>
                </a:cubicBezTo>
                <a:cubicBezTo>
                  <a:pt x="184" y="714"/>
                  <a:pt x="181" y="723"/>
                  <a:pt x="185" y="729"/>
                </a:cubicBezTo>
                <a:cubicBezTo>
                  <a:pt x="193" y="740"/>
                  <a:pt x="208" y="744"/>
                  <a:pt x="216" y="755"/>
                </a:cubicBezTo>
                <a:cubicBezTo>
                  <a:pt x="229" y="773"/>
                  <a:pt x="231" y="791"/>
                  <a:pt x="247" y="806"/>
                </a:cubicBezTo>
                <a:cubicBezTo>
                  <a:pt x="251" y="820"/>
                  <a:pt x="258" y="833"/>
                  <a:pt x="262" y="847"/>
                </a:cubicBezTo>
                <a:cubicBezTo>
                  <a:pt x="263" y="852"/>
                  <a:pt x="266" y="885"/>
                  <a:pt x="272" y="894"/>
                </a:cubicBezTo>
                <a:cubicBezTo>
                  <a:pt x="282" y="910"/>
                  <a:pt x="326" y="941"/>
                  <a:pt x="344" y="950"/>
                </a:cubicBezTo>
                <a:cubicBezTo>
                  <a:pt x="367" y="981"/>
                  <a:pt x="414" y="1008"/>
                  <a:pt x="452" y="1017"/>
                </a:cubicBezTo>
                <a:cubicBezTo>
                  <a:pt x="466" y="1024"/>
                  <a:pt x="479" y="1032"/>
                  <a:pt x="493" y="1038"/>
                </a:cubicBezTo>
                <a:cubicBezTo>
                  <a:pt x="513" y="1046"/>
                  <a:pt x="535" y="1049"/>
                  <a:pt x="555" y="1058"/>
                </a:cubicBezTo>
                <a:cubicBezTo>
                  <a:pt x="617" y="1086"/>
                  <a:pt x="627" y="1112"/>
                  <a:pt x="689" y="1120"/>
                </a:cubicBezTo>
                <a:cubicBezTo>
                  <a:pt x="715" y="1126"/>
                  <a:pt x="754" y="1154"/>
                  <a:pt x="776" y="1156"/>
                </a:cubicBezTo>
                <a:cubicBezTo>
                  <a:pt x="877" y="1165"/>
                  <a:pt x="1080" y="1166"/>
                  <a:pt x="1080" y="1166"/>
                </a:cubicBezTo>
                <a:cubicBezTo>
                  <a:pt x="1322" y="1160"/>
                  <a:pt x="1219" y="1162"/>
                  <a:pt x="1352" y="1140"/>
                </a:cubicBezTo>
                <a:cubicBezTo>
                  <a:pt x="1381" y="1122"/>
                  <a:pt x="1417" y="1110"/>
                  <a:pt x="1450" y="1099"/>
                </a:cubicBezTo>
                <a:cubicBezTo>
                  <a:pt x="1507" y="1045"/>
                  <a:pt x="1537" y="1022"/>
                  <a:pt x="1620" y="1002"/>
                </a:cubicBezTo>
                <a:cubicBezTo>
                  <a:pt x="1649" y="984"/>
                  <a:pt x="1677" y="972"/>
                  <a:pt x="1702" y="950"/>
                </a:cubicBezTo>
                <a:cubicBezTo>
                  <a:pt x="1718" y="936"/>
                  <a:pt x="1736" y="905"/>
                  <a:pt x="1753" y="894"/>
                </a:cubicBezTo>
                <a:cubicBezTo>
                  <a:pt x="1813" y="856"/>
                  <a:pt x="1756" y="910"/>
                  <a:pt x="1810" y="868"/>
                </a:cubicBezTo>
                <a:cubicBezTo>
                  <a:pt x="1820" y="860"/>
                  <a:pt x="1827" y="850"/>
                  <a:pt x="1836" y="842"/>
                </a:cubicBezTo>
                <a:cubicBezTo>
                  <a:pt x="1842" y="836"/>
                  <a:pt x="1849" y="832"/>
                  <a:pt x="1856" y="827"/>
                </a:cubicBezTo>
                <a:cubicBezTo>
                  <a:pt x="1865" y="789"/>
                  <a:pt x="1879" y="753"/>
                  <a:pt x="1887" y="714"/>
                </a:cubicBezTo>
                <a:cubicBezTo>
                  <a:pt x="1884" y="608"/>
                  <a:pt x="1883" y="509"/>
                  <a:pt x="1872" y="405"/>
                </a:cubicBezTo>
                <a:cubicBezTo>
                  <a:pt x="1868" y="370"/>
                  <a:pt x="1862" y="362"/>
                  <a:pt x="1841" y="338"/>
                </a:cubicBezTo>
                <a:cubicBezTo>
                  <a:pt x="1833" y="329"/>
                  <a:pt x="1820" y="307"/>
                  <a:pt x="1820" y="307"/>
                </a:cubicBezTo>
                <a:cubicBezTo>
                  <a:pt x="1808" y="272"/>
                  <a:pt x="1784" y="239"/>
                  <a:pt x="1748" y="230"/>
                </a:cubicBezTo>
                <a:cubicBezTo>
                  <a:pt x="1693" y="193"/>
                  <a:pt x="1624" y="187"/>
                  <a:pt x="1558" y="174"/>
                </a:cubicBezTo>
                <a:cubicBezTo>
                  <a:pt x="1528" y="162"/>
                  <a:pt x="1504" y="154"/>
                  <a:pt x="1471" y="148"/>
                </a:cubicBezTo>
                <a:cubicBezTo>
                  <a:pt x="1441" y="123"/>
                  <a:pt x="1414" y="114"/>
                  <a:pt x="1378" y="102"/>
                </a:cubicBezTo>
                <a:cubicBezTo>
                  <a:pt x="1328" y="47"/>
                  <a:pt x="1257" y="56"/>
                  <a:pt x="1188" y="50"/>
                </a:cubicBezTo>
                <a:cubicBezTo>
                  <a:pt x="1174" y="49"/>
                  <a:pt x="1161" y="46"/>
                  <a:pt x="1147" y="45"/>
                </a:cubicBezTo>
                <a:cubicBezTo>
                  <a:pt x="1113" y="43"/>
                  <a:pt x="1078" y="42"/>
                  <a:pt x="1044" y="40"/>
                </a:cubicBezTo>
                <a:cubicBezTo>
                  <a:pt x="816" y="13"/>
                  <a:pt x="989" y="30"/>
                  <a:pt x="524" y="24"/>
                </a:cubicBezTo>
                <a:cubicBezTo>
                  <a:pt x="441" y="12"/>
                  <a:pt x="352" y="0"/>
                  <a:pt x="272" y="30"/>
                </a:cubicBezTo>
                <a:cubicBezTo>
                  <a:pt x="261" y="46"/>
                  <a:pt x="256" y="45"/>
                  <a:pt x="267" y="45"/>
                </a:cubicBezTo>
                <a:close/>
              </a:path>
            </a:pathLst>
          </a:custGeom>
          <a:solidFill>
            <a:srgbClr val="FFCC99">
              <a:alpha val="10196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2" name="Freeform 16"/>
          <p:cNvSpPr>
            <a:spLocks/>
          </p:cNvSpPr>
          <p:nvPr/>
        </p:nvSpPr>
        <p:spPr bwMode="auto">
          <a:xfrm>
            <a:off x="1057275" y="2041525"/>
            <a:ext cx="2878138" cy="1395413"/>
          </a:xfrm>
          <a:custGeom>
            <a:avLst/>
            <a:gdLst>
              <a:gd name="T0" fmla="*/ 2147483647 w 1813"/>
              <a:gd name="T1" fmla="*/ 2147483647 h 879"/>
              <a:gd name="T2" fmla="*/ 2147483647 w 1813"/>
              <a:gd name="T3" fmla="*/ 2147483647 h 879"/>
              <a:gd name="T4" fmla="*/ 2147483647 w 1813"/>
              <a:gd name="T5" fmla="*/ 2147483647 h 879"/>
              <a:gd name="T6" fmla="*/ 2147483647 w 1813"/>
              <a:gd name="T7" fmla="*/ 2147483647 h 879"/>
              <a:gd name="T8" fmla="*/ 2147483647 w 1813"/>
              <a:gd name="T9" fmla="*/ 2147483647 h 879"/>
              <a:gd name="T10" fmla="*/ 2147483647 w 1813"/>
              <a:gd name="T11" fmla="*/ 2147483647 h 879"/>
              <a:gd name="T12" fmla="*/ 2147483647 w 1813"/>
              <a:gd name="T13" fmla="*/ 2147483647 h 879"/>
              <a:gd name="T14" fmla="*/ 2147483647 w 1813"/>
              <a:gd name="T15" fmla="*/ 2147483647 h 879"/>
              <a:gd name="T16" fmla="*/ 2147483647 w 1813"/>
              <a:gd name="T17" fmla="*/ 2147483647 h 879"/>
              <a:gd name="T18" fmla="*/ 2147483647 w 1813"/>
              <a:gd name="T19" fmla="*/ 2147483647 h 879"/>
              <a:gd name="T20" fmla="*/ 2147483647 w 1813"/>
              <a:gd name="T21" fmla="*/ 2147483647 h 879"/>
              <a:gd name="T22" fmla="*/ 2147483647 w 1813"/>
              <a:gd name="T23" fmla="*/ 2147483647 h 879"/>
              <a:gd name="T24" fmla="*/ 2147483647 w 1813"/>
              <a:gd name="T25" fmla="*/ 2147483647 h 879"/>
              <a:gd name="T26" fmla="*/ 2147483647 w 1813"/>
              <a:gd name="T27" fmla="*/ 2147483647 h 879"/>
              <a:gd name="T28" fmla="*/ 2147483647 w 1813"/>
              <a:gd name="T29" fmla="*/ 2147483647 h 879"/>
              <a:gd name="T30" fmla="*/ 2147483647 w 1813"/>
              <a:gd name="T31" fmla="*/ 2147483647 h 879"/>
              <a:gd name="T32" fmla="*/ 2147483647 w 1813"/>
              <a:gd name="T33" fmla="*/ 2147483647 h 879"/>
              <a:gd name="T34" fmla="*/ 2147483647 w 1813"/>
              <a:gd name="T35" fmla="*/ 2147483647 h 879"/>
              <a:gd name="T36" fmla="*/ 2147483647 w 1813"/>
              <a:gd name="T37" fmla="*/ 2147483647 h 879"/>
              <a:gd name="T38" fmla="*/ 2147483647 w 1813"/>
              <a:gd name="T39" fmla="*/ 2147483647 h 879"/>
              <a:gd name="T40" fmla="*/ 2147483647 w 1813"/>
              <a:gd name="T41" fmla="*/ 2147483647 h 879"/>
              <a:gd name="T42" fmla="*/ 2147483647 w 1813"/>
              <a:gd name="T43" fmla="*/ 2147483647 h 879"/>
              <a:gd name="T44" fmla="*/ 2147483647 w 1813"/>
              <a:gd name="T45" fmla="*/ 2147483647 h 879"/>
              <a:gd name="T46" fmla="*/ 2147483647 w 1813"/>
              <a:gd name="T47" fmla="*/ 2147483647 h 879"/>
              <a:gd name="T48" fmla="*/ 2147483647 w 1813"/>
              <a:gd name="T49" fmla="*/ 2147483647 h 879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1813"/>
              <a:gd name="T76" fmla="*/ 0 h 879"/>
              <a:gd name="T77" fmla="*/ 1813 w 1813"/>
              <a:gd name="T78" fmla="*/ 879 h 879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1813" h="879">
                <a:moveTo>
                  <a:pt x="568" y="36"/>
                </a:moveTo>
                <a:cubicBezTo>
                  <a:pt x="541" y="6"/>
                  <a:pt x="481" y="9"/>
                  <a:pt x="445" y="5"/>
                </a:cubicBezTo>
                <a:cubicBezTo>
                  <a:pt x="400" y="12"/>
                  <a:pt x="355" y="16"/>
                  <a:pt x="311" y="25"/>
                </a:cubicBezTo>
                <a:cubicBezTo>
                  <a:pt x="297" y="28"/>
                  <a:pt x="270" y="41"/>
                  <a:pt x="270" y="41"/>
                </a:cubicBezTo>
                <a:cubicBezTo>
                  <a:pt x="233" y="73"/>
                  <a:pt x="203" y="97"/>
                  <a:pt x="167" y="133"/>
                </a:cubicBezTo>
                <a:cubicBezTo>
                  <a:pt x="161" y="139"/>
                  <a:pt x="159" y="149"/>
                  <a:pt x="152" y="154"/>
                </a:cubicBezTo>
                <a:cubicBezTo>
                  <a:pt x="104" y="193"/>
                  <a:pt x="43" y="214"/>
                  <a:pt x="8" y="267"/>
                </a:cubicBezTo>
                <a:cubicBezTo>
                  <a:pt x="0" y="303"/>
                  <a:pt x="17" y="334"/>
                  <a:pt x="23" y="370"/>
                </a:cubicBezTo>
                <a:cubicBezTo>
                  <a:pt x="25" y="447"/>
                  <a:pt x="21" y="524"/>
                  <a:pt x="28" y="601"/>
                </a:cubicBezTo>
                <a:cubicBezTo>
                  <a:pt x="29" y="607"/>
                  <a:pt x="39" y="604"/>
                  <a:pt x="44" y="607"/>
                </a:cubicBezTo>
                <a:cubicBezTo>
                  <a:pt x="63" y="617"/>
                  <a:pt x="82" y="626"/>
                  <a:pt x="100" y="637"/>
                </a:cubicBezTo>
                <a:cubicBezTo>
                  <a:pt x="158" y="673"/>
                  <a:pt x="265" y="661"/>
                  <a:pt x="327" y="663"/>
                </a:cubicBezTo>
                <a:cubicBezTo>
                  <a:pt x="499" y="697"/>
                  <a:pt x="683" y="686"/>
                  <a:pt x="856" y="689"/>
                </a:cubicBezTo>
                <a:cubicBezTo>
                  <a:pt x="942" y="694"/>
                  <a:pt x="1028" y="695"/>
                  <a:pt x="1113" y="704"/>
                </a:cubicBezTo>
                <a:cubicBezTo>
                  <a:pt x="1129" y="706"/>
                  <a:pt x="1171" y="724"/>
                  <a:pt x="1191" y="730"/>
                </a:cubicBezTo>
                <a:cubicBezTo>
                  <a:pt x="1201" y="733"/>
                  <a:pt x="1221" y="740"/>
                  <a:pt x="1221" y="740"/>
                </a:cubicBezTo>
                <a:cubicBezTo>
                  <a:pt x="1419" y="738"/>
                  <a:pt x="1703" y="879"/>
                  <a:pt x="1813" y="715"/>
                </a:cubicBezTo>
                <a:cubicBezTo>
                  <a:pt x="1805" y="623"/>
                  <a:pt x="1754" y="530"/>
                  <a:pt x="1695" y="457"/>
                </a:cubicBezTo>
                <a:cubicBezTo>
                  <a:pt x="1693" y="445"/>
                  <a:pt x="1691" y="433"/>
                  <a:pt x="1689" y="421"/>
                </a:cubicBezTo>
                <a:cubicBezTo>
                  <a:pt x="1686" y="404"/>
                  <a:pt x="1679" y="370"/>
                  <a:pt x="1679" y="370"/>
                </a:cubicBezTo>
                <a:cubicBezTo>
                  <a:pt x="1678" y="309"/>
                  <a:pt x="1734" y="135"/>
                  <a:pt x="1638" y="103"/>
                </a:cubicBezTo>
                <a:cubicBezTo>
                  <a:pt x="1594" y="71"/>
                  <a:pt x="1495" y="57"/>
                  <a:pt x="1443" y="56"/>
                </a:cubicBezTo>
                <a:cubicBezTo>
                  <a:pt x="1210" y="53"/>
                  <a:pt x="976" y="53"/>
                  <a:pt x="743" y="51"/>
                </a:cubicBezTo>
                <a:cubicBezTo>
                  <a:pt x="654" y="44"/>
                  <a:pt x="689" y="49"/>
                  <a:pt x="635" y="15"/>
                </a:cubicBezTo>
                <a:cubicBezTo>
                  <a:pt x="546" y="20"/>
                  <a:pt x="534" y="0"/>
                  <a:pt x="568" y="36"/>
                </a:cubicBezTo>
                <a:close/>
              </a:path>
            </a:pathLst>
          </a:custGeom>
          <a:solidFill>
            <a:srgbClr val="FFCC99">
              <a:alpha val="12157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3" name="Text Box 17"/>
          <p:cNvSpPr txBox="1">
            <a:spLocks noChangeArrowheads="1"/>
          </p:cNvSpPr>
          <p:nvPr/>
        </p:nvSpPr>
        <p:spPr bwMode="auto">
          <a:xfrm>
            <a:off x="6156325" y="3211513"/>
            <a:ext cx="2428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Automata/machines</a:t>
            </a:r>
          </a:p>
        </p:txBody>
      </p:sp>
      <p:sp>
        <p:nvSpPr>
          <p:cNvPr id="5134" name="Text Box 19"/>
          <p:cNvSpPr txBox="1">
            <a:spLocks noChangeArrowheads="1"/>
          </p:cNvSpPr>
          <p:nvPr/>
        </p:nvSpPr>
        <p:spPr bwMode="auto">
          <a:xfrm>
            <a:off x="609600" y="2971800"/>
            <a:ext cx="15398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Syntactical </a:t>
            </a:r>
            <a:br>
              <a:rPr lang="en-US" altLang="x-none"/>
            </a:br>
            <a:r>
              <a:rPr lang="en-US" altLang="x-none"/>
              <a:t>expressions</a:t>
            </a:r>
          </a:p>
        </p:txBody>
      </p:sp>
      <p:sp>
        <p:nvSpPr>
          <p:cNvPr id="5135" name="Text Box 20"/>
          <p:cNvSpPr txBox="1">
            <a:spLocks noChangeArrowheads="1"/>
          </p:cNvSpPr>
          <p:nvPr/>
        </p:nvSpPr>
        <p:spPr bwMode="auto">
          <a:xfrm>
            <a:off x="4479925" y="5345113"/>
            <a:ext cx="21605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Formal language </a:t>
            </a:r>
            <a:br>
              <a:rPr lang="en-US" altLang="x-none"/>
            </a:br>
            <a:r>
              <a:rPr lang="en-US" altLang="x-none"/>
              <a:t>classes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473C092-B473-1A4C-B490-77380D789FC3}" type="slidenum">
              <a:rPr lang="en-US" altLang="x-none" sz="1400"/>
              <a:pPr/>
              <a:t>4</a:t>
            </a:fld>
            <a:endParaRPr lang="en-US" altLang="x-none" sz="14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Language Operators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x-none" sz="2800" u="sng"/>
              <a:t>Union</a:t>
            </a:r>
            <a:r>
              <a:rPr lang="en-US" altLang="x-none" sz="2800"/>
              <a:t> of two languages:</a:t>
            </a:r>
          </a:p>
          <a:p>
            <a:pPr lvl="1" eaLnBrk="1" hangingPunct="1"/>
            <a:r>
              <a:rPr lang="en-US" altLang="x-none" sz="2400" b="1">
                <a:solidFill>
                  <a:schemeClr val="hlink"/>
                </a:solidFill>
              </a:rPr>
              <a:t>L U M</a:t>
            </a:r>
            <a:r>
              <a:rPr lang="en-US" altLang="x-none" sz="2400"/>
              <a:t> = all strings that are either in L or M</a:t>
            </a:r>
          </a:p>
          <a:p>
            <a:pPr lvl="1" eaLnBrk="1" hangingPunct="1"/>
            <a:r>
              <a:rPr lang="en-US" altLang="x-none" sz="2400" u="sng"/>
              <a:t>Note:</a:t>
            </a:r>
            <a:r>
              <a:rPr lang="en-US" altLang="x-none" sz="2400"/>
              <a:t> A union of two languages produces a third language</a:t>
            </a:r>
          </a:p>
          <a:p>
            <a:pPr eaLnBrk="1" hangingPunct="1"/>
            <a:endParaRPr lang="en-US" altLang="x-none" sz="2800"/>
          </a:p>
          <a:p>
            <a:pPr eaLnBrk="1" hangingPunct="1"/>
            <a:r>
              <a:rPr lang="en-US" altLang="x-none" sz="2800" u="sng"/>
              <a:t>Concatenation</a:t>
            </a:r>
            <a:r>
              <a:rPr lang="en-US" altLang="x-none" sz="2800"/>
              <a:t> of two languages:</a:t>
            </a:r>
          </a:p>
          <a:p>
            <a:pPr lvl="1" eaLnBrk="1" hangingPunct="1"/>
            <a:r>
              <a:rPr lang="en-US" altLang="x-none" sz="2400" b="1">
                <a:solidFill>
                  <a:schemeClr val="hlink"/>
                </a:solidFill>
              </a:rPr>
              <a:t>L . M</a:t>
            </a:r>
            <a:r>
              <a:rPr lang="en-US" altLang="x-none" sz="2400"/>
              <a:t> = all strings that are of the form </a:t>
            </a:r>
            <a:r>
              <a:rPr lang="en-US" altLang="x-none" sz="2400" i="1"/>
              <a:t>xy </a:t>
            </a:r>
            <a:br>
              <a:rPr lang="en-US" altLang="x-none" sz="2400" i="1"/>
            </a:br>
            <a:r>
              <a:rPr lang="en-US" altLang="x-none" sz="2400" i="1"/>
              <a:t>	</a:t>
            </a:r>
            <a:r>
              <a:rPr lang="en-US" altLang="x-none" sz="2400"/>
              <a:t>s.t., x </a:t>
            </a:r>
            <a:r>
              <a:rPr lang="en-US" altLang="x-none" sz="2400">
                <a:sym typeface="Symbol" charset="2"/>
              </a:rPr>
              <a:t></a:t>
            </a:r>
            <a:r>
              <a:rPr lang="en-US" altLang="x-none" sz="2400"/>
              <a:t> L and y </a:t>
            </a:r>
            <a:r>
              <a:rPr lang="en-US" altLang="x-none" sz="2400">
                <a:sym typeface="Symbol" charset="2"/>
              </a:rPr>
              <a:t></a:t>
            </a:r>
            <a:r>
              <a:rPr lang="en-US" altLang="x-none" sz="2400"/>
              <a:t> M</a:t>
            </a:r>
          </a:p>
          <a:p>
            <a:pPr lvl="1" eaLnBrk="1" hangingPunct="1"/>
            <a:r>
              <a:rPr lang="en-US" altLang="x-none" sz="2400"/>
              <a:t>The </a:t>
            </a:r>
            <a:r>
              <a:rPr lang="en-US" altLang="x-none" sz="2400" i="1"/>
              <a:t>dot </a:t>
            </a:r>
            <a:r>
              <a:rPr lang="en-US" altLang="x-none" sz="2400"/>
              <a:t>operator is usually omitted </a:t>
            </a:r>
          </a:p>
          <a:p>
            <a:pPr lvl="2" eaLnBrk="1" hangingPunct="1"/>
            <a:r>
              <a:rPr lang="en-US" altLang="x-none" sz="2000"/>
              <a:t>i.e., </a:t>
            </a:r>
            <a:r>
              <a:rPr lang="en-US" altLang="x-none" sz="2000" b="1">
                <a:solidFill>
                  <a:schemeClr val="hlink"/>
                </a:solidFill>
              </a:rPr>
              <a:t>LM</a:t>
            </a:r>
            <a:r>
              <a:rPr lang="en-US" altLang="x-none" sz="2000" b="1"/>
              <a:t> </a:t>
            </a:r>
            <a:r>
              <a:rPr lang="en-US" altLang="x-none" sz="2000"/>
              <a:t>is same as L.M</a:t>
            </a:r>
          </a:p>
          <a:p>
            <a:pPr eaLnBrk="1" hangingPunct="1"/>
            <a:endParaRPr lang="en-US" altLang="x-none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C5A1737-CF05-044B-AE85-6EABE644D45F}" type="slidenum">
              <a:rPr lang="en-US" altLang="x-none" sz="1400"/>
              <a:pPr/>
              <a:t>5</a:t>
            </a:fld>
            <a:endParaRPr lang="en-US" altLang="x-none" sz="140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4000"/>
              <a:t>Kleene Closure (the * operator)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x-none" sz="2000" u="sng"/>
              <a:t>Kleene Closure</a:t>
            </a:r>
            <a:r>
              <a:rPr lang="en-US" altLang="x-none" sz="2000"/>
              <a:t> of a given language L: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0</a:t>
            </a:r>
            <a:r>
              <a:rPr lang="en-US" altLang="x-none" sz="1800"/>
              <a:t>= {</a:t>
            </a:r>
            <a:r>
              <a:rPr lang="en-US" altLang="x-none" sz="2000">
                <a:ea typeface="ＭＳ Ｐゴシック" charset="-128"/>
                <a:sym typeface="Symbol" charset="2"/>
              </a:rPr>
              <a:t></a:t>
            </a:r>
            <a:r>
              <a:rPr lang="en-US" altLang="x-none" sz="1800">
                <a:ea typeface="ＭＳ Ｐゴシック" charset="-128"/>
              </a:rPr>
              <a:t>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1</a:t>
            </a:r>
            <a:r>
              <a:rPr lang="en-US" altLang="x-none" sz="1800"/>
              <a:t>= {w | for some w </a:t>
            </a:r>
            <a:r>
              <a:rPr lang="en-US" altLang="x-none" sz="2000">
                <a:sym typeface="Symbol" charset="2"/>
              </a:rPr>
              <a:t></a:t>
            </a:r>
            <a:r>
              <a:rPr lang="en-US" altLang="x-none" sz="1800"/>
              <a:t> L}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2</a:t>
            </a:r>
            <a:r>
              <a:rPr lang="en-US" altLang="x-none" sz="1800"/>
              <a:t>= { w</a:t>
            </a:r>
            <a:r>
              <a:rPr lang="en-US" altLang="x-none" sz="1800" baseline="-25000"/>
              <a:t>1</a:t>
            </a:r>
            <a:r>
              <a:rPr lang="en-US" altLang="x-none" sz="1800"/>
              <a:t>w</a:t>
            </a:r>
            <a:r>
              <a:rPr lang="en-US" altLang="x-none" sz="1800" baseline="-25000"/>
              <a:t>2 </a:t>
            </a:r>
            <a:r>
              <a:rPr lang="en-US" altLang="x-none" sz="1800"/>
              <a:t>| w</a:t>
            </a:r>
            <a:r>
              <a:rPr lang="en-US" altLang="x-none" sz="1800" baseline="-25000"/>
              <a:t>1</a:t>
            </a:r>
            <a:r>
              <a:rPr lang="en-US" altLang="x-none" sz="1800"/>
              <a:t> </a:t>
            </a:r>
            <a:r>
              <a:rPr lang="en-US" altLang="x-none" sz="2000">
                <a:sym typeface="Symbol" charset="2"/>
              </a:rPr>
              <a:t></a:t>
            </a:r>
            <a:r>
              <a:rPr lang="en-US" altLang="x-none" sz="1800"/>
              <a:t> L, w</a:t>
            </a:r>
            <a:r>
              <a:rPr lang="en-US" altLang="x-none" sz="1800" baseline="-25000"/>
              <a:t>2</a:t>
            </a:r>
            <a:r>
              <a:rPr lang="en-US" altLang="x-none" sz="1800"/>
              <a:t> </a:t>
            </a:r>
            <a:r>
              <a:rPr lang="en-US" altLang="x-none" sz="2000">
                <a:sym typeface="Symbol" charset="2"/>
              </a:rPr>
              <a:t></a:t>
            </a:r>
            <a:r>
              <a:rPr lang="en-US" altLang="x-none" sz="1800"/>
              <a:t> L (duplicates allowed)}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i</a:t>
            </a:r>
            <a:r>
              <a:rPr lang="en-US" altLang="x-none" sz="1800"/>
              <a:t>= { w</a:t>
            </a:r>
            <a:r>
              <a:rPr lang="en-US" altLang="x-none" sz="1800" baseline="-25000"/>
              <a:t>1</a:t>
            </a:r>
            <a:r>
              <a:rPr lang="en-US" altLang="x-none" sz="1800"/>
              <a:t>w</a:t>
            </a:r>
            <a:r>
              <a:rPr lang="en-US" altLang="x-none" sz="1800" baseline="-25000"/>
              <a:t>2</a:t>
            </a:r>
            <a:r>
              <a:rPr lang="en-US" altLang="x-none" sz="1800"/>
              <a:t>…w</a:t>
            </a:r>
            <a:r>
              <a:rPr lang="en-US" altLang="x-none" sz="1800" baseline="-25000"/>
              <a:t>i </a:t>
            </a:r>
            <a:r>
              <a:rPr lang="en-US" altLang="x-none" sz="1800"/>
              <a:t>| all w’s chosen are </a:t>
            </a:r>
            <a:r>
              <a:rPr lang="en-US" altLang="x-none" sz="2000">
                <a:sym typeface="Symbol" charset="2"/>
              </a:rPr>
              <a:t></a:t>
            </a:r>
            <a:r>
              <a:rPr lang="en-US" altLang="x-none" sz="1800"/>
              <a:t> L (duplicates allowed)}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(Note: the choice of each w</a:t>
            </a:r>
            <a:r>
              <a:rPr lang="en-US" altLang="x-none" sz="1800" baseline="-25000"/>
              <a:t>i</a:t>
            </a:r>
            <a:r>
              <a:rPr lang="en-US" altLang="x-none" sz="1800"/>
              <a:t> is independent)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 b="1">
                <a:solidFill>
                  <a:schemeClr val="hlink"/>
                </a:solidFill>
              </a:rPr>
              <a:t>L* </a:t>
            </a:r>
            <a:r>
              <a:rPr lang="en-US" altLang="x-none" sz="1800">
                <a:solidFill>
                  <a:schemeClr val="hlink"/>
                </a:solidFill>
              </a:rPr>
              <a:t>= </a:t>
            </a:r>
            <a:r>
              <a:rPr lang="en-US" altLang="x-none" sz="2400">
                <a:solidFill>
                  <a:schemeClr val="hlink"/>
                </a:solidFill>
              </a:rPr>
              <a:t>U</a:t>
            </a:r>
            <a:r>
              <a:rPr lang="en-US" altLang="x-none" sz="1600" baseline="-25000">
                <a:solidFill>
                  <a:schemeClr val="hlink"/>
                </a:solidFill>
              </a:rPr>
              <a:t>i</a:t>
            </a:r>
            <a:r>
              <a:rPr lang="en-US" altLang="x-none" sz="1600" baseline="-25000">
                <a:solidFill>
                  <a:schemeClr val="hlink"/>
                </a:solidFill>
                <a:ea typeface="Arial" charset="0"/>
                <a:cs typeface="Arial" charset="0"/>
              </a:rPr>
              <a:t>≥0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 L</a:t>
            </a:r>
            <a:r>
              <a:rPr lang="en-US" altLang="x-none" sz="1800" baseline="30000">
                <a:solidFill>
                  <a:schemeClr val="hlink"/>
                </a:solidFill>
                <a:ea typeface="Arial" charset="0"/>
                <a:cs typeface="Arial" charset="0"/>
              </a:rPr>
              <a:t>i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 </a:t>
            </a:r>
            <a:r>
              <a:rPr lang="en-US" altLang="x-none" sz="1800">
                <a:ea typeface="Arial" charset="0"/>
                <a:cs typeface="Arial" charset="0"/>
              </a:rPr>
              <a:t>(arbitrary number of concatenations)</a:t>
            </a:r>
          </a:p>
          <a:p>
            <a:pPr eaLnBrk="1" hangingPunct="1">
              <a:lnSpc>
                <a:spcPct val="80000"/>
              </a:lnSpc>
              <a:buFont typeface="Wingdings" charset="2"/>
              <a:buNone/>
            </a:pPr>
            <a:r>
              <a:rPr lang="en-US" altLang="x-none" sz="2000" u="sng"/>
              <a:t>Example:</a:t>
            </a:r>
            <a:r>
              <a:rPr lang="en-US" altLang="x-none" sz="200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x-none" sz="2000"/>
              <a:t>Let L = { </a:t>
            </a:r>
            <a:r>
              <a:rPr lang="en-US" altLang="x-none" sz="2000">
                <a:solidFill>
                  <a:schemeClr val="hlink"/>
                </a:solidFill>
              </a:rPr>
              <a:t>1</a:t>
            </a:r>
            <a:r>
              <a:rPr lang="en-US" altLang="x-none" sz="2000"/>
              <a:t>, </a:t>
            </a:r>
            <a:r>
              <a:rPr lang="en-US" altLang="x-none" sz="2000">
                <a:solidFill>
                  <a:schemeClr val="folHlink"/>
                </a:solidFill>
              </a:rPr>
              <a:t>00</a:t>
            </a:r>
            <a:r>
              <a:rPr lang="en-US" altLang="x-none" sz="2000"/>
              <a:t>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0</a:t>
            </a:r>
            <a:r>
              <a:rPr lang="en-US" altLang="x-none" sz="1800"/>
              <a:t>= {</a:t>
            </a:r>
            <a:r>
              <a:rPr lang="en-US" altLang="x-none" sz="2000">
                <a:ea typeface="ＭＳ Ｐゴシック" charset="-128"/>
                <a:sym typeface="Symbol" charset="2"/>
              </a:rPr>
              <a:t></a:t>
            </a:r>
            <a:r>
              <a:rPr lang="en-US" altLang="x-none" sz="1800">
                <a:ea typeface="ＭＳ Ｐゴシック" charset="-128"/>
              </a:rPr>
              <a:t>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1</a:t>
            </a:r>
            <a:r>
              <a:rPr lang="en-US" altLang="x-none" sz="1800"/>
              <a:t>= {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/>
              <a:t>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2</a:t>
            </a:r>
            <a:r>
              <a:rPr lang="en-US" altLang="x-none" sz="1800"/>
              <a:t>= {</a:t>
            </a:r>
            <a:r>
              <a:rPr lang="en-US" altLang="x-none" sz="1800">
                <a:solidFill>
                  <a:schemeClr val="hlink"/>
                </a:solidFill>
              </a:rPr>
              <a:t>11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folHlink"/>
                </a:solidFill>
              </a:rPr>
              <a:t>0000</a:t>
            </a:r>
            <a:r>
              <a:rPr lang="en-US" altLang="x-none" sz="1800"/>
              <a:t>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/>
              <a:t>L</a:t>
            </a:r>
            <a:r>
              <a:rPr lang="en-US" altLang="x-none" sz="1800" baseline="30000"/>
              <a:t>3</a:t>
            </a:r>
            <a:r>
              <a:rPr lang="en-US" altLang="x-none" sz="1800"/>
              <a:t>= {</a:t>
            </a:r>
            <a:r>
              <a:rPr lang="en-US" altLang="x-none" sz="1800">
                <a:solidFill>
                  <a:schemeClr val="hlink"/>
                </a:solidFill>
              </a:rPr>
              <a:t>111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hlink"/>
                </a:solidFill>
              </a:rPr>
              <a:t>11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>
                <a:solidFill>
                  <a:schemeClr val="folHlink"/>
                </a:solidFill>
              </a:rPr>
              <a:t>0000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folHlink"/>
                </a:solidFill>
              </a:rPr>
              <a:t>000000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folHlink"/>
                </a:solidFill>
              </a:rPr>
              <a:t>0000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>
                <a:solidFill>
                  <a:schemeClr val="hlink"/>
                </a:solidFill>
              </a:rPr>
              <a:t>1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/>
              <a:t>,</a:t>
            </a:r>
            <a:r>
              <a:rPr lang="en-US" altLang="x-none" sz="1800">
                <a:solidFill>
                  <a:schemeClr val="folHlink"/>
                </a:solidFill>
              </a:rPr>
              <a:t>00</a:t>
            </a:r>
            <a:r>
              <a:rPr lang="en-US" altLang="x-none" sz="1800">
                <a:solidFill>
                  <a:schemeClr val="hlink"/>
                </a:solidFill>
              </a:rPr>
              <a:t>11</a:t>
            </a:r>
            <a:r>
              <a:rPr lang="en-US" altLang="x-none" sz="1800"/>
              <a:t>}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800" b="1">
                <a:solidFill>
                  <a:schemeClr val="hlink"/>
                </a:solidFill>
              </a:rPr>
              <a:t>L* </a:t>
            </a:r>
            <a:r>
              <a:rPr lang="en-US" altLang="x-none" sz="1800">
                <a:solidFill>
                  <a:schemeClr val="hlink"/>
                </a:solidFill>
              </a:rPr>
              <a:t>= 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L</a:t>
            </a:r>
            <a:r>
              <a:rPr lang="en-US" altLang="x-none" sz="1800" baseline="30000">
                <a:solidFill>
                  <a:schemeClr val="hlink"/>
                </a:solidFill>
                <a:ea typeface="Arial" charset="0"/>
                <a:cs typeface="Arial" charset="0"/>
              </a:rPr>
              <a:t>0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 </a:t>
            </a:r>
            <a:r>
              <a:rPr lang="en-US" altLang="x-none" sz="2400">
                <a:solidFill>
                  <a:schemeClr val="hlink"/>
                </a:solidFill>
              </a:rPr>
              <a:t>U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 L</a:t>
            </a:r>
            <a:r>
              <a:rPr lang="en-US" altLang="x-none" sz="1800" baseline="30000">
                <a:solidFill>
                  <a:schemeClr val="hlink"/>
                </a:solidFill>
                <a:ea typeface="Arial" charset="0"/>
                <a:cs typeface="Arial" charset="0"/>
              </a:rPr>
              <a:t>1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 </a:t>
            </a:r>
            <a:r>
              <a:rPr lang="en-US" altLang="x-none" sz="2400">
                <a:solidFill>
                  <a:schemeClr val="hlink"/>
                </a:solidFill>
              </a:rPr>
              <a:t>U 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L</a:t>
            </a:r>
            <a:r>
              <a:rPr lang="en-US" altLang="x-none" sz="1800" baseline="30000">
                <a:solidFill>
                  <a:schemeClr val="hlink"/>
                </a:solidFill>
                <a:ea typeface="Arial" charset="0"/>
                <a:cs typeface="Arial" charset="0"/>
              </a:rPr>
              <a:t>2</a:t>
            </a:r>
            <a:r>
              <a:rPr lang="en-US" altLang="x-none" sz="1800">
                <a:solidFill>
                  <a:schemeClr val="hlink"/>
                </a:solidFill>
                <a:ea typeface="Arial" charset="0"/>
                <a:cs typeface="Arial" charset="0"/>
              </a:rPr>
              <a:t> </a:t>
            </a:r>
            <a:r>
              <a:rPr lang="en-US" altLang="x-none" sz="2400">
                <a:solidFill>
                  <a:schemeClr val="hlink"/>
                </a:solidFill>
              </a:rPr>
              <a:t>U</a:t>
            </a:r>
            <a:r>
              <a:rPr lang="en-US" altLang="x-none" sz="1800">
                <a:ea typeface="Arial" charset="0"/>
                <a:cs typeface="Arial" charset="0"/>
              </a:rPr>
              <a:t> …</a:t>
            </a:r>
          </a:p>
          <a:p>
            <a:pPr eaLnBrk="1" hangingPunct="1">
              <a:lnSpc>
                <a:spcPct val="80000"/>
              </a:lnSpc>
            </a:pPr>
            <a:endParaRPr lang="en-US" altLang="x-none" sz="2000"/>
          </a:p>
          <a:p>
            <a:pPr eaLnBrk="1" hangingPunct="1">
              <a:lnSpc>
                <a:spcPct val="80000"/>
              </a:lnSpc>
            </a:pPr>
            <a:endParaRPr lang="en-US" altLang="x-none" sz="2000"/>
          </a:p>
        </p:txBody>
      </p:sp>
      <p:sp>
        <p:nvSpPr>
          <p:cNvPr id="5" name="Line Callout 3 4"/>
          <p:cNvSpPr>
            <a:spLocks/>
          </p:cNvSpPr>
          <p:nvPr/>
        </p:nvSpPr>
        <p:spPr bwMode="auto">
          <a:xfrm>
            <a:off x="1676400" y="228600"/>
            <a:ext cx="6553200" cy="6096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505662"/>
              <a:gd name="adj8" fmla="val 603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600"/>
              <a:t>“i” here refers to how many strings to concatenate from the parent language L to produce strings in the language L</a:t>
            </a:r>
            <a:r>
              <a:rPr lang="en-US" altLang="x-none" sz="1600" baseline="30000"/>
              <a:t>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07F905B2-2709-AE49-89A6-CA9FA70BAC63}" type="slidenum">
              <a:rPr lang="en-US" altLang="x-none" sz="1400"/>
              <a:pPr/>
              <a:t>6</a:t>
            </a:fld>
            <a:endParaRPr lang="en-US" altLang="x-none" sz="140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4000"/>
              <a:t>Kleene Closure (special notes)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2017713"/>
            <a:ext cx="7046912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2"/>
              <a:buNone/>
            </a:pPr>
            <a:endParaRPr lang="en-US" altLang="x-none" sz="2800" baseline="30000"/>
          </a:p>
          <a:p>
            <a:pPr eaLnBrk="1" hangingPunct="1">
              <a:lnSpc>
                <a:spcPct val="90000"/>
              </a:lnSpc>
            </a:pPr>
            <a:r>
              <a:rPr lang="en-US" altLang="x-none" sz="2800"/>
              <a:t>L* is an infinite set iff |L|</a:t>
            </a:r>
            <a:r>
              <a:rPr lang="en-US" altLang="x-none" sz="2800">
                <a:ea typeface="Arial" charset="0"/>
                <a:cs typeface="Arial" charset="0"/>
              </a:rPr>
              <a:t>≥1 and </a:t>
            </a:r>
            <a:r>
              <a:rPr lang="en-US" altLang="x-none" sz="2800"/>
              <a:t> L≠{</a:t>
            </a: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r>
              <a:rPr lang="en-US" altLang="x-none" sz="2800"/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800"/>
              <a:t>If L={</a:t>
            </a: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r>
              <a:rPr lang="en-US" altLang="x-none" sz="2800"/>
              <a:t>}, then L* = {</a:t>
            </a: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r>
              <a:rPr lang="en-US" altLang="x-none" sz="2800"/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800"/>
              <a:t>If L = </a:t>
            </a:r>
            <a:r>
              <a:rPr lang="el-GR" altLang="x-none" sz="2800"/>
              <a:t>Φ</a:t>
            </a:r>
            <a:r>
              <a:rPr lang="en-US" altLang="x-none" sz="2800"/>
              <a:t>, then L* = {</a:t>
            </a: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r>
              <a:rPr lang="en-US" altLang="x-none" sz="2800"/>
              <a:t>}</a:t>
            </a:r>
          </a:p>
          <a:p>
            <a:pPr eaLnBrk="1" hangingPunct="1">
              <a:lnSpc>
                <a:spcPct val="90000"/>
              </a:lnSpc>
            </a:pPr>
            <a:endParaRPr lang="en-US" altLang="x-none" sz="2800"/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l-GR" altLang="x-none" sz="2800">
                <a:ea typeface="Arial" charset="0"/>
                <a:cs typeface="Arial" charset="0"/>
              </a:rPr>
              <a:t>Σ</a:t>
            </a:r>
            <a:r>
              <a:rPr lang="en-US" altLang="x-none" sz="2800">
                <a:ea typeface="Arial" charset="0"/>
                <a:cs typeface="Arial" charset="0"/>
              </a:rPr>
              <a:t>* denotes the set of all words over an alphabet </a:t>
            </a:r>
            <a:r>
              <a:rPr lang="el-GR" altLang="x-none" sz="2800">
                <a:ea typeface="Arial" charset="0"/>
                <a:cs typeface="Arial" charset="0"/>
              </a:rPr>
              <a:t>Σ</a:t>
            </a:r>
            <a:endParaRPr lang="en-US" altLang="x-none" sz="2800">
              <a:ea typeface="Arial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>
                <a:ea typeface="Arial" charset="0"/>
                <a:cs typeface="Arial" charset="0"/>
              </a:rPr>
              <a:t>Therefore, an abbreviated way of saying there is an arbitrary language L over an alphabet </a:t>
            </a:r>
            <a:r>
              <a:rPr lang="el-GR" altLang="x-none" sz="2400">
                <a:ea typeface="Arial" charset="0"/>
                <a:cs typeface="Arial" charset="0"/>
              </a:rPr>
              <a:t>Σ </a:t>
            </a:r>
            <a:r>
              <a:rPr lang="en-US" altLang="x-none" sz="2400">
                <a:ea typeface="Arial" charset="0"/>
                <a:cs typeface="Arial" charset="0"/>
              </a:rPr>
              <a:t>is: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x-none" sz="2000">
                <a:ea typeface="Arial" charset="0"/>
                <a:cs typeface="Arial" charset="0"/>
              </a:rPr>
              <a:t>L </a:t>
            </a:r>
            <a:r>
              <a:rPr lang="en-US" altLang="x-none" sz="2000">
                <a:ea typeface="Arial" charset="0"/>
                <a:cs typeface="Arial" charset="0"/>
                <a:sym typeface="Symbol" charset="2"/>
              </a:rPr>
              <a:t></a:t>
            </a:r>
            <a:r>
              <a:rPr lang="en-US" altLang="x-none" sz="2000">
                <a:ea typeface="Arial" charset="0"/>
                <a:cs typeface="Arial" charset="0"/>
              </a:rPr>
              <a:t> </a:t>
            </a:r>
            <a:r>
              <a:rPr lang="el-GR" altLang="x-none" sz="2000">
                <a:ea typeface="Arial" charset="0"/>
                <a:cs typeface="Arial" charset="0"/>
              </a:rPr>
              <a:t>Σ</a:t>
            </a:r>
            <a:r>
              <a:rPr lang="en-US" altLang="x-none" sz="2000">
                <a:ea typeface="Arial" charset="0"/>
                <a:cs typeface="Arial" charset="0"/>
              </a:rPr>
              <a:t>*</a:t>
            </a:r>
            <a:endParaRPr lang="el-GR" altLang="x-none" sz="2000">
              <a:ea typeface="Arial" charset="0"/>
              <a:cs typeface="Arial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066800" y="4038600"/>
            <a:ext cx="6934200" cy="2514600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>
              <a:solidFill>
                <a:schemeClr val="tx1"/>
              </a:solidFill>
              <a:ea typeface="ＭＳ Ｐゴシック" pitchFamily="28" charset="-128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924800" y="2362200"/>
            <a:ext cx="884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b="1">
                <a:solidFill>
                  <a:srgbClr val="FF0000"/>
                </a:solidFill>
              </a:rPr>
              <a:t>Why?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105400" y="2876550"/>
            <a:ext cx="884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b="1">
                <a:solidFill>
                  <a:srgbClr val="FF0000"/>
                </a:solidFill>
              </a:rPr>
              <a:t>Why?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440363" y="3333750"/>
            <a:ext cx="8842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b="1">
                <a:solidFill>
                  <a:srgbClr val="FF0000"/>
                </a:solidFill>
              </a:rPr>
              <a:t>Why?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/>
      <p:bldP spid="6" grpId="0" animBg="1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F829FA1-555B-0243-8EA5-30650301C623}" type="slidenum">
              <a:rPr lang="en-US" altLang="x-none" sz="1400"/>
              <a:pPr/>
              <a:t>7</a:t>
            </a:fld>
            <a:endParaRPr lang="en-US" altLang="x-none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Building Regular Expressions 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Let E be a regular expression and the language represented by E is L(E)</a:t>
            </a:r>
          </a:p>
          <a:p>
            <a:pPr eaLnBrk="1" hangingPunct="1"/>
            <a:r>
              <a:rPr lang="en-US" altLang="x-none"/>
              <a:t>Then:</a:t>
            </a:r>
          </a:p>
          <a:p>
            <a:pPr lvl="1" eaLnBrk="1" hangingPunct="1"/>
            <a:r>
              <a:rPr lang="en-US" altLang="x-none"/>
              <a:t>(E) = E</a:t>
            </a:r>
          </a:p>
          <a:p>
            <a:pPr lvl="1" eaLnBrk="1" hangingPunct="1"/>
            <a:r>
              <a:rPr lang="en-US" altLang="x-none"/>
              <a:t>L(E + F) = L(E) U L(F)</a:t>
            </a:r>
          </a:p>
          <a:p>
            <a:pPr lvl="1" eaLnBrk="1" hangingPunct="1"/>
            <a:r>
              <a:rPr lang="en-US" altLang="x-none"/>
              <a:t>L(E F) = L(E) L(F)</a:t>
            </a:r>
          </a:p>
          <a:p>
            <a:pPr lvl="1" eaLnBrk="1" hangingPunct="1"/>
            <a:r>
              <a:rPr lang="en-US" altLang="x-none"/>
              <a:t>L(E*) = (L(E))*</a:t>
            </a:r>
          </a:p>
          <a:p>
            <a:pPr eaLnBrk="1" hangingPunct="1"/>
            <a:endParaRPr lang="en-US" altLang="x-non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052D091-C9E7-8145-85D7-3ED9093DE90A}" type="slidenum">
              <a:rPr lang="en-US" altLang="x-none" sz="1400"/>
              <a:pPr/>
              <a:t>8</a:t>
            </a:fld>
            <a:endParaRPr lang="en-US" altLang="x-none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3000"/>
              <a:t>Example: how to use these regular expression properties and language operators?</a:t>
            </a:r>
            <a:r>
              <a:rPr lang="en-US" altLang="x-none"/>
              <a:t> 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x-none" sz="1600" b="1" i="1">
                <a:solidFill>
                  <a:srgbClr val="CC3499"/>
                </a:solidFill>
              </a:rPr>
              <a:t>L = { w | w is a binary string which does not contain two consecutive 0s or two consecutive 1s anywhere)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E.g., w = 01010101 is in L, while w = 10010 is not in 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x-none" sz="1600" u="sng"/>
              <a:t>Goal: </a:t>
            </a:r>
            <a:r>
              <a:rPr lang="en-US" altLang="x-none" sz="1600"/>
              <a:t>Build a regular expression for 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x-none" sz="1600"/>
              <a:t>Four cases for w: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A: w starts with 0 and |w| is even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B: w starts with 1 and |w| is even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C: w starts with 0 and |w| is odd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D: w starts with 1 and |w| is odd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x-none" sz="1600"/>
              <a:t>Regular expression for the four cases: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A: 	(01)*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B:	(10)*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C:	0(10)*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Case D: 	1(01)*</a:t>
            </a:r>
          </a:p>
          <a:p>
            <a:pPr eaLnBrk="1" hangingPunct="1">
              <a:lnSpc>
                <a:spcPct val="80000"/>
              </a:lnSpc>
            </a:pPr>
            <a:r>
              <a:rPr lang="en-US" altLang="x-none" sz="1600"/>
              <a:t>Since L is the union of all 4 cases: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/>
              <a:t>Reg Exp for L = </a:t>
            </a:r>
            <a:r>
              <a:rPr lang="en-US" altLang="x-none" sz="1400">
                <a:solidFill>
                  <a:schemeClr val="hlink"/>
                </a:solidFill>
              </a:rPr>
              <a:t>(01)* + (10)* + 0(10)* + 1(01)*</a:t>
            </a:r>
          </a:p>
          <a:p>
            <a:pPr eaLnBrk="1" hangingPunct="1">
              <a:lnSpc>
                <a:spcPct val="80000"/>
              </a:lnSpc>
            </a:pPr>
            <a:r>
              <a:rPr lang="en-US" altLang="x-none" sz="1600"/>
              <a:t>If we introduce </a:t>
            </a:r>
            <a:r>
              <a:rPr lang="en-US" altLang="x-none" sz="1600">
                <a:solidFill>
                  <a:schemeClr val="hlink"/>
                </a:solidFill>
                <a:ea typeface="ＭＳ Ｐゴシック" charset="-128"/>
                <a:sym typeface="Symbol" charset="2"/>
              </a:rPr>
              <a:t></a:t>
            </a:r>
            <a:r>
              <a:rPr lang="en-US" altLang="x-none" sz="1600">
                <a:ea typeface="Arial" charset="0"/>
                <a:cs typeface="Arial" charset="0"/>
              </a:rPr>
              <a:t> then the regular expression can be simplified to: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x-none" sz="1400">
                <a:ea typeface="Arial" charset="0"/>
                <a:cs typeface="Arial" charset="0"/>
              </a:rPr>
              <a:t>Reg Exp for L = </a:t>
            </a:r>
            <a:r>
              <a:rPr lang="en-US" altLang="x-none" sz="1400">
                <a:solidFill>
                  <a:schemeClr val="hlink"/>
                </a:solidFill>
                <a:ea typeface="Arial" charset="0"/>
                <a:cs typeface="Arial" charset="0"/>
              </a:rPr>
              <a:t>(</a:t>
            </a:r>
            <a:r>
              <a:rPr lang="en-US" altLang="x-none" sz="2000">
                <a:solidFill>
                  <a:schemeClr val="hlink"/>
                </a:solidFill>
                <a:ea typeface="ＭＳ Ｐゴシック" charset="-128"/>
                <a:sym typeface="Symbol" charset="2"/>
              </a:rPr>
              <a:t></a:t>
            </a:r>
            <a:r>
              <a:rPr lang="en-US" altLang="x-none" sz="1400">
                <a:solidFill>
                  <a:schemeClr val="hlink"/>
                </a:solidFill>
                <a:ea typeface="ＭＳ Ｐゴシック" charset="-128"/>
              </a:rPr>
              <a:t> +1)(01)*(</a:t>
            </a:r>
            <a:r>
              <a:rPr lang="en-US" altLang="x-none" sz="2000">
                <a:solidFill>
                  <a:schemeClr val="hlink"/>
                </a:solidFill>
                <a:ea typeface="ＭＳ Ｐゴシック" charset="-128"/>
                <a:sym typeface="Symbol" charset="2"/>
              </a:rPr>
              <a:t></a:t>
            </a:r>
            <a:r>
              <a:rPr lang="en-US" altLang="x-none" sz="1400">
                <a:solidFill>
                  <a:schemeClr val="hlink"/>
                </a:solidFill>
                <a:ea typeface="ＭＳ Ｐゴシック" charset="-128"/>
              </a:rPr>
              <a:t> +0)</a:t>
            </a:r>
            <a:endParaRPr lang="ru-RU" altLang="x-none" sz="1400">
              <a:solidFill>
                <a:schemeClr val="hlink"/>
              </a:solidFill>
              <a:ea typeface="Arial" charset="0"/>
              <a:cs typeface="Arial" charset="0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x-none" sz="1400"/>
          </a:p>
          <a:p>
            <a:pPr lvl="1" eaLnBrk="1" hangingPunct="1">
              <a:lnSpc>
                <a:spcPct val="80000"/>
              </a:lnSpc>
            </a:pPr>
            <a:endParaRPr lang="en-US" altLang="x-none" sz="1400"/>
          </a:p>
          <a:p>
            <a:pPr eaLnBrk="1" hangingPunct="1">
              <a:lnSpc>
                <a:spcPct val="80000"/>
              </a:lnSpc>
            </a:pPr>
            <a:endParaRPr lang="en-US" altLang="x-none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0318A827-B9CD-0145-9C56-4DEA6352ACCA}" type="slidenum">
              <a:rPr lang="en-US" altLang="x-none" sz="1400"/>
              <a:pPr/>
              <a:t>9</a:t>
            </a:fld>
            <a:endParaRPr lang="en-US" altLang="x-none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Precedence of Operators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Highest to lowest</a:t>
            </a:r>
          </a:p>
          <a:p>
            <a:pPr lvl="1" eaLnBrk="1" hangingPunct="1"/>
            <a:r>
              <a:rPr lang="en-US" altLang="x-none"/>
              <a:t>* operator (star)</a:t>
            </a:r>
          </a:p>
          <a:p>
            <a:pPr lvl="1" eaLnBrk="1" hangingPunct="1"/>
            <a:r>
              <a:rPr lang="en-US" altLang="x-none"/>
              <a:t> </a:t>
            </a:r>
            <a:r>
              <a:rPr lang="en-US" altLang="x-none" sz="4000"/>
              <a:t>.</a:t>
            </a:r>
            <a:r>
              <a:rPr lang="en-US" altLang="x-none"/>
              <a:t> 	(concatenation) </a:t>
            </a:r>
          </a:p>
          <a:p>
            <a:pPr lvl="1" eaLnBrk="1" hangingPunct="1"/>
            <a:r>
              <a:rPr lang="en-US" altLang="x-none"/>
              <a:t>+ operator</a:t>
            </a:r>
          </a:p>
          <a:p>
            <a:pPr lvl="1" eaLnBrk="1" hangingPunct="1"/>
            <a:endParaRPr lang="en-US" altLang="x-none"/>
          </a:p>
          <a:p>
            <a:pPr eaLnBrk="1" hangingPunct="1"/>
            <a:r>
              <a:rPr lang="en-US" altLang="x-none"/>
              <a:t>Example: </a:t>
            </a:r>
          </a:p>
          <a:p>
            <a:pPr lvl="1" eaLnBrk="1" hangingPunct="1"/>
            <a:r>
              <a:rPr lang="en-US" altLang="x-none"/>
              <a:t>01* + 1 	= 	( 0 . ((1)*) ) + 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A255336-2E15-8848-94AB-E72D31ED51C6}" type="slidenum">
              <a:rPr lang="en-US" altLang="x-none" sz="1400"/>
              <a:pPr/>
              <a:t>10</a:t>
            </a:fld>
            <a:endParaRPr lang="en-US" altLang="x-none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 sz="4000"/>
              <a:t>Finite Automata (FA) &amp; Regular Expressions (Reg Ex)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24018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8" charset="2"/>
              <a:buChar char="n"/>
              <a:defRPr/>
            </a:pPr>
            <a:r>
              <a:rPr lang="en-US" sz="2800" dirty="0"/>
              <a:t>To show that they are interchangeable, consider the following theorems: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n"/>
              <a:defRPr/>
            </a:pPr>
            <a:r>
              <a:rPr lang="en-US" sz="2400" i="1" u="sng" dirty="0">
                <a:solidFill>
                  <a:schemeClr val="hlink"/>
                </a:solidFill>
              </a:rPr>
              <a:t>Theorem 1</a:t>
            </a:r>
            <a:r>
              <a:rPr lang="en-US" sz="2400" i="1" u="sng" dirty="0">
                <a:solidFill>
                  <a:srgbClr val="FF0000"/>
                </a:solidFill>
              </a:rPr>
              <a:t>:</a:t>
            </a:r>
            <a:r>
              <a:rPr lang="en-US" sz="2400" i="1" dirty="0">
                <a:solidFill>
                  <a:srgbClr val="FF0000"/>
                </a:solidFill>
              </a:rPr>
              <a:t> For every DFA A there exists a regular expression R such that L(R)=L(A)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n"/>
              <a:defRPr/>
            </a:pPr>
            <a:r>
              <a:rPr lang="en-US" sz="2400" i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Theorem 2:</a:t>
            </a:r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For every regular expression R there exists an </a:t>
            </a:r>
            <a:r>
              <a:rPr lang="en-US" sz="2600" i="1" dirty="0">
                <a:solidFill>
                  <a:schemeClr val="tx2">
                    <a:lumMod val="60000"/>
                    <a:lumOff val="40000"/>
                  </a:schemeClr>
                </a:solidFill>
                <a:ea typeface="ＭＳ Ｐゴシック" pitchFamily="28" charset="-128"/>
                <a:sym typeface="Symbol" pitchFamily="28" charset="2"/>
              </a:rPr>
              <a:t></a:t>
            </a:r>
            <a:r>
              <a:rPr lang="en-US" sz="2600" i="1" dirty="0">
                <a:solidFill>
                  <a:schemeClr val="tx2">
                    <a:lumMod val="60000"/>
                    <a:lumOff val="40000"/>
                  </a:schemeClr>
                </a:solidFill>
                <a:ea typeface="ＭＳ Ｐゴシック" pitchFamily="28" charset="-128"/>
              </a:rPr>
              <a:t> </a:t>
            </a:r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  <a:ea typeface="ＭＳ Ｐゴシック" pitchFamily="28" charset="-128"/>
              </a:rPr>
              <a:t>-N</a:t>
            </a:r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FA E such that L(E)=L(R)</a:t>
            </a:r>
          </a:p>
          <a:p>
            <a:pPr eaLnBrk="1" hangingPunct="1">
              <a:lnSpc>
                <a:spcPct val="90000"/>
              </a:lnSpc>
              <a:buFont typeface="Wingdings" pitchFamily="28" charset="2"/>
              <a:buChar char="n"/>
              <a:defRPr/>
            </a:pPr>
            <a:endParaRPr lang="en-US" sz="2800" dirty="0"/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n"/>
              <a:defRPr/>
            </a:pPr>
            <a:endParaRPr lang="en-US" sz="2400" dirty="0"/>
          </a:p>
        </p:txBody>
      </p:sp>
      <p:sp>
        <p:nvSpPr>
          <p:cNvPr id="12293" name="Oval 4"/>
          <p:cNvSpPr>
            <a:spLocks noChangeArrowheads="1"/>
          </p:cNvSpPr>
          <p:nvPr/>
        </p:nvSpPr>
        <p:spPr bwMode="auto">
          <a:xfrm>
            <a:off x="2590800" y="4724400"/>
            <a:ext cx="1371600" cy="3810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 sz="2200">
                <a:sym typeface="Symbol" charset="2"/>
              </a:rPr>
              <a:t></a:t>
            </a:r>
            <a:r>
              <a:rPr lang="en-US" altLang="x-none" sz="2200"/>
              <a:t> </a:t>
            </a:r>
            <a:r>
              <a:rPr lang="en-US" altLang="x-none"/>
              <a:t>-NFA</a:t>
            </a:r>
          </a:p>
        </p:txBody>
      </p:sp>
      <p:sp>
        <p:nvSpPr>
          <p:cNvPr id="12294" name="Oval 6"/>
          <p:cNvSpPr>
            <a:spLocks noChangeArrowheads="1"/>
          </p:cNvSpPr>
          <p:nvPr/>
        </p:nvSpPr>
        <p:spPr bwMode="auto">
          <a:xfrm>
            <a:off x="4495800" y="4724400"/>
            <a:ext cx="1371600" cy="3810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NFA</a:t>
            </a:r>
          </a:p>
        </p:txBody>
      </p:sp>
      <p:sp>
        <p:nvSpPr>
          <p:cNvPr id="12295" name="Oval 7"/>
          <p:cNvSpPr>
            <a:spLocks noChangeArrowheads="1"/>
          </p:cNvSpPr>
          <p:nvPr/>
        </p:nvSpPr>
        <p:spPr bwMode="auto">
          <a:xfrm>
            <a:off x="4495800" y="5791200"/>
            <a:ext cx="1371600" cy="3810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DFA</a:t>
            </a:r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2590800" y="5791200"/>
            <a:ext cx="1371600" cy="3810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Reg Ex</a:t>
            </a:r>
          </a:p>
        </p:txBody>
      </p:sp>
      <p:sp>
        <p:nvSpPr>
          <p:cNvPr id="12297" name="Line 9"/>
          <p:cNvSpPr>
            <a:spLocks noChangeShapeType="1"/>
          </p:cNvSpPr>
          <p:nvPr/>
        </p:nvSpPr>
        <p:spPr bwMode="auto">
          <a:xfrm>
            <a:off x="5029200" y="510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 flipV="1">
            <a:off x="5257800" y="510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9" name="Line 11"/>
          <p:cNvSpPr>
            <a:spLocks noChangeShapeType="1"/>
          </p:cNvSpPr>
          <p:nvPr/>
        </p:nvSpPr>
        <p:spPr bwMode="auto">
          <a:xfrm flipH="1">
            <a:off x="3962400" y="6019800"/>
            <a:ext cx="5334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 flipV="1">
            <a:off x="3200400" y="5105400"/>
            <a:ext cx="0" cy="6858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1" name="Line 14"/>
          <p:cNvSpPr>
            <a:spLocks noChangeShapeType="1"/>
          </p:cNvSpPr>
          <p:nvPr/>
        </p:nvSpPr>
        <p:spPr bwMode="auto">
          <a:xfrm>
            <a:off x="3505200" y="5105400"/>
            <a:ext cx="1143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2" name="Line 15"/>
          <p:cNvSpPr>
            <a:spLocks noChangeShapeType="1"/>
          </p:cNvSpPr>
          <p:nvPr/>
        </p:nvSpPr>
        <p:spPr bwMode="auto">
          <a:xfrm flipH="1" flipV="1">
            <a:off x="3810000" y="5105400"/>
            <a:ext cx="990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3" name="Text Box 16"/>
          <p:cNvSpPr txBox="1">
            <a:spLocks noChangeArrowheads="1"/>
          </p:cNvSpPr>
          <p:nvPr/>
        </p:nvSpPr>
        <p:spPr bwMode="auto">
          <a:xfrm>
            <a:off x="2084388" y="5268913"/>
            <a:ext cx="1044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400">
                <a:solidFill>
                  <a:schemeClr val="folHlink"/>
                </a:solidFill>
              </a:rPr>
              <a:t>Theorem 2</a:t>
            </a:r>
          </a:p>
        </p:txBody>
      </p:sp>
      <p:sp>
        <p:nvSpPr>
          <p:cNvPr id="12304" name="Text Box 17"/>
          <p:cNvSpPr txBox="1">
            <a:spLocks noChangeArrowheads="1"/>
          </p:cNvSpPr>
          <p:nvPr/>
        </p:nvSpPr>
        <p:spPr bwMode="auto">
          <a:xfrm>
            <a:off x="3962400" y="6172200"/>
            <a:ext cx="1044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400">
                <a:solidFill>
                  <a:schemeClr val="hlink"/>
                </a:solidFill>
              </a:rPr>
              <a:t>Theorem 1</a:t>
            </a:r>
          </a:p>
        </p:txBody>
      </p:sp>
      <p:sp>
        <p:nvSpPr>
          <p:cNvPr id="12305" name="Text Box 18"/>
          <p:cNvSpPr txBox="1">
            <a:spLocks noChangeArrowheads="1"/>
          </p:cNvSpPr>
          <p:nvPr/>
        </p:nvSpPr>
        <p:spPr bwMode="auto">
          <a:xfrm>
            <a:off x="152400" y="3276600"/>
            <a:ext cx="1427163" cy="70167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Proofs </a:t>
            </a:r>
            <a:br>
              <a:rPr lang="en-US" altLang="x-none"/>
            </a:br>
            <a:r>
              <a:rPr lang="en-US" altLang="x-none"/>
              <a:t>in the book</a:t>
            </a:r>
          </a:p>
        </p:txBody>
      </p:sp>
      <p:sp>
        <p:nvSpPr>
          <p:cNvPr id="12306" name="Text Box 19"/>
          <p:cNvSpPr txBox="1">
            <a:spLocks noChangeArrowheads="1"/>
          </p:cNvSpPr>
          <p:nvPr/>
        </p:nvSpPr>
        <p:spPr bwMode="auto">
          <a:xfrm>
            <a:off x="6384925" y="5124450"/>
            <a:ext cx="2160588" cy="3968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 err="1"/>
              <a:t>Kleene</a:t>
            </a:r>
            <a:r>
              <a:rPr lang="en-US" b="1" dirty="0"/>
              <a:t> Theorem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89E01A1-BBCA-1D41-967A-BB5850F4AE51}" type="slidenum">
              <a:rPr lang="en-US" altLang="x-none" sz="1400"/>
              <a:pPr/>
              <a:t>11</a:t>
            </a:fld>
            <a:endParaRPr lang="en-US" altLang="x-none" sz="1400"/>
          </a:p>
        </p:txBody>
      </p:sp>
      <p:sp>
        <p:nvSpPr>
          <p:cNvPr id="13315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DFA to RE construction</a:t>
            </a:r>
          </a:p>
        </p:txBody>
      </p:sp>
      <p:sp>
        <p:nvSpPr>
          <p:cNvPr id="13316" name="Oval 4"/>
          <p:cNvSpPr>
            <a:spLocks noChangeArrowheads="1"/>
          </p:cNvSpPr>
          <p:nvPr/>
        </p:nvSpPr>
        <p:spPr bwMode="auto">
          <a:xfrm>
            <a:off x="5486400" y="381000"/>
            <a:ext cx="2057400" cy="5334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Reg Ex</a:t>
            </a:r>
          </a:p>
        </p:txBody>
      </p:sp>
      <p:sp>
        <p:nvSpPr>
          <p:cNvPr id="13317" name="Oval 5"/>
          <p:cNvSpPr>
            <a:spLocks noChangeArrowheads="1"/>
          </p:cNvSpPr>
          <p:nvPr/>
        </p:nvSpPr>
        <p:spPr bwMode="auto">
          <a:xfrm>
            <a:off x="2133600" y="457200"/>
            <a:ext cx="2209800" cy="5334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DFA</a:t>
            </a:r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 flipH="1">
            <a:off x="4343400" y="685800"/>
            <a:ext cx="114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4267200" y="669925"/>
            <a:ext cx="1412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>
                <a:solidFill>
                  <a:schemeClr val="hlink"/>
                </a:solidFill>
              </a:rPr>
              <a:t>Theorem 1</a:t>
            </a:r>
          </a:p>
        </p:txBody>
      </p:sp>
      <p:sp>
        <p:nvSpPr>
          <p:cNvPr id="13320" name="Text Box 9"/>
          <p:cNvSpPr txBox="1">
            <a:spLocks noChangeArrowheads="1"/>
          </p:cNvSpPr>
          <p:nvPr/>
        </p:nvSpPr>
        <p:spPr bwMode="auto">
          <a:xfrm>
            <a:off x="1371600" y="3244850"/>
            <a:ext cx="1243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u="sng"/>
              <a:t>Example:</a:t>
            </a:r>
          </a:p>
        </p:txBody>
      </p:sp>
      <p:sp>
        <p:nvSpPr>
          <p:cNvPr id="13321" name="Line 10"/>
          <p:cNvSpPr>
            <a:spLocks noChangeShapeType="1"/>
          </p:cNvSpPr>
          <p:nvPr/>
        </p:nvSpPr>
        <p:spPr bwMode="auto">
          <a:xfrm>
            <a:off x="2286000" y="40227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2" name="Oval 11"/>
          <p:cNvSpPr>
            <a:spLocks noChangeArrowheads="1"/>
          </p:cNvSpPr>
          <p:nvPr/>
        </p:nvSpPr>
        <p:spPr bwMode="auto">
          <a:xfrm>
            <a:off x="2667000" y="387032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 sz="1600"/>
              <a:t>q</a:t>
            </a:r>
            <a:r>
              <a:rPr lang="en-US" altLang="x-none" sz="1600" baseline="-25000"/>
              <a:t>0</a:t>
            </a:r>
          </a:p>
        </p:txBody>
      </p:sp>
      <p:sp>
        <p:nvSpPr>
          <p:cNvPr id="13323" name="Line 13"/>
          <p:cNvSpPr>
            <a:spLocks noChangeShapeType="1"/>
          </p:cNvSpPr>
          <p:nvPr/>
        </p:nvSpPr>
        <p:spPr bwMode="auto">
          <a:xfrm>
            <a:off x="2971800" y="402272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Oval 14"/>
          <p:cNvSpPr>
            <a:spLocks noChangeArrowheads="1"/>
          </p:cNvSpPr>
          <p:nvPr/>
        </p:nvSpPr>
        <p:spPr bwMode="auto">
          <a:xfrm>
            <a:off x="3810000" y="38703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 sz="1600"/>
              <a:t>q</a:t>
            </a:r>
            <a:r>
              <a:rPr lang="en-US" altLang="x-none" sz="1600" baseline="-25000"/>
              <a:t>1</a:t>
            </a:r>
          </a:p>
        </p:txBody>
      </p:sp>
      <p:sp>
        <p:nvSpPr>
          <p:cNvPr id="13325" name="Oval 16"/>
          <p:cNvSpPr>
            <a:spLocks noChangeArrowheads="1"/>
          </p:cNvSpPr>
          <p:nvPr/>
        </p:nvSpPr>
        <p:spPr bwMode="auto">
          <a:xfrm>
            <a:off x="4935538" y="3870325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 sz="1600"/>
              <a:t>q</a:t>
            </a:r>
            <a:r>
              <a:rPr lang="en-US" altLang="x-none" sz="1600" baseline="-25000"/>
              <a:t>2</a:t>
            </a:r>
          </a:p>
        </p:txBody>
      </p:sp>
      <p:sp>
        <p:nvSpPr>
          <p:cNvPr id="13326" name="Oval 17"/>
          <p:cNvSpPr>
            <a:spLocks noChangeArrowheads="1"/>
          </p:cNvSpPr>
          <p:nvPr/>
        </p:nvSpPr>
        <p:spPr bwMode="auto">
          <a:xfrm>
            <a:off x="4859338" y="3794125"/>
            <a:ext cx="457200" cy="457200"/>
          </a:xfrm>
          <a:prstGeom prst="ellipse">
            <a:avLst/>
          </a:prstGeom>
          <a:solidFill>
            <a:schemeClr val="accent1">
              <a:alpha val="5098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/>
          </a:p>
        </p:txBody>
      </p:sp>
      <p:sp>
        <p:nvSpPr>
          <p:cNvPr id="13327" name="Line 18"/>
          <p:cNvSpPr>
            <a:spLocks noChangeShapeType="1"/>
          </p:cNvSpPr>
          <p:nvPr/>
        </p:nvSpPr>
        <p:spPr bwMode="auto">
          <a:xfrm>
            <a:off x="4114800" y="402272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8" name="Freeform 22"/>
          <p:cNvSpPr>
            <a:spLocks/>
          </p:cNvSpPr>
          <p:nvPr/>
        </p:nvSpPr>
        <p:spPr bwMode="auto">
          <a:xfrm>
            <a:off x="2654300" y="3629025"/>
            <a:ext cx="241300" cy="241300"/>
          </a:xfrm>
          <a:custGeom>
            <a:avLst/>
            <a:gdLst>
              <a:gd name="T0" fmla="*/ 2147483647 w 152"/>
              <a:gd name="T1" fmla="*/ 2147483647 h 152"/>
              <a:gd name="T2" fmla="*/ 2147483647 w 152"/>
              <a:gd name="T3" fmla="*/ 2147483647 h 152"/>
              <a:gd name="T4" fmla="*/ 2147483647 w 152"/>
              <a:gd name="T5" fmla="*/ 2147483647 h 152"/>
              <a:gd name="T6" fmla="*/ 2147483647 w 152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52"/>
              <a:gd name="T13" fmla="*/ 0 h 152"/>
              <a:gd name="T14" fmla="*/ 152 w 152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2" h="152">
                <a:moveTo>
                  <a:pt x="56" y="152"/>
                </a:moveTo>
                <a:cubicBezTo>
                  <a:pt x="28" y="140"/>
                  <a:pt x="0" y="128"/>
                  <a:pt x="8" y="104"/>
                </a:cubicBezTo>
                <a:cubicBezTo>
                  <a:pt x="16" y="80"/>
                  <a:pt x="80" y="0"/>
                  <a:pt x="104" y="8"/>
                </a:cubicBezTo>
                <a:cubicBezTo>
                  <a:pt x="128" y="16"/>
                  <a:pt x="140" y="84"/>
                  <a:pt x="152" y="15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9" name="Text Box 23"/>
          <p:cNvSpPr txBox="1">
            <a:spLocks noChangeArrowheads="1"/>
          </p:cNvSpPr>
          <p:nvPr/>
        </p:nvSpPr>
        <p:spPr bwMode="auto">
          <a:xfrm>
            <a:off x="3284538" y="3767138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600"/>
              <a:t>0</a:t>
            </a:r>
          </a:p>
        </p:txBody>
      </p:sp>
      <p:sp>
        <p:nvSpPr>
          <p:cNvPr id="13330" name="Text Box 24"/>
          <p:cNvSpPr txBox="1">
            <a:spLocks noChangeArrowheads="1"/>
          </p:cNvSpPr>
          <p:nvPr/>
        </p:nvSpPr>
        <p:spPr bwMode="auto">
          <a:xfrm>
            <a:off x="4351338" y="3762375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600"/>
              <a:t>1</a:t>
            </a:r>
          </a:p>
        </p:txBody>
      </p:sp>
      <p:sp>
        <p:nvSpPr>
          <p:cNvPr id="13331" name="Text Box 25"/>
          <p:cNvSpPr txBox="1">
            <a:spLocks noChangeArrowheads="1"/>
          </p:cNvSpPr>
          <p:nvPr/>
        </p:nvSpPr>
        <p:spPr bwMode="auto">
          <a:xfrm>
            <a:off x="2667000" y="333692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600"/>
              <a:t>1</a:t>
            </a:r>
          </a:p>
        </p:txBody>
      </p:sp>
      <p:sp>
        <p:nvSpPr>
          <p:cNvPr id="13332" name="Freeform 28"/>
          <p:cNvSpPr>
            <a:spLocks/>
          </p:cNvSpPr>
          <p:nvPr/>
        </p:nvSpPr>
        <p:spPr bwMode="auto">
          <a:xfrm>
            <a:off x="3805238" y="3629025"/>
            <a:ext cx="241300" cy="241300"/>
          </a:xfrm>
          <a:custGeom>
            <a:avLst/>
            <a:gdLst>
              <a:gd name="T0" fmla="*/ 2147483647 w 152"/>
              <a:gd name="T1" fmla="*/ 2147483647 h 152"/>
              <a:gd name="T2" fmla="*/ 2147483647 w 152"/>
              <a:gd name="T3" fmla="*/ 2147483647 h 152"/>
              <a:gd name="T4" fmla="*/ 2147483647 w 152"/>
              <a:gd name="T5" fmla="*/ 2147483647 h 152"/>
              <a:gd name="T6" fmla="*/ 2147483647 w 152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52"/>
              <a:gd name="T13" fmla="*/ 0 h 152"/>
              <a:gd name="T14" fmla="*/ 152 w 152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2" h="152">
                <a:moveTo>
                  <a:pt x="56" y="152"/>
                </a:moveTo>
                <a:cubicBezTo>
                  <a:pt x="28" y="140"/>
                  <a:pt x="0" y="128"/>
                  <a:pt x="8" y="104"/>
                </a:cubicBezTo>
                <a:cubicBezTo>
                  <a:pt x="16" y="80"/>
                  <a:pt x="80" y="0"/>
                  <a:pt x="104" y="8"/>
                </a:cubicBezTo>
                <a:cubicBezTo>
                  <a:pt x="128" y="16"/>
                  <a:pt x="140" y="84"/>
                  <a:pt x="152" y="15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3" name="Text Box 29"/>
          <p:cNvSpPr txBox="1">
            <a:spLocks noChangeArrowheads="1"/>
          </p:cNvSpPr>
          <p:nvPr/>
        </p:nvSpPr>
        <p:spPr bwMode="auto">
          <a:xfrm>
            <a:off x="3817938" y="3336925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600"/>
              <a:t>0</a:t>
            </a:r>
          </a:p>
        </p:txBody>
      </p:sp>
      <p:sp>
        <p:nvSpPr>
          <p:cNvPr id="13334" name="Freeform 30"/>
          <p:cNvSpPr>
            <a:spLocks/>
          </p:cNvSpPr>
          <p:nvPr/>
        </p:nvSpPr>
        <p:spPr bwMode="auto">
          <a:xfrm>
            <a:off x="4930775" y="3552825"/>
            <a:ext cx="241300" cy="241300"/>
          </a:xfrm>
          <a:custGeom>
            <a:avLst/>
            <a:gdLst>
              <a:gd name="T0" fmla="*/ 2147483647 w 152"/>
              <a:gd name="T1" fmla="*/ 2147483647 h 152"/>
              <a:gd name="T2" fmla="*/ 2147483647 w 152"/>
              <a:gd name="T3" fmla="*/ 2147483647 h 152"/>
              <a:gd name="T4" fmla="*/ 2147483647 w 152"/>
              <a:gd name="T5" fmla="*/ 2147483647 h 152"/>
              <a:gd name="T6" fmla="*/ 2147483647 w 152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52"/>
              <a:gd name="T13" fmla="*/ 0 h 152"/>
              <a:gd name="T14" fmla="*/ 152 w 152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2" h="152">
                <a:moveTo>
                  <a:pt x="56" y="152"/>
                </a:moveTo>
                <a:cubicBezTo>
                  <a:pt x="28" y="140"/>
                  <a:pt x="0" y="128"/>
                  <a:pt x="8" y="104"/>
                </a:cubicBezTo>
                <a:cubicBezTo>
                  <a:pt x="16" y="80"/>
                  <a:pt x="80" y="0"/>
                  <a:pt x="104" y="8"/>
                </a:cubicBezTo>
                <a:cubicBezTo>
                  <a:pt x="128" y="16"/>
                  <a:pt x="140" y="84"/>
                  <a:pt x="152" y="15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5" name="Text Box 31"/>
          <p:cNvSpPr txBox="1">
            <a:spLocks noChangeArrowheads="1"/>
          </p:cNvSpPr>
          <p:nvPr/>
        </p:nvSpPr>
        <p:spPr bwMode="auto">
          <a:xfrm>
            <a:off x="4943475" y="3260725"/>
            <a:ext cx="466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600"/>
              <a:t>0,1</a:t>
            </a:r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2179638" y="4311650"/>
            <a:ext cx="3633787" cy="714375"/>
            <a:chOff x="1373" y="2428"/>
            <a:chExt cx="2289" cy="450"/>
          </a:xfrm>
        </p:grpSpPr>
        <p:sp>
          <p:nvSpPr>
            <p:cNvPr id="13351" name="AutoShape 32"/>
            <p:cNvSpPr>
              <a:spLocks noChangeArrowheads="1"/>
            </p:cNvSpPr>
            <p:nvPr/>
          </p:nvSpPr>
          <p:spPr bwMode="auto">
            <a:xfrm>
              <a:off x="1728" y="2438"/>
              <a:ext cx="48" cy="240"/>
            </a:xfrm>
            <a:prstGeom prst="downArrow">
              <a:avLst>
                <a:gd name="adj1" fmla="val 50000"/>
                <a:gd name="adj2" fmla="val 125000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52" name="Text Box 36"/>
            <p:cNvSpPr txBox="1">
              <a:spLocks noChangeArrowheads="1"/>
            </p:cNvSpPr>
            <p:nvPr/>
          </p:nvSpPr>
          <p:spPr bwMode="auto">
            <a:xfrm>
              <a:off x="1373" y="2626"/>
              <a:ext cx="59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     (1*)</a:t>
              </a:r>
            </a:p>
          </p:txBody>
        </p:sp>
        <p:sp>
          <p:nvSpPr>
            <p:cNvPr id="13353" name="AutoShape 37"/>
            <p:cNvSpPr>
              <a:spLocks noChangeArrowheads="1"/>
            </p:cNvSpPr>
            <p:nvPr/>
          </p:nvSpPr>
          <p:spPr bwMode="auto">
            <a:xfrm>
              <a:off x="2099" y="2428"/>
              <a:ext cx="48" cy="240"/>
            </a:xfrm>
            <a:prstGeom prst="downArrow">
              <a:avLst>
                <a:gd name="adj1" fmla="val 50000"/>
                <a:gd name="adj2" fmla="val 125000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54" name="Text Box 38"/>
            <p:cNvSpPr txBox="1">
              <a:spLocks noChangeArrowheads="1"/>
            </p:cNvSpPr>
            <p:nvPr/>
          </p:nvSpPr>
          <p:spPr bwMode="auto">
            <a:xfrm>
              <a:off x="2003" y="2620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0</a:t>
              </a:r>
            </a:p>
          </p:txBody>
        </p:sp>
        <p:sp>
          <p:nvSpPr>
            <p:cNvPr id="13355" name="AutoShape 39"/>
            <p:cNvSpPr>
              <a:spLocks noChangeArrowheads="1"/>
            </p:cNvSpPr>
            <p:nvPr/>
          </p:nvSpPr>
          <p:spPr bwMode="auto">
            <a:xfrm>
              <a:off x="2515" y="2428"/>
              <a:ext cx="48" cy="240"/>
            </a:xfrm>
            <a:prstGeom prst="downArrow">
              <a:avLst>
                <a:gd name="adj1" fmla="val 50000"/>
                <a:gd name="adj2" fmla="val 125000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56" name="Text Box 40"/>
            <p:cNvSpPr txBox="1">
              <a:spLocks noChangeArrowheads="1"/>
            </p:cNvSpPr>
            <p:nvPr/>
          </p:nvSpPr>
          <p:spPr bwMode="auto">
            <a:xfrm>
              <a:off x="2160" y="2616"/>
              <a:ext cx="5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    (0*)</a:t>
              </a:r>
            </a:p>
          </p:txBody>
        </p:sp>
        <p:sp>
          <p:nvSpPr>
            <p:cNvPr id="13357" name="AutoShape 41"/>
            <p:cNvSpPr>
              <a:spLocks noChangeArrowheads="1"/>
            </p:cNvSpPr>
            <p:nvPr/>
          </p:nvSpPr>
          <p:spPr bwMode="auto">
            <a:xfrm>
              <a:off x="2832" y="2428"/>
              <a:ext cx="48" cy="240"/>
            </a:xfrm>
            <a:prstGeom prst="downArrow">
              <a:avLst>
                <a:gd name="adj1" fmla="val 50000"/>
                <a:gd name="adj2" fmla="val 125000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58" name="Text Box 42"/>
            <p:cNvSpPr txBox="1">
              <a:spLocks noChangeArrowheads="1"/>
            </p:cNvSpPr>
            <p:nvPr/>
          </p:nvSpPr>
          <p:spPr bwMode="auto">
            <a:xfrm>
              <a:off x="2736" y="2620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1</a:t>
              </a:r>
            </a:p>
          </p:txBody>
        </p:sp>
        <p:sp>
          <p:nvSpPr>
            <p:cNvPr id="13359" name="AutoShape 43"/>
            <p:cNvSpPr>
              <a:spLocks noChangeArrowheads="1"/>
            </p:cNvSpPr>
            <p:nvPr/>
          </p:nvSpPr>
          <p:spPr bwMode="auto">
            <a:xfrm>
              <a:off x="3235" y="2438"/>
              <a:ext cx="48" cy="240"/>
            </a:xfrm>
            <a:prstGeom prst="downArrow">
              <a:avLst>
                <a:gd name="adj1" fmla="val 50000"/>
                <a:gd name="adj2" fmla="val 125000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60" name="Text Box 44"/>
            <p:cNvSpPr txBox="1">
              <a:spLocks noChangeArrowheads="1"/>
            </p:cNvSpPr>
            <p:nvPr/>
          </p:nvSpPr>
          <p:spPr bwMode="auto">
            <a:xfrm>
              <a:off x="2880" y="2626"/>
              <a:ext cx="78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   (0 + 1)*</a:t>
              </a:r>
            </a:p>
          </p:txBody>
        </p:sp>
      </p:grpSp>
      <p:sp>
        <p:nvSpPr>
          <p:cNvPr id="13337" name="Text Box 54"/>
          <p:cNvSpPr txBox="1">
            <a:spLocks noChangeArrowheads="1"/>
          </p:cNvSpPr>
          <p:nvPr/>
        </p:nvSpPr>
        <p:spPr bwMode="auto">
          <a:xfrm>
            <a:off x="1279525" y="1992313"/>
            <a:ext cx="74310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 Informally, trace all distinct paths (traversing cycles only once) </a:t>
            </a:r>
            <a:br>
              <a:rPr lang="en-US" altLang="x-none"/>
            </a:br>
            <a:r>
              <a:rPr lang="en-US" altLang="x-none"/>
              <a:t>	from the start state to </a:t>
            </a:r>
            <a:r>
              <a:rPr lang="en-US" altLang="x-none" i="1"/>
              <a:t>each of the </a:t>
            </a:r>
            <a:r>
              <a:rPr lang="en-US" altLang="x-none"/>
              <a:t>final states </a:t>
            </a:r>
            <a:br>
              <a:rPr lang="en-US" altLang="x-none"/>
            </a:br>
            <a:r>
              <a:rPr lang="en-US" altLang="x-none"/>
              <a:t>	and enumerate all the expressions along the way</a:t>
            </a:r>
          </a:p>
        </p:txBody>
      </p:sp>
      <p:grpSp>
        <p:nvGrpSpPr>
          <p:cNvPr id="3" name="Group 62"/>
          <p:cNvGrpSpPr>
            <a:grpSpLocks/>
          </p:cNvGrpSpPr>
          <p:nvPr/>
        </p:nvGrpSpPr>
        <p:grpSpPr bwMode="auto">
          <a:xfrm>
            <a:off x="2667000" y="5699125"/>
            <a:ext cx="2514600" cy="930275"/>
            <a:chOff x="1680" y="3302"/>
            <a:chExt cx="1584" cy="586"/>
          </a:xfrm>
        </p:grpSpPr>
        <p:sp>
          <p:nvSpPr>
            <p:cNvPr id="13349" name="Text Box 51"/>
            <p:cNvSpPr txBox="1">
              <a:spLocks noChangeArrowheads="1"/>
            </p:cNvSpPr>
            <p:nvPr/>
          </p:nvSpPr>
          <p:spPr bwMode="auto">
            <a:xfrm rot="10800000" flipV="1">
              <a:off x="1680" y="3638"/>
              <a:ext cx="15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     1*00*1(0+1)*</a:t>
              </a:r>
            </a:p>
          </p:txBody>
        </p:sp>
        <p:sp>
          <p:nvSpPr>
            <p:cNvPr id="13350" name="AutoShape 59"/>
            <p:cNvSpPr>
              <a:spLocks noChangeArrowheads="1"/>
            </p:cNvSpPr>
            <p:nvPr/>
          </p:nvSpPr>
          <p:spPr bwMode="auto">
            <a:xfrm>
              <a:off x="2256" y="3302"/>
              <a:ext cx="144" cy="336"/>
            </a:xfrm>
            <a:prstGeom prst="downArrow">
              <a:avLst>
                <a:gd name="adj1" fmla="val 50000"/>
                <a:gd name="adj2" fmla="val 58333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2133600" y="5013325"/>
            <a:ext cx="3657600" cy="609600"/>
            <a:chOff x="1344" y="2870"/>
            <a:chExt cx="2304" cy="384"/>
          </a:xfrm>
        </p:grpSpPr>
        <p:sp>
          <p:nvSpPr>
            <p:cNvPr id="13341" name="AutoShape 45"/>
            <p:cNvSpPr>
              <a:spLocks/>
            </p:cNvSpPr>
            <p:nvPr/>
          </p:nvSpPr>
          <p:spPr bwMode="auto">
            <a:xfrm rot="5400000">
              <a:off x="2352" y="2582"/>
              <a:ext cx="96" cy="672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42" name="Text Box 46"/>
            <p:cNvSpPr txBox="1">
              <a:spLocks noChangeArrowheads="1"/>
            </p:cNvSpPr>
            <p:nvPr/>
          </p:nvSpPr>
          <p:spPr bwMode="auto">
            <a:xfrm rot="10800000" flipV="1">
              <a:off x="2160" y="3004"/>
              <a:ext cx="4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00* </a:t>
              </a:r>
            </a:p>
          </p:txBody>
        </p:sp>
        <p:sp>
          <p:nvSpPr>
            <p:cNvPr id="13343" name="AutoShape 48"/>
            <p:cNvSpPr>
              <a:spLocks/>
            </p:cNvSpPr>
            <p:nvPr/>
          </p:nvSpPr>
          <p:spPr bwMode="auto">
            <a:xfrm rot="5400000">
              <a:off x="1632" y="2582"/>
              <a:ext cx="96" cy="672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44" name="Text Box 49"/>
            <p:cNvSpPr txBox="1">
              <a:spLocks noChangeArrowheads="1"/>
            </p:cNvSpPr>
            <p:nvPr/>
          </p:nvSpPr>
          <p:spPr bwMode="auto">
            <a:xfrm rot="10800000" flipV="1">
              <a:off x="1584" y="2966"/>
              <a:ext cx="4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1*</a:t>
              </a:r>
            </a:p>
          </p:txBody>
        </p:sp>
        <p:sp>
          <p:nvSpPr>
            <p:cNvPr id="13345" name="AutoShape 50"/>
            <p:cNvSpPr>
              <a:spLocks/>
            </p:cNvSpPr>
            <p:nvPr/>
          </p:nvSpPr>
          <p:spPr bwMode="auto">
            <a:xfrm rot="5400000">
              <a:off x="3264" y="2582"/>
              <a:ext cx="96" cy="672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46" name="AutoShape 52"/>
            <p:cNvSpPr>
              <a:spLocks/>
            </p:cNvSpPr>
            <p:nvPr/>
          </p:nvSpPr>
          <p:spPr bwMode="auto">
            <a:xfrm rot="5400000">
              <a:off x="2784" y="2822"/>
              <a:ext cx="96" cy="192"/>
            </a:xfrm>
            <a:prstGeom prst="rightBrace">
              <a:avLst>
                <a:gd name="adj1" fmla="val 1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3347" name="Text Box 53"/>
            <p:cNvSpPr txBox="1">
              <a:spLocks noChangeArrowheads="1"/>
            </p:cNvSpPr>
            <p:nvPr/>
          </p:nvSpPr>
          <p:spPr bwMode="auto">
            <a:xfrm rot="10800000" flipV="1">
              <a:off x="2736" y="2965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1</a:t>
              </a:r>
            </a:p>
          </p:txBody>
        </p:sp>
        <p:sp>
          <p:nvSpPr>
            <p:cNvPr id="13348" name="Text Box 63"/>
            <p:cNvSpPr txBox="1">
              <a:spLocks noChangeArrowheads="1"/>
            </p:cNvSpPr>
            <p:nvPr/>
          </p:nvSpPr>
          <p:spPr bwMode="auto">
            <a:xfrm>
              <a:off x="3062" y="2935"/>
              <a:ext cx="5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/>
                <a:t>(0+1)*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5943600" y="5638800"/>
            <a:ext cx="3089275" cy="4000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Q) What is the language?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05D2EAC4-9677-2D48-9E07-A39C080CEC3A}" type="slidenum">
              <a:rPr lang="en-US" altLang="x-none" sz="1400"/>
              <a:pPr/>
              <a:t>12</a:t>
            </a:fld>
            <a:endParaRPr lang="en-US" altLang="x-none" sz="14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RE to </a:t>
            </a:r>
            <a:r>
              <a:rPr lang="en-US" altLang="x-none">
                <a:sym typeface="Symbol" charset="2"/>
              </a:rPr>
              <a:t></a:t>
            </a:r>
            <a:r>
              <a:rPr lang="en-US" altLang="x-none">
                <a:ea typeface="ＭＳ Ｐゴシック" charset="-128"/>
              </a:rPr>
              <a:t>-N</a:t>
            </a:r>
            <a:r>
              <a:rPr lang="en-US" altLang="x-none"/>
              <a:t>FA construction </a:t>
            </a:r>
          </a:p>
        </p:txBody>
      </p:sp>
      <p:sp>
        <p:nvSpPr>
          <p:cNvPr id="14340" name="Oval 3"/>
          <p:cNvSpPr>
            <a:spLocks noChangeArrowheads="1"/>
          </p:cNvSpPr>
          <p:nvPr/>
        </p:nvSpPr>
        <p:spPr bwMode="auto">
          <a:xfrm>
            <a:off x="5486400" y="381000"/>
            <a:ext cx="2057400" cy="5334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 sz="2200">
                <a:sym typeface="Symbol" charset="2"/>
              </a:rPr>
              <a:t></a:t>
            </a:r>
            <a:r>
              <a:rPr lang="en-US" altLang="x-none"/>
              <a:t> -NFA</a:t>
            </a:r>
          </a:p>
        </p:txBody>
      </p:sp>
      <p:sp>
        <p:nvSpPr>
          <p:cNvPr id="14341" name="Oval 4"/>
          <p:cNvSpPr>
            <a:spLocks noChangeArrowheads="1"/>
          </p:cNvSpPr>
          <p:nvPr/>
        </p:nvSpPr>
        <p:spPr bwMode="auto">
          <a:xfrm>
            <a:off x="2133600" y="457200"/>
            <a:ext cx="2209800" cy="533400"/>
          </a:xfrm>
          <a:prstGeom prst="ellipse">
            <a:avLst/>
          </a:prstGeom>
          <a:solidFill>
            <a:srgbClr val="FFCC99">
              <a:alpha val="7843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/>
            <a:r>
              <a:rPr lang="en-US" altLang="x-none"/>
              <a:t>Reg Ex</a:t>
            </a:r>
          </a:p>
        </p:txBody>
      </p:sp>
      <p:sp>
        <p:nvSpPr>
          <p:cNvPr id="14342" name="Line 5"/>
          <p:cNvSpPr>
            <a:spLocks noChangeShapeType="1"/>
          </p:cNvSpPr>
          <p:nvPr/>
        </p:nvSpPr>
        <p:spPr bwMode="auto">
          <a:xfrm flipH="1">
            <a:off x="4343400" y="685800"/>
            <a:ext cx="114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Text Box 6"/>
          <p:cNvSpPr txBox="1">
            <a:spLocks noChangeArrowheads="1"/>
          </p:cNvSpPr>
          <p:nvPr/>
        </p:nvSpPr>
        <p:spPr bwMode="auto">
          <a:xfrm>
            <a:off x="4267200" y="669925"/>
            <a:ext cx="1412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>
                <a:solidFill>
                  <a:schemeClr val="hlink"/>
                </a:solidFill>
              </a:rPr>
              <a:t>Theorem 2</a:t>
            </a:r>
          </a:p>
        </p:txBody>
      </p:sp>
      <p:sp>
        <p:nvSpPr>
          <p:cNvPr id="14344" name="Text Box 11"/>
          <p:cNvSpPr txBox="1">
            <a:spLocks noChangeArrowheads="1"/>
          </p:cNvSpPr>
          <p:nvPr/>
        </p:nvSpPr>
        <p:spPr bwMode="auto">
          <a:xfrm>
            <a:off x="1203325" y="2152650"/>
            <a:ext cx="1243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u="sng"/>
              <a:t>Example:</a:t>
            </a:r>
            <a:endParaRPr lang="en-US" altLang="x-none"/>
          </a:p>
        </p:txBody>
      </p:sp>
      <p:sp>
        <p:nvSpPr>
          <p:cNvPr id="14345" name="Text Box 13"/>
          <p:cNvSpPr txBox="1">
            <a:spLocks noChangeArrowheads="1"/>
          </p:cNvSpPr>
          <p:nvPr/>
        </p:nvSpPr>
        <p:spPr bwMode="auto">
          <a:xfrm rot="10800000" flipV="1">
            <a:off x="2590800" y="21336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     (0+1)*01(0+1)*</a:t>
            </a:r>
          </a:p>
        </p:txBody>
      </p:sp>
      <p:sp>
        <p:nvSpPr>
          <p:cNvPr id="14346" name="Line 16"/>
          <p:cNvSpPr>
            <a:spLocks noChangeShapeType="1"/>
          </p:cNvSpPr>
          <p:nvPr/>
        </p:nvSpPr>
        <p:spPr bwMode="auto">
          <a:xfrm>
            <a:off x="609600" y="490378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9"/>
          <p:cNvGrpSpPr>
            <a:grpSpLocks/>
          </p:cNvGrpSpPr>
          <p:nvPr/>
        </p:nvGrpSpPr>
        <p:grpSpPr bwMode="auto">
          <a:xfrm>
            <a:off x="1676400" y="4408488"/>
            <a:ext cx="1143000" cy="1028700"/>
            <a:chOff x="1676400" y="3771900"/>
            <a:chExt cx="1143000" cy="1028700"/>
          </a:xfrm>
        </p:grpSpPr>
        <p:sp>
          <p:nvSpPr>
            <p:cNvPr id="14402" name="Oval 18"/>
            <p:cNvSpPr>
              <a:spLocks noChangeArrowheads="1"/>
            </p:cNvSpPr>
            <p:nvPr/>
          </p:nvSpPr>
          <p:spPr bwMode="auto">
            <a:xfrm>
              <a:off x="1676400" y="38862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403" name="Oval 19"/>
            <p:cNvSpPr>
              <a:spLocks noChangeArrowheads="1"/>
            </p:cNvSpPr>
            <p:nvPr/>
          </p:nvSpPr>
          <p:spPr bwMode="auto">
            <a:xfrm>
              <a:off x="1676400" y="449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404" name="Line 21"/>
            <p:cNvSpPr>
              <a:spLocks noChangeShapeType="1"/>
            </p:cNvSpPr>
            <p:nvPr/>
          </p:nvSpPr>
          <p:spPr bwMode="auto">
            <a:xfrm>
              <a:off x="1981200" y="40386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5" name="Oval 22"/>
            <p:cNvSpPr>
              <a:spLocks noChangeArrowheads="1"/>
            </p:cNvSpPr>
            <p:nvPr/>
          </p:nvSpPr>
          <p:spPr bwMode="auto">
            <a:xfrm>
              <a:off x="2514600" y="38862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406" name="Line 23"/>
            <p:cNvSpPr>
              <a:spLocks noChangeShapeType="1"/>
            </p:cNvSpPr>
            <p:nvPr/>
          </p:nvSpPr>
          <p:spPr bwMode="auto">
            <a:xfrm>
              <a:off x="1981200" y="46482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7" name="Oval 24"/>
            <p:cNvSpPr>
              <a:spLocks noChangeArrowheads="1"/>
            </p:cNvSpPr>
            <p:nvPr/>
          </p:nvSpPr>
          <p:spPr bwMode="auto">
            <a:xfrm>
              <a:off x="2514600" y="4495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408" name="Text Box 28"/>
            <p:cNvSpPr txBox="1">
              <a:spLocks noChangeArrowheads="1"/>
            </p:cNvSpPr>
            <p:nvPr/>
          </p:nvSpPr>
          <p:spPr bwMode="auto">
            <a:xfrm>
              <a:off x="2041525" y="3771900"/>
              <a:ext cx="268288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 sz="1200"/>
                <a:t>0</a:t>
              </a:r>
            </a:p>
          </p:txBody>
        </p:sp>
        <p:sp>
          <p:nvSpPr>
            <p:cNvPr id="14409" name="Text Box 29"/>
            <p:cNvSpPr txBox="1">
              <a:spLocks noChangeArrowheads="1"/>
            </p:cNvSpPr>
            <p:nvPr/>
          </p:nvSpPr>
          <p:spPr bwMode="auto">
            <a:xfrm>
              <a:off x="2057400" y="4449763"/>
              <a:ext cx="268288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 sz="1200"/>
                <a:t>1</a:t>
              </a:r>
            </a:p>
          </p:txBody>
        </p:sp>
      </p:grpSp>
      <p:grpSp>
        <p:nvGrpSpPr>
          <p:cNvPr id="3" name="Group 71"/>
          <p:cNvGrpSpPr>
            <a:grpSpLocks/>
          </p:cNvGrpSpPr>
          <p:nvPr/>
        </p:nvGrpSpPr>
        <p:grpSpPr bwMode="auto">
          <a:xfrm>
            <a:off x="2819400" y="4408488"/>
            <a:ext cx="609600" cy="1082675"/>
            <a:chOff x="2819400" y="3771900"/>
            <a:chExt cx="609600" cy="1082675"/>
          </a:xfrm>
        </p:grpSpPr>
        <p:sp>
          <p:nvSpPr>
            <p:cNvPr id="14397" name="Oval 25"/>
            <p:cNvSpPr>
              <a:spLocks noChangeArrowheads="1"/>
            </p:cNvSpPr>
            <p:nvPr/>
          </p:nvSpPr>
          <p:spPr bwMode="auto">
            <a:xfrm>
              <a:off x="3124200" y="4114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/>
            </a:p>
          </p:txBody>
        </p:sp>
        <p:sp>
          <p:nvSpPr>
            <p:cNvPr id="14398" name="Line 26"/>
            <p:cNvSpPr>
              <a:spLocks noChangeShapeType="1"/>
            </p:cNvSpPr>
            <p:nvPr/>
          </p:nvSpPr>
          <p:spPr bwMode="auto">
            <a:xfrm>
              <a:off x="2819400" y="4038600"/>
              <a:ext cx="3048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9" name="Line 27"/>
            <p:cNvSpPr>
              <a:spLocks noChangeShapeType="1"/>
            </p:cNvSpPr>
            <p:nvPr/>
          </p:nvSpPr>
          <p:spPr bwMode="auto">
            <a:xfrm flipV="1">
              <a:off x="2819400" y="4343400"/>
              <a:ext cx="3048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00" name="Text Box 30"/>
            <p:cNvSpPr txBox="1">
              <a:spLocks noChangeArrowheads="1"/>
            </p:cNvSpPr>
            <p:nvPr/>
          </p:nvSpPr>
          <p:spPr bwMode="auto">
            <a:xfrm>
              <a:off x="2819400" y="3771900"/>
              <a:ext cx="2952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401" name="Text Box 31"/>
            <p:cNvSpPr txBox="1">
              <a:spLocks noChangeArrowheads="1"/>
            </p:cNvSpPr>
            <p:nvPr/>
          </p:nvSpPr>
          <p:spPr bwMode="auto">
            <a:xfrm>
              <a:off x="2895600" y="4457700"/>
              <a:ext cx="2952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</p:grpSp>
      <p:grpSp>
        <p:nvGrpSpPr>
          <p:cNvPr id="4" name="Group 70"/>
          <p:cNvGrpSpPr>
            <a:grpSpLocks/>
          </p:cNvGrpSpPr>
          <p:nvPr/>
        </p:nvGrpSpPr>
        <p:grpSpPr bwMode="auto">
          <a:xfrm>
            <a:off x="914400" y="4484688"/>
            <a:ext cx="762000" cy="930275"/>
            <a:chOff x="914400" y="3848100"/>
            <a:chExt cx="762000" cy="930275"/>
          </a:xfrm>
        </p:grpSpPr>
        <p:sp>
          <p:nvSpPr>
            <p:cNvPr id="14392" name="Oval 15"/>
            <p:cNvSpPr>
              <a:spLocks noChangeArrowheads="1"/>
            </p:cNvSpPr>
            <p:nvPr/>
          </p:nvSpPr>
          <p:spPr bwMode="auto">
            <a:xfrm>
              <a:off x="914400" y="41148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/>
            </a:p>
          </p:txBody>
        </p:sp>
        <p:sp>
          <p:nvSpPr>
            <p:cNvPr id="14393" name="Line 17"/>
            <p:cNvSpPr>
              <a:spLocks noChangeShapeType="1"/>
            </p:cNvSpPr>
            <p:nvPr/>
          </p:nvSpPr>
          <p:spPr bwMode="auto">
            <a:xfrm flipV="1">
              <a:off x="1219200" y="4038600"/>
              <a:ext cx="4572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4" name="Line 20"/>
            <p:cNvSpPr>
              <a:spLocks noChangeShapeType="1"/>
            </p:cNvSpPr>
            <p:nvPr/>
          </p:nvSpPr>
          <p:spPr bwMode="auto">
            <a:xfrm>
              <a:off x="1219200" y="4343400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5" name="Text Box 32"/>
            <p:cNvSpPr txBox="1">
              <a:spLocks noChangeArrowheads="1"/>
            </p:cNvSpPr>
            <p:nvPr/>
          </p:nvSpPr>
          <p:spPr bwMode="auto">
            <a:xfrm>
              <a:off x="1295400" y="3848100"/>
              <a:ext cx="2952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  <a:endParaRPr lang="en-US" altLang="x-none" sz="2200">
                <a:sym typeface="Symbol" charset="2"/>
              </a:endParaRPr>
            </a:p>
          </p:txBody>
        </p:sp>
        <p:sp>
          <p:nvSpPr>
            <p:cNvPr id="14396" name="Text Box 33"/>
            <p:cNvSpPr txBox="1">
              <a:spLocks noChangeArrowheads="1"/>
            </p:cNvSpPr>
            <p:nvPr/>
          </p:nvSpPr>
          <p:spPr bwMode="auto">
            <a:xfrm>
              <a:off x="1295400" y="4381500"/>
              <a:ext cx="2952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</p:grpSp>
      <p:grpSp>
        <p:nvGrpSpPr>
          <p:cNvPr id="5" name="Group 73"/>
          <p:cNvGrpSpPr>
            <a:grpSpLocks/>
          </p:cNvGrpSpPr>
          <p:nvPr/>
        </p:nvGrpSpPr>
        <p:grpSpPr bwMode="auto">
          <a:xfrm>
            <a:off x="1016000" y="5056188"/>
            <a:ext cx="2349500" cy="887412"/>
            <a:chOff x="1016000" y="4419600"/>
            <a:chExt cx="2349500" cy="887473"/>
          </a:xfrm>
        </p:grpSpPr>
        <p:sp>
          <p:nvSpPr>
            <p:cNvPr id="14390" name="Freeform 34"/>
            <p:cNvSpPr>
              <a:spLocks/>
            </p:cNvSpPr>
            <p:nvPr/>
          </p:nvSpPr>
          <p:spPr bwMode="auto">
            <a:xfrm>
              <a:off x="1016000" y="4419600"/>
              <a:ext cx="2349500" cy="698500"/>
            </a:xfrm>
            <a:custGeom>
              <a:avLst/>
              <a:gdLst>
                <a:gd name="T0" fmla="*/ 2147483647 w 1480"/>
                <a:gd name="T1" fmla="*/ 0 h 440"/>
                <a:gd name="T2" fmla="*/ 2147483647 w 1480"/>
                <a:gd name="T3" fmla="*/ 2147483647 h 440"/>
                <a:gd name="T4" fmla="*/ 2147483647 w 1480"/>
                <a:gd name="T5" fmla="*/ 2147483647 h 440"/>
                <a:gd name="T6" fmla="*/ 2147483647 w 1480"/>
                <a:gd name="T7" fmla="*/ 2147483647 h 440"/>
                <a:gd name="T8" fmla="*/ 2147483647 w 1480"/>
                <a:gd name="T9" fmla="*/ 0 h 4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80"/>
                <a:gd name="T16" fmla="*/ 0 h 440"/>
                <a:gd name="T17" fmla="*/ 1480 w 1480"/>
                <a:gd name="T18" fmla="*/ 440 h 4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80" h="440">
                  <a:moveTo>
                    <a:pt x="1424" y="0"/>
                  </a:moveTo>
                  <a:cubicBezTo>
                    <a:pt x="1452" y="108"/>
                    <a:pt x="1480" y="216"/>
                    <a:pt x="1376" y="288"/>
                  </a:cubicBezTo>
                  <a:cubicBezTo>
                    <a:pt x="1272" y="360"/>
                    <a:pt x="1008" y="440"/>
                    <a:pt x="800" y="432"/>
                  </a:cubicBezTo>
                  <a:cubicBezTo>
                    <a:pt x="592" y="424"/>
                    <a:pt x="256" y="312"/>
                    <a:pt x="128" y="240"/>
                  </a:cubicBezTo>
                  <a:cubicBezTo>
                    <a:pt x="0" y="168"/>
                    <a:pt x="48" y="40"/>
                    <a:pt x="3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1" name="Text Box 35"/>
            <p:cNvSpPr txBox="1">
              <a:spLocks noChangeArrowheads="1"/>
            </p:cNvSpPr>
            <p:nvPr/>
          </p:nvSpPr>
          <p:spPr bwMode="auto">
            <a:xfrm>
              <a:off x="2246313" y="4906963"/>
              <a:ext cx="29687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</p:grpSp>
      <p:grpSp>
        <p:nvGrpSpPr>
          <p:cNvPr id="6" name="Group 72"/>
          <p:cNvGrpSpPr>
            <a:grpSpLocks/>
          </p:cNvGrpSpPr>
          <p:nvPr/>
        </p:nvGrpSpPr>
        <p:grpSpPr bwMode="auto">
          <a:xfrm>
            <a:off x="1066800" y="3970338"/>
            <a:ext cx="2324100" cy="781050"/>
            <a:chOff x="1066800" y="3333690"/>
            <a:chExt cx="2324100" cy="781110"/>
          </a:xfrm>
        </p:grpSpPr>
        <p:sp>
          <p:nvSpPr>
            <p:cNvPr id="14388" name="Freeform 39"/>
            <p:cNvSpPr>
              <a:spLocks/>
            </p:cNvSpPr>
            <p:nvPr/>
          </p:nvSpPr>
          <p:spPr bwMode="auto">
            <a:xfrm>
              <a:off x="1066800" y="3644900"/>
              <a:ext cx="2324100" cy="469900"/>
            </a:xfrm>
            <a:custGeom>
              <a:avLst/>
              <a:gdLst>
                <a:gd name="T0" fmla="*/ 0 w 1464"/>
                <a:gd name="T1" fmla="*/ 2147483647 h 296"/>
                <a:gd name="T2" fmla="*/ 2147483647 w 1464"/>
                <a:gd name="T3" fmla="*/ 2147483647 h 296"/>
                <a:gd name="T4" fmla="*/ 2147483647 w 1464"/>
                <a:gd name="T5" fmla="*/ 2147483647 h 296"/>
                <a:gd name="T6" fmla="*/ 2147483647 w 1464"/>
                <a:gd name="T7" fmla="*/ 2147483647 h 296"/>
                <a:gd name="T8" fmla="*/ 2147483647 w 1464"/>
                <a:gd name="T9" fmla="*/ 2147483647 h 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64"/>
                <a:gd name="T16" fmla="*/ 0 h 296"/>
                <a:gd name="T17" fmla="*/ 1464 w 1464"/>
                <a:gd name="T18" fmla="*/ 296 h 2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64" h="296">
                  <a:moveTo>
                    <a:pt x="0" y="296"/>
                  </a:moveTo>
                  <a:cubicBezTo>
                    <a:pt x="12" y="224"/>
                    <a:pt x="24" y="152"/>
                    <a:pt x="144" y="104"/>
                  </a:cubicBezTo>
                  <a:cubicBezTo>
                    <a:pt x="264" y="56"/>
                    <a:pt x="520" y="0"/>
                    <a:pt x="720" y="8"/>
                  </a:cubicBezTo>
                  <a:cubicBezTo>
                    <a:pt x="920" y="16"/>
                    <a:pt x="1224" y="104"/>
                    <a:pt x="1344" y="152"/>
                  </a:cubicBezTo>
                  <a:cubicBezTo>
                    <a:pt x="1464" y="200"/>
                    <a:pt x="1452" y="248"/>
                    <a:pt x="1440" y="29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9" name="Text Box 40"/>
            <p:cNvSpPr txBox="1">
              <a:spLocks noChangeArrowheads="1"/>
            </p:cNvSpPr>
            <p:nvPr/>
          </p:nvSpPr>
          <p:spPr bwMode="auto">
            <a:xfrm>
              <a:off x="1828800" y="3333690"/>
              <a:ext cx="29687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</p:grpSp>
      <p:grpSp>
        <p:nvGrpSpPr>
          <p:cNvPr id="7" name="Group 72"/>
          <p:cNvGrpSpPr>
            <a:grpSpLocks/>
          </p:cNvGrpSpPr>
          <p:nvPr/>
        </p:nvGrpSpPr>
        <p:grpSpPr bwMode="auto">
          <a:xfrm>
            <a:off x="3429000" y="4560888"/>
            <a:ext cx="1752600" cy="495300"/>
            <a:chOff x="2160" y="2472"/>
            <a:chExt cx="1104" cy="312"/>
          </a:xfrm>
        </p:grpSpPr>
        <p:sp>
          <p:nvSpPr>
            <p:cNvPr id="14380" name="Line 36"/>
            <p:cNvSpPr>
              <a:spLocks noChangeShapeType="1"/>
            </p:cNvSpPr>
            <p:nvPr/>
          </p:nvSpPr>
          <p:spPr bwMode="auto">
            <a:xfrm>
              <a:off x="2160" y="268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1" name="Oval 37"/>
            <p:cNvSpPr>
              <a:spLocks noChangeArrowheads="1"/>
            </p:cNvSpPr>
            <p:nvPr/>
          </p:nvSpPr>
          <p:spPr bwMode="auto">
            <a:xfrm>
              <a:off x="2400" y="25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/>
            </a:p>
          </p:txBody>
        </p:sp>
        <p:sp>
          <p:nvSpPr>
            <p:cNvPr id="14382" name="Text Box 38"/>
            <p:cNvSpPr txBox="1">
              <a:spLocks noChangeArrowheads="1"/>
            </p:cNvSpPr>
            <p:nvPr/>
          </p:nvSpPr>
          <p:spPr bwMode="auto">
            <a:xfrm>
              <a:off x="2183" y="2472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383" name="Line 41"/>
            <p:cNvSpPr>
              <a:spLocks noChangeShapeType="1"/>
            </p:cNvSpPr>
            <p:nvPr/>
          </p:nvSpPr>
          <p:spPr bwMode="auto">
            <a:xfrm>
              <a:off x="2592" y="266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4" name="Oval 42"/>
            <p:cNvSpPr>
              <a:spLocks noChangeArrowheads="1"/>
            </p:cNvSpPr>
            <p:nvPr/>
          </p:nvSpPr>
          <p:spPr bwMode="auto">
            <a:xfrm>
              <a:off x="2832" y="2573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/>
            </a:p>
          </p:txBody>
        </p:sp>
        <p:sp>
          <p:nvSpPr>
            <p:cNvPr id="14385" name="Text Box 43"/>
            <p:cNvSpPr txBox="1">
              <a:spLocks noChangeArrowheads="1"/>
            </p:cNvSpPr>
            <p:nvPr/>
          </p:nvSpPr>
          <p:spPr bwMode="auto">
            <a:xfrm>
              <a:off x="2615" y="2496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 sz="1200"/>
                <a:t>0</a:t>
              </a:r>
            </a:p>
          </p:txBody>
        </p:sp>
        <p:sp>
          <p:nvSpPr>
            <p:cNvPr id="14386" name="Line 44"/>
            <p:cNvSpPr>
              <a:spLocks noChangeShapeType="1"/>
            </p:cNvSpPr>
            <p:nvPr/>
          </p:nvSpPr>
          <p:spPr bwMode="auto">
            <a:xfrm>
              <a:off x="3024" y="2669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7" name="Text Box 46"/>
            <p:cNvSpPr txBox="1">
              <a:spLocks noChangeArrowheads="1"/>
            </p:cNvSpPr>
            <p:nvPr/>
          </p:nvSpPr>
          <p:spPr bwMode="auto">
            <a:xfrm>
              <a:off x="3047" y="2496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 sz="1200"/>
                <a:t>1</a:t>
              </a:r>
            </a:p>
          </p:txBody>
        </p:sp>
      </p:grpSp>
      <p:grpSp>
        <p:nvGrpSpPr>
          <p:cNvPr id="8" name="Group 74"/>
          <p:cNvGrpSpPr>
            <a:grpSpLocks/>
          </p:cNvGrpSpPr>
          <p:nvPr/>
        </p:nvGrpSpPr>
        <p:grpSpPr bwMode="auto">
          <a:xfrm>
            <a:off x="5181600" y="3997325"/>
            <a:ext cx="2743200" cy="1874838"/>
            <a:chOff x="3264" y="2117"/>
            <a:chExt cx="1728" cy="1181"/>
          </a:xfrm>
        </p:grpSpPr>
        <p:sp>
          <p:nvSpPr>
            <p:cNvPr id="14357" name="Oval 47"/>
            <p:cNvSpPr>
              <a:spLocks noChangeArrowheads="1"/>
            </p:cNvSpPr>
            <p:nvPr/>
          </p:nvSpPr>
          <p:spPr bwMode="auto">
            <a:xfrm>
              <a:off x="3264" y="25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/>
            </a:p>
          </p:txBody>
        </p:sp>
        <p:sp>
          <p:nvSpPr>
            <p:cNvPr id="14358" name="Line 48"/>
            <p:cNvSpPr>
              <a:spLocks noChangeShapeType="1"/>
            </p:cNvSpPr>
            <p:nvPr/>
          </p:nvSpPr>
          <p:spPr bwMode="auto">
            <a:xfrm flipV="1">
              <a:off x="3456" y="2544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9" name="Oval 49"/>
            <p:cNvSpPr>
              <a:spLocks noChangeArrowheads="1"/>
            </p:cNvSpPr>
            <p:nvPr/>
          </p:nvSpPr>
          <p:spPr bwMode="auto">
            <a:xfrm>
              <a:off x="3744" y="244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360" name="Oval 50"/>
            <p:cNvSpPr>
              <a:spLocks noChangeArrowheads="1"/>
            </p:cNvSpPr>
            <p:nvPr/>
          </p:nvSpPr>
          <p:spPr bwMode="auto">
            <a:xfrm>
              <a:off x="3744" y="283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361" name="Line 51"/>
            <p:cNvSpPr>
              <a:spLocks noChangeShapeType="1"/>
            </p:cNvSpPr>
            <p:nvPr/>
          </p:nvSpPr>
          <p:spPr bwMode="auto">
            <a:xfrm>
              <a:off x="3456" y="2736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2" name="Line 52"/>
            <p:cNvSpPr>
              <a:spLocks noChangeShapeType="1"/>
            </p:cNvSpPr>
            <p:nvPr/>
          </p:nvSpPr>
          <p:spPr bwMode="auto">
            <a:xfrm>
              <a:off x="3936" y="25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3" name="Oval 53"/>
            <p:cNvSpPr>
              <a:spLocks noChangeArrowheads="1"/>
            </p:cNvSpPr>
            <p:nvPr/>
          </p:nvSpPr>
          <p:spPr bwMode="auto">
            <a:xfrm>
              <a:off x="4272" y="244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364" name="Line 54"/>
            <p:cNvSpPr>
              <a:spLocks noChangeShapeType="1"/>
            </p:cNvSpPr>
            <p:nvPr/>
          </p:nvSpPr>
          <p:spPr bwMode="auto">
            <a:xfrm>
              <a:off x="3936" y="29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5" name="Oval 55"/>
            <p:cNvSpPr>
              <a:spLocks noChangeArrowheads="1"/>
            </p:cNvSpPr>
            <p:nvPr/>
          </p:nvSpPr>
          <p:spPr bwMode="auto">
            <a:xfrm>
              <a:off x="4272" y="283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  <p:sp>
          <p:nvSpPr>
            <p:cNvPr id="14366" name="Oval 56"/>
            <p:cNvSpPr>
              <a:spLocks noChangeArrowheads="1"/>
            </p:cNvSpPr>
            <p:nvPr/>
          </p:nvSpPr>
          <p:spPr bwMode="auto">
            <a:xfrm>
              <a:off x="4752" y="25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endParaRPr lang="x-none" altLang="x-none"/>
            </a:p>
          </p:txBody>
        </p:sp>
        <p:sp>
          <p:nvSpPr>
            <p:cNvPr id="14367" name="Line 57"/>
            <p:cNvSpPr>
              <a:spLocks noChangeShapeType="1"/>
            </p:cNvSpPr>
            <p:nvPr/>
          </p:nvSpPr>
          <p:spPr bwMode="auto">
            <a:xfrm>
              <a:off x="4464" y="2544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8" name="Line 58"/>
            <p:cNvSpPr>
              <a:spLocks noChangeShapeType="1"/>
            </p:cNvSpPr>
            <p:nvPr/>
          </p:nvSpPr>
          <p:spPr bwMode="auto">
            <a:xfrm flipV="1">
              <a:off x="4464" y="2784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9" name="Text Box 59"/>
            <p:cNvSpPr txBox="1">
              <a:spLocks noChangeArrowheads="1"/>
            </p:cNvSpPr>
            <p:nvPr/>
          </p:nvSpPr>
          <p:spPr bwMode="auto">
            <a:xfrm>
              <a:off x="3974" y="2376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 sz="1200"/>
                <a:t>0</a:t>
              </a:r>
            </a:p>
          </p:txBody>
        </p:sp>
        <p:sp>
          <p:nvSpPr>
            <p:cNvPr id="14370" name="Text Box 60"/>
            <p:cNvSpPr txBox="1">
              <a:spLocks noChangeArrowheads="1"/>
            </p:cNvSpPr>
            <p:nvPr/>
          </p:nvSpPr>
          <p:spPr bwMode="auto">
            <a:xfrm>
              <a:off x="3984" y="2803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 sz="1200"/>
                <a:t>1</a:t>
              </a:r>
            </a:p>
          </p:txBody>
        </p:sp>
        <p:sp>
          <p:nvSpPr>
            <p:cNvPr id="14371" name="Text Box 61"/>
            <p:cNvSpPr txBox="1">
              <a:spLocks noChangeArrowheads="1"/>
            </p:cNvSpPr>
            <p:nvPr/>
          </p:nvSpPr>
          <p:spPr bwMode="auto">
            <a:xfrm>
              <a:off x="4464" y="2376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372" name="Text Box 62"/>
            <p:cNvSpPr txBox="1">
              <a:spLocks noChangeArrowheads="1"/>
            </p:cNvSpPr>
            <p:nvPr/>
          </p:nvSpPr>
          <p:spPr bwMode="auto">
            <a:xfrm>
              <a:off x="4512" y="2808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373" name="Text Box 63"/>
            <p:cNvSpPr txBox="1">
              <a:spLocks noChangeArrowheads="1"/>
            </p:cNvSpPr>
            <p:nvPr/>
          </p:nvSpPr>
          <p:spPr bwMode="auto">
            <a:xfrm>
              <a:off x="3504" y="2424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374" name="Text Box 64"/>
            <p:cNvSpPr txBox="1">
              <a:spLocks noChangeArrowheads="1"/>
            </p:cNvSpPr>
            <p:nvPr/>
          </p:nvSpPr>
          <p:spPr bwMode="auto">
            <a:xfrm>
              <a:off x="3504" y="2760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375" name="Freeform 65"/>
            <p:cNvSpPr>
              <a:spLocks/>
            </p:cNvSpPr>
            <p:nvPr/>
          </p:nvSpPr>
          <p:spPr bwMode="auto">
            <a:xfrm>
              <a:off x="3328" y="2784"/>
              <a:ext cx="1480" cy="440"/>
            </a:xfrm>
            <a:custGeom>
              <a:avLst/>
              <a:gdLst>
                <a:gd name="T0" fmla="*/ 1424 w 1480"/>
                <a:gd name="T1" fmla="*/ 0 h 440"/>
                <a:gd name="T2" fmla="*/ 1376 w 1480"/>
                <a:gd name="T3" fmla="*/ 288 h 440"/>
                <a:gd name="T4" fmla="*/ 800 w 1480"/>
                <a:gd name="T5" fmla="*/ 432 h 440"/>
                <a:gd name="T6" fmla="*/ 128 w 1480"/>
                <a:gd name="T7" fmla="*/ 240 h 440"/>
                <a:gd name="T8" fmla="*/ 32 w 1480"/>
                <a:gd name="T9" fmla="*/ 0 h 4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80"/>
                <a:gd name="T16" fmla="*/ 0 h 440"/>
                <a:gd name="T17" fmla="*/ 1480 w 1480"/>
                <a:gd name="T18" fmla="*/ 440 h 4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80" h="440">
                  <a:moveTo>
                    <a:pt x="1424" y="0"/>
                  </a:moveTo>
                  <a:cubicBezTo>
                    <a:pt x="1452" y="108"/>
                    <a:pt x="1480" y="216"/>
                    <a:pt x="1376" y="288"/>
                  </a:cubicBezTo>
                  <a:cubicBezTo>
                    <a:pt x="1272" y="360"/>
                    <a:pt x="1008" y="440"/>
                    <a:pt x="800" y="432"/>
                  </a:cubicBezTo>
                  <a:cubicBezTo>
                    <a:pt x="592" y="424"/>
                    <a:pt x="256" y="312"/>
                    <a:pt x="128" y="240"/>
                  </a:cubicBezTo>
                  <a:cubicBezTo>
                    <a:pt x="0" y="168"/>
                    <a:pt x="48" y="40"/>
                    <a:pt x="3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6" name="Text Box 66"/>
            <p:cNvSpPr txBox="1">
              <a:spLocks noChangeArrowheads="1"/>
            </p:cNvSpPr>
            <p:nvPr/>
          </p:nvSpPr>
          <p:spPr bwMode="auto">
            <a:xfrm>
              <a:off x="4103" y="3048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377" name="Freeform 67"/>
            <p:cNvSpPr>
              <a:spLocks/>
            </p:cNvSpPr>
            <p:nvPr/>
          </p:nvSpPr>
          <p:spPr bwMode="auto">
            <a:xfrm>
              <a:off x="3360" y="2296"/>
              <a:ext cx="1488" cy="296"/>
            </a:xfrm>
            <a:custGeom>
              <a:avLst/>
              <a:gdLst>
                <a:gd name="T0" fmla="*/ 0 w 1464"/>
                <a:gd name="T1" fmla="*/ 296 h 296"/>
                <a:gd name="T2" fmla="*/ 160 w 1464"/>
                <a:gd name="T3" fmla="*/ 104 h 296"/>
                <a:gd name="T4" fmla="*/ 807 w 1464"/>
                <a:gd name="T5" fmla="*/ 8 h 296"/>
                <a:gd name="T6" fmla="*/ 1506 w 1464"/>
                <a:gd name="T7" fmla="*/ 152 h 296"/>
                <a:gd name="T8" fmla="*/ 1614 w 1464"/>
                <a:gd name="T9" fmla="*/ 296 h 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64"/>
                <a:gd name="T16" fmla="*/ 0 h 296"/>
                <a:gd name="T17" fmla="*/ 1464 w 1464"/>
                <a:gd name="T18" fmla="*/ 296 h 2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64" h="296">
                  <a:moveTo>
                    <a:pt x="0" y="296"/>
                  </a:moveTo>
                  <a:cubicBezTo>
                    <a:pt x="12" y="224"/>
                    <a:pt x="24" y="152"/>
                    <a:pt x="144" y="104"/>
                  </a:cubicBezTo>
                  <a:cubicBezTo>
                    <a:pt x="264" y="56"/>
                    <a:pt x="520" y="0"/>
                    <a:pt x="720" y="8"/>
                  </a:cubicBezTo>
                  <a:cubicBezTo>
                    <a:pt x="920" y="16"/>
                    <a:pt x="1224" y="104"/>
                    <a:pt x="1344" y="152"/>
                  </a:cubicBezTo>
                  <a:cubicBezTo>
                    <a:pt x="1464" y="200"/>
                    <a:pt x="1452" y="248"/>
                    <a:pt x="1440" y="29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8" name="Text Box 68"/>
            <p:cNvSpPr txBox="1">
              <a:spLocks noChangeArrowheads="1"/>
            </p:cNvSpPr>
            <p:nvPr/>
          </p:nvSpPr>
          <p:spPr bwMode="auto">
            <a:xfrm>
              <a:off x="3840" y="2117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x-none">
                  <a:sym typeface="Symbol" charset="2"/>
                </a:rPr>
                <a:t></a:t>
              </a:r>
            </a:p>
          </p:txBody>
        </p:sp>
        <p:sp>
          <p:nvSpPr>
            <p:cNvPr id="14379" name="Oval 73"/>
            <p:cNvSpPr>
              <a:spLocks noChangeArrowheads="1"/>
            </p:cNvSpPr>
            <p:nvPr/>
          </p:nvSpPr>
          <p:spPr bwMode="auto">
            <a:xfrm>
              <a:off x="4704" y="2544"/>
              <a:ext cx="288" cy="288"/>
            </a:xfrm>
            <a:prstGeom prst="ellipse">
              <a:avLst/>
            </a:prstGeom>
            <a:solidFill>
              <a:schemeClr val="accent1">
                <a:alpha val="12941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x-none" altLang="x-none"/>
            </a:p>
          </p:txBody>
        </p:sp>
      </p:grpSp>
      <p:sp>
        <p:nvSpPr>
          <p:cNvPr id="72" name="Text Box 13"/>
          <p:cNvSpPr txBox="1">
            <a:spLocks noChangeArrowheads="1"/>
          </p:cNvSpPr>
          <p:nvPr/>
        </p:nvSpPr>
        <p:spPr bwMode="auto">
          <a:xfrm rot="10800000" flipV="1">
            <a:off x="1981200" y="3227388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   (0+1)*</a:t>
            </a:r>
          </a:p>
        </p:txBody>
      </p:sp>
      <p:sp>
        <p:nvSpPr>
          <p:cNvPr id="74" name="Text Box 13"/>
          <p:cNvSpPr txBox="1">
            <a:spLocks noChangeArrowheads="1"/>
          </p:cNvSpPr>
          <p:nvPr/>
        </p:nvSpPr>
        <p:spPr bwMode="auto">
          <a:xfrm rot="10800000" flipV="1">
            <a:off x="3886200" y="3227388"/>
            <a:ext cx="76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   01</a:t>
            </a:r>
          </a:p>
        </p:txBody>
      </p:sp>
      <p:sp>
        <p:nvSpPr>
          <p:cNvPr id="76" name="Text Box 13"/>
          <p:cNvSpPr txBox="1">
            <a:spLocks noChangeArrowheads="1"/>
          </p:cNvSpPr>
          <p:nvPr/>
        </p:nvSpPr>
        <p:spPr bwMode="auto">
          <a:xfrm rot="10800000" flipV="1">
            <a:off x="5715000" y="3227388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/>
              <a:t>   (0+1)*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7" dur="indefinit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9" dur="indefinite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7" dur="indefinite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49" dur="indefinite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4" grpId="0"/>
      <p:bldP spid="7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987E69B0-CB0C-7446-8C47-78B1FF4020C1}" type="slidenum">
              <a:rPr lang="en-US" altLang="x-none" sz="1400"/>
              <a:pPr/>
              <a:t>13</a:t>
            </a:fld>
            <a:endParaRPr lang="en-US" altLang="x-none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Algebraic Laws of Regular Expressions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x-none" sz="2800" u="sng"/>
              <a:t>Commutative:</a:t>
            </a:r>
            <a:r>
              <a:rPr lang="en-US" altLang="x-none" sz="28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/>
              <a:t>E+F = F+E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800" u="sng"/>
              <a:t>Associative:</a:t>
            </a:r>
            <a:r>
              <a:rPr lang="en-US" altLang="x-none" sz="28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/>
              <a:t>(E+F)+G = E+(F+G)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/>
              <a:t>(EF)G = E(FG)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800" u="sng"/>
              <a:t>Identity:</a:t>
            </a:r>
            <a:r>
              <a:rPr lang="en-US" altLang="x-none" sz="28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/>
              <a:t>E+</a:t>
            </a:r>
            <a:r>
              <a:rPr lang="el-GR" altLang="x-none" sz="2400"/>
              <a:t>Φ = 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000">
                <a:ea typeface="ＭＳ Ｐゴシック" charset="-128"/>
                <a:sym typeface="Symbol" charset="2"/>
              </a:rPr>
              <a:t></a:t>
            </a:r>
            <a:r>
              <a:rPr lang="en-US" altLang="x-none" sz="2400"/>
              <a:t> E = E </a:t>
            </a:r>
            <a:r>
              <a:rPr lang="en-US" altLang="x-none" sz="2000">
                <a:ea typeface="ＭＳ Ｐゴシック" charset="-128"/>
                <a:sym typeface="Symbol" charset="2"/>
              </a:rPr>
              <a:t></a:t>
            </a:r>
            <a:r>
              <a:rPr lang="en-US" altLang="x-none" sz="2400"/>
              <a:t> = E</a:t>
            </a:r>
          </a:p>
          <a:p>
            <a:pPr eaLnBrk="1" hangingPunct="1">
              <a:lnSpc>
                <a:spcPct val="90000"/>
              </a:lnSpc>
            </a:pPr>
            <a:r>
              <a:rPr lang="el-GR" altLang="x-none" sz="2800" u="sng"/>
              <a:t>Annihilator:</a:t>
            </a:r>
            <a:r>
              <a:rPr lang="el-GR" altLang="x-none" sz="28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l-GR" altLang="x-none" sz="2400"/>
              <a:t>ΦE = EΦ = Φ</a:t>
            </a:r>
            <a:endParaRPr lang="en-US" altLang="x-none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4FD0641-1438-B242-A8F3-28537502B914}" type="slidenum">
              <a:rPr lang="en-US" altLang="x-none" sz="1400"/>
              <a:pPr/>
              <a:t>14</a:t>
            </a:fld>
            <a:endParaRPr lang="en-US" altLang="x-none" sz="14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Algebraic Laws…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l-GR" altLang="x-none" sz="2800" u="sng"/>
              <a:t>Distributive:</a:t>
            </a:r>
            <a:endParaRPr lang="el-GR" altLang="x-none" sz="2800"/>
          </a:p>
          <a:p>
            <a:pPr lvl="1" eaLnBrk="1" hangingPunct="1">
              <a:lnSpc>
                <a:spcPct val="90000"/>
              </a:lnSpc>
            </a:pPr>
            <a:r>
              <a:rPr lang="el-GR" altLang="x-none" sz="2400"/>
              <a:t>E(F+G) = EF + EG </a:t>
            </a:r>
          </a:p>
          <a:p>
            <a:pPr lvl="1" eaLnBrk="1" hangingPunct="1">
              <a:lnSpc>
                <a:spcPct val="90000"/>
              </a:lnSpc>
            </a:pPr>
            <a:r>
              <a:rPr lang="el-GR" altLang="x-none" sz="2400"/>
              <a:t>(F+G)E = FE+GE</a:t>
            </a:r>
          </a:p>
          <a:p>
            <a:pPr eaLnBrk="1" hangingPunct="1">
              <a:lnSpc>
                <a:spcPct val="90000"/>
              </a:lnSpc>
            </a:pPr>
            <a:r>
              <a:rPr lang="el-GR" altLang="x-none" sz="2800" u="sng"/>
              <a:t>Idempotent:</a:t>
            </a:r>
            <a:r>
              <a:rPr lang="el-GR" altLang="x-none" sz="2800"/>
              <a:t> E + E = 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 sz="2800" u="sng"/>
              <a:t>Involving Kleene closures:</a:t>
            </a:r>
            <a:endParaRPr lang="en-US" altLang="x-none" sz="2800"/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/>
              <a:t>(E*)* 	= E* </a:t>
            </a:r>
          </a:p>
          <a:p>
            <a:pPr lvl="1" eaLnBrk="1" hangingPunct="1">
              <a:lnSpc>
                <a:spcPct val="90000"/>
              </a:lnSpc>
            </a:pPr>
            <a:r>
              <a:rPr lang="el-GR" altLang="x-none" sz="2400"/>
              <a:t>Φ* 	= </a:t>
            </a: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r>
              <a:rPr lang="en-US" altLang="x-none" sz="2400">
                <a:ea typeface="ＭＳ Ｐゴシック" charset="-128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r>
              <a:rPr lang="en-US" altLang="x-none" sz="2400">
                <a:ea typeface="ＭＳ Ｐゴシック" charset="-128"/>
              </a:rPr>
              <a:t>*	= </a:t>
            </a: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endParaRPr lang="en-US" altLang="x-none" sz="2400">
              <a:ea typeface="ＭＳ Ｐゴシック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>
                <a:ea typeface="ＭＳ Ｐゴシック" charset="-128"/>
              </a:rPr>
              <a:t>E</a:t>
            </a:r>
            <a:r>
              <a:rPr lang="en-US" altLang="x-none" sz="2400" baseline="30000">
                <a:ea typeface="ＭＳ Ｐゴシック" charset="-128"/>
              </a:rPr>
              <a:t>+	</a:t>
            </a:r>
            <a:r>
              <a:rPr lang="en-US" altLang="x-none" sz="2400">
                <a:ea typeface="ＭＳ Ｐゴシック" charset="-128"/>
              </a:rPr>
              <a:t>=EE*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x-none" sz="2400">
                <a:ea typeface="ＭＳ Ｐゴシック" charset="-128"/>
              </a:rPr>
              <a:t>E? 	= </a:t>
            </a:r>
            <a:r>
              <a:rPr lang="en-US" altLang="x-none" sz="2400">
                <a:ea typeface="ＭＳ Ｐゴシック" charset="-128"/>
                <a:sym typeface="Symbol" charset="2"/>
              </a:rPr>
              <a:t></a:t>
            </a:r>
            <a:r>
              <a:rPr lang="en-US" altLang="x-none" sz="2400">
                <a:ea typeface="ＭＳ Ｐゴシック" charset="-128"/>
              </a:rPr>
              <a:t> +E</a:t>
            </a:r>
            <a:endParaRPr lang="en-US" altLang="x-none" sz="2400"/>
          </a:p>
          <a:p>
            <a:pPr lvl="1" eaLnBrk="1" hangingPunct="1">
              <a:lnSpc>
                <a:spcPct val="90000"/>
              </a:lnSpc>
            </a:pPr>
            <a:endParaRPr lang="en-US" altLang="x-none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63668762-AE66-9B4F-B260-33CB86A9DCC5}" type="slidenum">
              <a:rPr lang="en-US" altLang="x-none" sz="1400"/>
              <a:pPr/>
              <a:t>15</a:t>
            </a:fld>
            <a:endParaRPr lang="en-US" altLang="x-none" sz="140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True or False?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x-none" sz="2800"/>
              <a:t>Let R and S be two regular expressions. Then:</a:t>
            </a:r>
          </a:p>
          <a:p>
            <a:pPr marL="609600" indent="-609600" eaLnBrk="1" hangingPunct="1">
              <a:lnSpc>
                <a:spcPct val="90000"/>
              </a:lnSpc>
              <a:buFont typeface="Arial" charset="0"/>
              <a:buNone/>
            </a:pPr>
            <a:endParaRPr lang="en-US" altLang="x-none" sz="2800"/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altLang="x-none" sz="2400"/>
              <a:t>((R*)*)* = R*				?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endParaRPr lang="en-US" altLang="x-none" sz="2400"/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altLang="x-none" sz="2400"/>
              <a:t>(R+S)* = R* + S*			?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endParaRPr lang="en-US" altLang="x-none" sz="2400"/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altLang="x-none" sz="2400"/>
              <a:t>(RS + R)* RS = (RR*S)*		?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endParaRPr lang="en-US" altLang="x-none" sz="2400"/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endParaRPr lang="en-US" altLang="x-none" sz="2400"/>
          </a:p>
          <a:p>
            <a:pPr marL="609600" indent="-609600" eaLnBrk="1" hangingPunct="1">
              <a:lnSpc>
                <a:spcPct val="90000"/>
              </a:lnSpc>
              <a:buFont typeface="Arial" charset="0"/>
              <a:buAutoNum type="arabicPeriod"/>
            </a:pPr>
            <a:endParaRPr lang="en-US" altLang="x-none" sz="2800"/>
          </a:p>
          <a:p>
            <a:pPr marL="609600" indent="-609600" eaLnBrk="1" hangingPunct="1">
              <a:lnSpc>
                <a:spcPct val="90000"/>
              </a:lnSpc>
              <a:buFont typeface="Arial" charset="0"/>
              <a:buAutoNum type="arabicPeriod"/>
            </a:pPr>
            <a:endParaRPr lang="en-US" altLang="x-none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C647F85-D353-EF4E-98F7-5C06AE340055}" type="slidenum">
              <a:rPr lang="en-US" altLang="x-none" sz="1400"/>
              <a:pPr/>
              <a:t>16</a:t>
            </a:fld>
            <a:endParaRPr lang="en-US" altLang="x-none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x-none"/>
              <a:t>Summary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x-none"/>
              <a:t>Regular expressions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/>
              <a:t>Equivalence to finite automata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/>
              <a:t>DFA to regular expression conversion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/>
              <a:t>Regular expression to </a:t>
            </a:r>
            <a:r>
              <a:rPr lang="en-US" altLang="x-none">
                <a:ea typeface="ＭＳ Ｐゴシック" charset="-128"/>
                <a:sym typeface="Symbol" charset="2"/>
              </a:rPr>
              <a:t></a:t>
            </a:r>
            <a:r>
              <a:rPr lang="en-US" altLang="x-none">
                <a:ea typeface="ＭＳ Ｐゴシック" charset="-128"/>
              </a:rPr>
              <a:t>-NFA conversion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>
                <a:ea typeface="ＭＳ Ｐゴシック" charset="-128"/>
              </a:rPr>
              <a:t>Algebraic laws of regular expressions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x-none">
                <a:ea typeface="ＭＳ Ｐゴシック" charset="-128"/>
              </a:rPr>
              <a:t>Unix regular expressions and Lexical Analyzer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 pitchFamily="2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 pitchFamily="28" charset="-128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2004:Templates:Presentations:Designs:Blends</Template>
  <TotalTime>1246</TotalTime>
  <Words>1402</Words>
  <Application>Microsoft Office PowerPoint</Application>
  <PresentationFormat>On-screen Show (4:3)</PresentationFormat>
  <Paragraphs>261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ＭＳ Ｐゴシック</vt:lpstr>
      <vt:lpstr>Arial</vt:lpstr>
      <vt:lpstr>Symbol</vt:lpstr>
      <vt:lpstr>Wingdings</vt:lpstr>
      <vt:lpstr>Blends</vt:lpstr>
      <vt:lpstr>Regular Expressions</vt:lpstr>
      <vt:lpstr>Regular Expressions vs. Finite Automata</vt:lpstr>
      <vt:lpstr>Regular Expressions</vt:lpstr>
      <vt:lpstr>Language Operators</vt:lpstr>
      <vt:lpstr>Kleene Closure (the * operator)</vt:lpstr>
      <vt:lpstr>Kleene Closure (special notes)</vt:lpstr>
      <vt:lpstr>Building Regular Expressions </vt:lpstr>
      <vt:lpstr>Example: how to use these regular expression properties and language operators? </vt:lpstr>
      <vt:lpstr>Precedence of Operators</vt:lpstr>
      <vt:lpstr>Finite Automata (FA) &amp; Regular Expressions (Reg Ex)</vt:lpstr>
      <vt:lpstr>DFA to RE construction</vt:lpstr>
      <vt:lpstr>RE to -NFA construction </vt:lpstr>
      <vt:lpstr>Algebraic Laws of Regular Expressions</vt:lpstr>
      <vt:lpstr>Algebraic Laws…</vt:lpstr>
      <vt:lpstr>True or False?</vt:lpstr>
      <vt:lpstr>Summary</vt:lpstr>
    </vt:vector>
  </TitlesOfParts>
  <Company>Office 2004 ananth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CPT S 223: Advanced Data Structures</dc:title>
  <dc:creator>Office 2004 ananth</dc:creator>
  <cp:lastModifiedBy>Emad Alsuwat</cp:lastModifiedBy>
  <cp:revision>446</cp:revision>
  <cp:lastPrinted>2007-08-15T03:01:31Z</cp:lastPrinted>
  <dcterms:created xsi:type="dcterms:W3CDTF">2007-08-14T22:08:29Z</dcterms:created>
  <dcterms:modified xsi:type="dcterms:W3CDTF">2025-10-23T10:07:36Z</dcterms:modified>
</cp:coreProperties>
</file>