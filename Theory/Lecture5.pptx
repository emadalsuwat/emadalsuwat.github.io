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53" r:id="rId1"/>
  </p:sldMasterIdLst>
  <p:notesMasterIdLst>
    <p:notesMasterId r:id="rId49"/>
  </p:notesMasterIdLst>
  <p:handoutMasterIdLst>
    <p:handoutMasterId r:id="rId50"/>
  </p:handoutMasterIdLst>
  <p:sldIdLst>
    <p:sldId id="256" r:id="rId2"/>
    <p:sldId id="291" r:id="rId3"/>
    <p:sldId id="339" r:id="rId4"/>
    <p:sldId id="292" r:id="rId5"/>
    <p:sldId id="293" r:id="rId6"/>
    <p:sldId id="341" r:id="rId7"/>
    <p:sldId id="295" r:id="rId8"/>
    <p:sldId id="296" r:id="rId9"/>
    <p:sldId id="297" r:id="rId10"/>
    <p:sldId id="332" r:id="rId11"/>
    <p:sldId id="334" r:id="rId12"/>
    <p:sldId id="333" r:id="rId13"/>
    <p:sldId id="342" r:id="rId14"/>
    <p:sldId id="350" r:id="rId15"/>
    <p:sldId id="298" r:id="rId16"/>
    <p:sldId id="299" r:id="rId17"/>
    <p:sldId id="351" r:id="rId18"/>
    <p:sldId id="354" r:id="rId19"/>
    <p:sldId id="355" r:id="rId20"/>
    <p:sldId id="340" r:id="rId21"/>
    <p:sldId id="352" r:id="rId22"/>
    <p:sldId id="356" r:id="rId23"/>
    <p:sldId id="357" r:id="rId24"/>
    <p:sldId id="300" r:id="rId25"/>
    <p:sldId id="347" r:id="rId26"/>
    <p:sldId id="353" r:id="rId27"/>
    <p:sldId id="358" r:id="rId28"/>
    <p:sldId id="359" r:id="rId29"/>
    <p:sldId id="303" r:id="rId30"/>
    <p:sldId id="319" r:id="rId31"/>
    <p:sldId id="337" r:id="rId32"/>
    <p:sldId id="320" r:id="rId33"/>
    <p:sldId id="338" r:id="rId34"/>
    <p:sldId id="321" r:id="rId35"/>
    <p:sldId id="322" r:id="rId36"/>
    <p:sldId id="323" r:id="rId37"/>
    <p:sldId id="324" r:id="rId38"/>
    <p:sldId id="325" r:id="rId39"/>
    <p:sldId id="326" r:id="rId40"/>
    <p:sldId id="327" r:id="rId41"/>
    <p:sldId id="328" r:id="rId42"/>
    <p:sldId id="345" r:id="rId43"/>
    <p:sldId id="329" r:id="rId44"/>
    <p:sldId id="346" r:id="rId45"/>
    <p:sldId id="331" r:id="rId46"/>
    <p:sldId id="330" r:id="rId47"/>
    <p:sldId id="290" r:id="rId48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00"/>
    <a:srgbClr val="008000"/>
    <a:srgbClr val="FFFFFF"/>
    <a:srgbClr val="9F9F9F"/>
    <a:srgbClr val="F7F7F7"/>
    <a:srgbClr val="993300"/>
    <a:srgbClr val="CC34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3E512B-936C-40AB-98C2-3BD86D626429}" v="10" dt="2025-11-01T09:53:41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628" autoAdjust="0"/>
    <p:restoredTop sz="94667" autoAdjust="0"/>
  </p:normalViewPr>
  <p:slideViewPr>
    <p:cSldViewPr>
      <p:cViewPr varScale="1">
        <p:scale>
          <a:sx n="70" d="100"/>
          <a:sy n="70" d="100"/>
        </p:scale>
        <p:origin x="1484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-2488" y="-12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ad Alsuwat" userId="4d685af158c72bc1" providerId="LiveId" clId="{923E3472-4856-46A5-A215-5DB28FDF05D7}"/>
    <pc:docChg chg="undo custSel addSld delSld modSld">
      <pc:chgData name="Emad Alsuwat" userId="4d685af158c72bc1" providerId="LiveId" clId="{923E3472-4856-46A5-A215-5DB28FDF05D7}" dt="2025-11-01T09:53:41.616" v="19"/>
      <pc:docMkLst>
        <pc:docMk/>
      </pc:docMkLst>
      <pc:sldChg chg="modSp mod">
        <pc:chgData name="Emad Alsuwat" userId="4d685af158c72bc1" providerId="LiveId" clId="{923E3472-4856-46A5-A215-5DB28FDF05D7}" dt="2025-10-30T08:53:26.108" v="5" actId="5793"/>
        <pc:sldMkLst>
          <pc:docMk/>
          <pc:sldMk cId="0" sldId="291"/>
        </pc:sldMkLst>
        <pc:spChg chg="mod">
          <ac:chgData name="Emad Alsuwat" userId="4d685af158c72bc1" providerId="LiveId" clId="{923E3472-4856-46A5-A215-5DB28FDF05D7}" dt="2025-10-30T08:53:26.108" v="5" actId="5793"/>
          <ac:spMkLst>
            <pc:docMk/>
            <pc:sldMk cId="0" sldId="291"/>
            <ac:spMk id="4100" creationId="{00000000-0000-0000-0000-000000000000}"/>
          </ac:spMkLst>
        </pc:spChg>
      </pc:sldChg>
      <pc:sldChg chg="modSp modAnim">
        <pc:chgData name="Emad Alsuwat" userId="4d685af158c72bc1" providerId="LiveId" clId="{923E3472-4856-46A5-A215-5DB28FDF05D7}" dt="2025-10-30T08:56:22.063" v="6" actId="20577"/>
        <pc:sldMkLst>
          <pc:docMk/>
          <pc:sldMk cId="0" sldId="293"/>
        </pc:sldMkLst>
        <pc:spChg chg="mod">
          <ac:chgData name="Emad Alsuwat" userId="4d685af158c72bc1" providerId="LiveId" clId="{923E3472-4856-46A5-A215-5DB28FDF05D7}" dt="2025-10-30T08:56:22.063" v="6" actId="20577"/>
          <ac:spMkLst>
            <pc:docMk/>
            <pc:sldMk cId="0" sldId="293"/>
            <ac:spMk id="186371" creationId="{00000000-0000-0000-0000-000000000000}"/>
          </ac:spMkLst>
        </pc:spChg>
      </pc:sldChg>
      <pc:sldChg chg="del">
        <pc:chgData name="Emad Alsuwat" userId="4d685af158c72bc1" providerId="LiveId" clId="{923E3472-4856-46A5-A215-5DB28FDF05D7}" dt="2025-10-30T08:56:33.458" v="7" actId="47"/>
        <pc:sldMkLst>
          <pc:docMk/>
          <pc:sldMk cId="0" sldId="294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01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02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05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06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07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08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09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0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2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3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4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5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6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7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18"/>
        </pc:sldMkLst>
      </pc:sldChg>
      <pc:sldChg chg="modSp">
        <pc:chgData name="Emad Alsuwat" userId="4d685af158c72bc1" providerId="LiveId" clId="{923E3472-4856-46A5-A215-5DB28FDF05D7}" dt="2025-10-30T08:58:19.155" v="8" actId="313"/>
        <pc:sldMkLst>
          <pc:docMk/>
          <pc:sldMk cId="0" sldId="333"/>
        </pc:sldMkLst>
        <pc:spChg chg="mod">
          <ac:chgData name="Emad Alsuwat" userId="4d685af158c72bc1" providerId="LiveId" clId="{923E3472-4856-46A5-A215-5DB28FDF05D7}" dt="2025-10-30T08:58:19.155" v="8" actId="313"/>
          <ac:spMkLst>
            <pc:docMk/>
            <pc:sldMk cId="0" sldId="333"/>
            <ac:spMk id="276483" creationId="{00000000-0000-0000-0000-000000000000}"/>
          </ac:spMkLst>
        </pc:spChg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35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36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43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48"/>
        </pc:sldMkLst>
      </pc:sldChg>
      <pc:sldChg chg="del">
        <pc:chgData name="Emad Alsuwat" userId="4d685af158c72bc1" providerId="LiveId" clId="{923E3472-4856-46A5-A215-5DB28FDF05D7}" dt="2025-10-30T08:52:57.370" v="0" actId="47"/>
        <pc:sldMkLst>
          <pc:docMk/>
          <pc:sldMk cId="0" sldId="349"/>
        </pc:sldMkLst>
      </pc:sldChg>
      <pc:sldChg chg="delSp modSp new mod">
        <pc:chgData name="Emad Alsuwat" userId="4d685af158c72bc1" providerId="LiveId" clId="{923E3472-4856-46A5-A215-5DB28FDF05D7}" dt="2025-10-30T08:59:58.620" v="11" actId="20577"/>
        <pc:sldMkLst>
          <pc:docMk/>
          <pc:sldMk cId="3036883238" sldId="351"/>
        </pc:sldMkLst>
        <pc:spChg chg="mod">
          <ac:chgData name="Emad Alsuwat" userId="4d685af158c72bc1" providerId="LiveId" clId="{923E3472-4856-46A5-A215-5DB28FDF05D7}" dt="2025-10-30T08:59:58.620" v="11" actId="20577"/>
          <ac:spMkLst>
            <pc:docMk/>
            <pc:sldMk cId="3036883238" sldId="351"/>
            <ac:spMk id="2" creationId="{EC838AB8-B7E4-5A2C-0971-F419A5ABD98E}"/>
          </ac:spMkLst>
        </pc:spChg>
      </pc:sldChg>
      <pc:sldChg chg="add">
        <pc:chgData name="Emad Alsuwat" userId="4d685af158c72bc1" providerId="LiveId" clId="{923E3472-4856-46A5-A215-5DB28FDF05D7}" dt="2025-10-30T09:02:32.163" v="12"/>
        <pc:sldMkLst>
          <pc:docMk/>
          <pc:sldMk cId="533581101" sldId="352"/>
        </pc:sldMkLst>
      </pc:sldChg>
      <pc:sldChg chg="add">
        <pc:chgData name="Emad Alsuwat" userId="4d685af158c72bc1" providerId="LiveId" clId="{923E3472-4856-46A5-A215-5DB28FDF05D7}" dt="2025-10-30T09:02:46.919" v="13"/>
        <pc:sldMkLst>
          <pc:docMk/>
          <pc:sldMk cId="2687816007" sldId="353"/>
        </pc:sldMkLst>
      </pc:sldChg>
      <pc:sldChg chg="add">
        <pc:chgData name="Emad Alsuwat" userId="4d685af158c72bc1" providerId="LiveId" clId="{923E3472-4856-46A5-A215-5DB28FDF05D7}" dt="2025-11-01T09:53:17.239" v="14"/>
        <pc:sldMkLst>
          <pc:docMk/>
          <pc:sldMk cId="1952780249" sldId="354"/>
        </pc:sldMkLst>
      </pc:sldChg>
      <pc:sldChg chg="add">
        <pc:chgData name="Emad Alsuwat" userId="4d685af158c72bc1" providerId="LiveId" clId="{923E3472-4856-46A5-A215-5DB28FDF05D7}" dt="2025-11-01T09:53:17.742" v="15"/>
        <pc:sldMkLst>
          <pc:docMk/>
          <pc:sldMk cId="2451034975" sldId="355"/>
        </pc:sldMkLst>
      </pc:sldChg>
      <pc:sldChg chg="add">
        <pc:chgData name="Emad Alsuwat" userId="4d685af158c72bc1" providerId="LiveId" clId="{923E3472-4856-46A5-A215-5DB28FDF05D7}" dt="2025-11-01T09:53:28.940" v="16"/>
        <pc:sldMkLst>
          <pc:docMk/>
          <pc:sldMk cId="2529304359" sldId="356"/>
        </pc:sldMkLst>
      </pc:sldChg>
      <pc:sldChg chg="add">
        <pc:chgData name="Emad Alsuwat" userId="4d685af158c72bc1" providerId="LiveId" clId="{923E3472-4856-46A5-A215-5DB28FDF05D7}" dt="2025-11-01T09:53:29.401" v="17"/>
        <pc:sldMkLst>
          <pc:docMk/>
          <pc:sldMk cId="1363112181" sldId="357"/>
        </pc:sldMkLst>
      </pc:sldChg>
      <pc:sldChg chg="add">
        <pc:chgData name="Emad Alsuwat" userId="4d685af158c72bc1" providerId="LiveId" clId="{923E3472-4856-46A5-A215-5DB28FDF05D7}" dt="2025-11-01T09:53:41.333" v="18"/>
        <pc:sldMkLst>
          <pc:docMk/>
          <pc:sldMk cId="2196061905" sldId="358"/>
        </pc:sldMkLst>
      </pc:sldChg>
      <pc:sldChg chg="add">
        <pc:chgData name="Emad Alsuwat" userId="4d685af158c72bc1" providerId="LiveId" clId="{923E3472-4856-46A5-A215-5DB28FDF05D7}" dt="2025-11-01T09:53:41.616" v="19"/>
        <pc:sldMkLst>
          <pc:docMk/>
          <pc:sldMk cId="926022116" sldId="35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pPr>
              <a:defRPr/>
            </a:pPr>
            <a:r>
              <a:rPr lang="en-US"/>
              <a:t>Cpt S 317: Spring 2009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7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pPr>
              <a:defRPr/>
            </a:pPr>
            <a:r>
              <a:rPr lang="en-US"/>
              <a:t>School of EECS, WSU</a:t>
            </a:r>
          </a:p>
        </p:txBody>
      </p:sp>
      <p:sp>
        <p:nvSpPr>
          <p:cNvPr id="337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pPr>
              <a:defRPr/>
            </a:pPr>
            <a:fld id="{9B18EAEA-A2AF-40E4-91D8-23199EBB043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pPr>
              <a:defRPr/>
            </a:pPr>
            <a:r>
              <a:rPr lang="en-US"/>
              <a:t>Cpt S 317: Spring 2009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34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defTabSz="966788">
              <a:defRPr sz="1300"/>
            </a:lvl1pPr>
          </a:lstStyle>
          <a:p>
            <a:pPr>
              <a:defRPr/>
            </a:pPr>
            <a:r>
              <a:rPr lang="en-US"/>
              <a:t>School of EECS, WSU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/>
            </a:lvl1pPr>
          </a:lstStyle>
          <a:p>
            <a:pPr>
              <a:defRPr/>
            </a:pPr>
            <a:fld id="{DD1D5517-FFE8-40A5-914D-91441C61492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pitchFamily="2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6451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6451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27C708-44BE-4605-80CC-499B0046BE1E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451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6553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6554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571A94C-6B42-4C05-B05B-6C27D51784F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554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4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6656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6656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BB9065B-94C9-4B40-B9B6-FB48042CE8DD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656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6758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6758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C4EA69-1D16-4BCE-B562-B6B34019EFE3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758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759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6861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6861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53C88CB-994F-4AED-BCB8-E1DA6F05946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861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065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066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C8F873A-CAFB-43F6-85BE-E6DF289F9FAE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066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168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168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5ACF3BA-A8B0-42C3-BBA0-FE87DE20BDF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168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168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270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270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2273609-41F1-4794-89B1-8B34FA0BAB5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270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1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373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373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EFAA2F2-7762-403D-8D51-65FB49F2E22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7373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373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475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475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25FB2E-2ED9-4508-B8E7-EB6580758D7E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7475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577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578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E701A51-E251-4B61-8DC0-12774C9CF2A3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7578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578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680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680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1BDB8FF-9634-457B-B40D-E34094464883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680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782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782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70E0B3-4291-40BA-9D15-2D4C861CABC7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78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783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885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885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F202AB-A6CF-4992-96B1-47357F3D6C20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885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7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7987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7987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12CE785-0904-40D0-A8BF-EBE27525848B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7987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987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8089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8090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6784E9C-2738-4BFB-BE4B-0DEAD43232DE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090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8192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8192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0E2E499-8D91-45CD-9230-A282A5863E5F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8192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2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240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240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DF31466-30D3-47CD-AF13-3D066378612A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10240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342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342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7AD9EE0-A725-48F0-AA20-207F5994AFF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10342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3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445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445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5B05945-BF49-42F1-B215-46D3534E6AC5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10445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547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547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97B3B6C-2950-4AE9-BAA7-F1369E3B29E0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10547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649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650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5CA439-D0F5-43F0-9351-D21A7EC17D75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10650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50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752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752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026DDCE-0220-4DE0-B773-7F0933BB236E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10752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854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854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0262B31-EF0D-4EB9-8BA9-4A5116174691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10854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5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0957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0957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FF25C55-60EC-4C2E-8D0C-CF901DA6A165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10957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059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059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62560E1-AB1E-4FFE-A5FF-2045BD76F7A2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11059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161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162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5B36E31-E015-43D8-A903-7DCF0945B2C0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11162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162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26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26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22779C-C6FE-4605-90DA-6630B27B2945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1126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26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366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366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97EA6A8-EB14-4677-BFFD-0D6DEC91AA92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11366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7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469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469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78B6FA1-A7E8-4613-97D3-0B36E1749B0F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1146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46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571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571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F5A82D5-C4AA-4F97-BF81-193FCF556F96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11571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571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6739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674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A1FEFC-BD38-4FFC-A5E1-98441FE03B44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1674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674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776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776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119D90D-1C0C-477D-AF47-CE8886E923B8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11776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776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8787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878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5A6A78B-111D-441C-A0C9-F506CC38A8E4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11878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879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19811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1981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720728E-75D2-47D3-82B8-65541C90DFE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11981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981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hdr" sz="quarter"/>
          </p:nvPr>
        </p:nvSpPr>
        <p:spPr>
          <a:noFill/>
        </p:spPr>
        <p:txBody>
          <a:bodyPr/>
          <a:lstStyle/>
          <a:p>
            <a:r>
              <a:rPr lang="en-US"/>
              <a:t>Cpt S 317: Spring 2009</a:t>
            </a:r>
          </a:p>
        </p:txBody>
      </p:sp>
      <p:sp>
        <p:nvSpPr>
          <p:cNvPr id="120835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</p:spPr>
        <p:txBody>
          <a:bodyPr/>
          <a:lstStyle/>
          <a:p>
            <a:r>
              <a:rPr lang="en-US"/>
              <a:t>School of EECS, WSU</a:t>
            </a:r>
          </a:p>
        </p:txBody>
      </p:sp>
      <p:sp>
        <p:nvSpPr>
          <p:cNvPr id="12083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B12FFB2-3CCC-4CC1-B0DD-8597F3B037AB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12083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083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290513" y="2546350"/>
            <a:ext cx="711200" cy="474663"/>
            <a:chOff x="720" y="336"/>
            <a:chExt cx="624" cy="432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720" y="336"/>
              <a:ext cx="384" cy="432"/>
            </a:xfrm>
            <a:prstGeom prst="rect">
              <a:avLst/>
            </a:prstGeom>
            <a:solidFill>
              <a:schemeClr val="folHlink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1056" y="336"/>
              <a:ext cx="288" cy="432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</p:grpSp>
      <p:grpSp>
        <p:nvGrpSpPr>
          <p:cNvPr id="7" name="Group 5"/>
          <p:cNvGrpSpPr>
            <a:grpSpLocks/>
          </p:cNvGrpSpPr>
          <p:nvPr/>
        </p:nvGrpSpPr>
        <p:grpSpPr bwMode="auto">
          <a:xfrm>
            <a:off x="414338" y="2968625"/>
            <a:ext cx="738187" cy="474663"/>
            <a:chOff x="912" y="2640"/>
            <a:chExt cx="672" cy="432"/>
          </a:xfrm>
        </p:grpSpPr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912" y="2640"/>
              <a:ext cx="384" cy="43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1249" y="2640"/>
              <a:ext cx="335" cy="432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bg1"/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en-US"/>
            </a:p>
          </p:txBody>
        </p:sp>
      </p:grp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0" y="28956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1" name="Rectangle 9"/>
          <p:cNvSpPr>
            <a:spLocks noChangeArrowheads="1"/>
          </p:cNvSpPr>
          <p:nvPr/>
        </p:nvSpPr>
        <p:spPr bwMode="auto">
          <a:xfrm>
            <a:off x="635000" y="2438400"/>
            <a:ext cx="31750" cy="1052513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12" name="Rectangle 15"/>
          <p:cNvSpPr>
            <a:spLocks noChangeArrowheads="1"/>
          </p:cNvSpPr>
          <p:nvPr/>
        </p:nvSpPr>
        <p:spPr bwMode="gray">
          <a:xfrm flipV="1">
            <a:off x="315913" y="3265488"/>
            <a:ext cx="8683625" cy="46037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rot="10800000"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43018" name="Rectangle 10"/>
          <p:cNvSpPr>
            <a:spLocks noGrp="1" noChangeArrowheads="1"/>
          </p:cNvSpPr>
          <p:nvPr>
            <p:ph type="ctrTitle"/>
          </p:nvPr>
        </p:nvSpPr>
        <p:spPr>
          <a:xfrm>
            <a:off x="990600" y="18288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3019" name="Rectangle 11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8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Rectangle 12"/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" name="Rectangle 13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Rectangle 14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B8FD924A-C65D-4375-A489-2BF19C9C10B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70674C-54CF-4EC1-BCF0-43EEACE5786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FB82157-1D29-4432-92BC-B80EBD930C8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54F864-F347-4F88-891D-13F813B0A27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D95F76-720D-4507-A5A9-74B677CE2C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BE2B87A-321D-48F3-AA40-4D313696BC5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9CFAB4-CBB9-424F-9DC6-7D0B95F94F4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3511D3-0242-4C26-A1F6-0275B1B7D34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A591442-31FB-4958-B404-81959A5544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60B276-B3D1-4B1E-8313-986B4063D8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4050" y="617538"/>
            <a:ext cx="1951038" cy="55149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0938" y="617538"/>
            <a:ext cx="5700712" cy="55149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B43366-B1F6-4857-8982-F81A9219885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ChangeArrowheads="1"/>
          </p:cNvSpPr>
          <p:nvPr/>
        </p:nvSpPr>
        <p:spPr bwMode="ltGray">
          <a:xfrm>
            <a:off x="417513" y="1098550"/>
            <a:ext cx="438150" cy="474663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41987" name="Rectangle 3"/>
          <p:cNvSpPr>
            <a:spLocks noChangeArrowheads="1"/>
          </p:cNvSpPr>
          <p:nvPr/>
        </p:nvSpPr>
        <p:spPr bwMode="ltGray">
          <a:xfrm>
            <a:off x="800100" y="1098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41988" name="Rectangle 4"/>
          <p:cNvSpPr>
            <a:spLocks noChangeArrowheads="1"/>
          </p:cNvSpPr>
          <p:nvPr/>
        </p:nvSpPr>
        <p:spPr bwMode="ltGray">
          <a:xfrm>
            <a:off x="541338" y="1520825"/>
            <a:ext cx="422275" cy="474663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41989" name="Rectangle 5"/>
          <p:cNvSpPr>
            <a:spLocks noChangeArrowheads="1"/>
          </p:cNvSpPr>
          <p:nvPr/>
        </p:nvSpPr>
        <p:spPr bwMode="ltGray">
          <a:xfrm>
            <a:off x="911225" y="1520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41990" name="Rectangle 6"/>
          <p:cNvSpPr>
            <a:spLocks noChangeArrowheads="1"/>
          </p:cNvSpPr>
          <p:nvPr/>
        </p:nvSpPr>
        <p:spPr bwMode="ltGray">
          <a:xfrm>
            <a:off x="127000" y="1447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41991" name="Rectangle 7"/>
          <p:cNvSpPr>
            <a:spLocks noChangeArrowheads="1"/>
          </p:cNvSpPr>
          <p:nvPr/>
        </p:nvSpPr>
        <p:spPr bwMode="gray">
          <a:xfrm>
            <a:off x="762000" y="990600"/>
            <a:ext cx="31750" cy="1052513"/>
          </a:xfrm>
          <a:prstGeom prst="rect">
            <a:avLst/>
          </a:prstGeom>
          <a:solidFill>
            <a:schemeClr val="bg2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41992" name="Rectangle 8"/>
          <p:cNvSpPr>
            <a:spLocks noChangeArrowheads="1"/>
          </p:cNvSpPr>
          <p:nvPr/>
        </p:nvSpPr>
        <p:spPr bwMode="gray">
          <a:xfrm flipV="1">
            <a:off x="460375" y="1828800"/>
            <a:ext cx="8683625" cy="46038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rot="10800000" wrap="none" anchor="ctr"/>
          <a:lstStyle/>
          <a:p>
            <a:pPr algn="ctr" eaLnBrk="1" hangingPunct="1">
              <a:defRPr/>
            </a:pPr>
            <a:endParaRPr kumimoji="1" lang="en-US" sz="240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50938" y="617538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1182688" y="2017713"/>
            <a:ext cx="7772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995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14400" y="63246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96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352800" y="63246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97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81800" y="63246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pPr>
              <a:defRPr/>
            </a:pPr>
            <a:fld id="{EF979F6C-8344-4D5F-8273-F60B724272C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82" r:id="rId2"/>
    <p:sldLayoutId id="2147483883" r:id="rId3"/>
    <p:sldLayoutId id="2147483884" r:id="rId4"/>
    <p:sldLayoutId id="2147483885" r:id="rId5"/>
    <p:sldLayoutId id="2147483886" r:id="rId6"/>
    <p:sldLayoutId id="2147483887" r:id="rId7"/>
    <p:sldLayoutId id="2147483888" r:id="rId8"/>
    <p:sldLayoutId id="2147483889" r:id="rId9"/>
    <p:sldLayoutId id="2147483890" r:id="rId10"/>
    <p:sldLayoutId id="2147483891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itchFamily="28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itchFamily="28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itchFamily="28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itchFamily="28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8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8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8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8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8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4"/>
          <p:cNvSpPr>
            <a:spLocks noGrp="1" noChangeArrowheads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8675436-D2A9-4F57-8B69-1C0252100FD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075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66800" y="1905000"/>
            <a:ext cx="7772400" cy="1143000"/>
          </a:xfrm>
        </p:spPr>
        <p:txBody>
          <a:bodyPr/>
          <a:lstStyle/>
          <a:p>
            <a:pPr eaLnBrk="1" hangingPunct="1"/>
            <a:r>
              <a:rPr lang="en-US"/>
              <a:t>Properties of Regular Languages</a:t>
            </a:r>
          </a:p>
        </p:txBody>
      </p:sp>
      <p:sp>
        <p:nvSpPr>
          <p:cNvPr id="3076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276600"/>
            <a:ext cx="6400800" cy="1752600"/>
          </a:xfrm>
        </p:spPr>
        <p:txBody>
          <a:bodyPr/>
          <a:lstStyle/>
          <a:p>
            <a:pPr eaLnBrk="1" hangingPunct="1"/>
            <a:r>
              <a:rPr lang="en-US"/>
              <a:t>Reading: Chapter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FC36671-7C86-48FA-9068-FAF17DC71A6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0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Topics</a:t>
            </a:r>
          </a:p>
        </p:txBody>
      </p:sp>
      <p:sp>
        <p:nvSpPr>
          <p:cNvPr id="41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514350" indent="-514350" eaLnBrk="1" hangingPunct="1">
              <a:buFont typeface="Wingdings" pitchFamily="28" charset="2"/>
              <a:buAutoNum type="arabicParenR"/>
              <a:defRPr/>
            </a:pPr>
            <a:r>
              <a:rPr lang="en-US" dirty="0"/>
              <a:t>How to prove whether a given language is regular or not?</a:t>
            </a:r>
          </a:p>
          <a:p>
            <a:pPr marL="514350" indent="-514350" eaLnBrk="1" hangingPunct="1">
              <a:buFont typeface="Wingdings" pitchFamily="28" charset="2"/>
              <a:buAutoNum type="arabicParenR"/>
              <a:defRPr/>
            </a:pPr>
            <a:endParaRPr lang="en-US" dirty="0"/>
          </a:p>
          <a:p>
            <a:pPr marL="514350" indent="-514350" eaLnBrk="1" hangingPunct="1">
              <a:buFont typeface="Wingdings" pitchFamily="28" charset="2"/>
              <a:buAutoNum type="arabicParenR"/>
              <a:defRPr/>
            </a:pPr>
            <a:endParaRPr lang="en-US" dirty="0"/>
          </a:p>
          <a:p>
            <a:pPr marL="514350" indent="-514350" eaLnBrk="1" hangingPunct="1">
              <a:buFont typeface="Wingdings" pitchFamily="28" charset="2"/>
              <a:buAutoNum type="arabicParenR"/>
              <a:defRPr/>
            </a:pPr>
            <a:r>
              <a:rPr lang="en-US" dirty="0"/>
              <a:t>Minimization of DFAs</a:t>
            </a:r>
          </a:p>
          <a:p>
            <a:pPr eaLnBrk="1" hangingPunct="1">
              <a:defRPr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1B64BC1-EE9E-401C-ADED-5EB4C5EEAC9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Some languages are </a:t>
            </a:r>
            <a:r>
              <a:rPr lang="en-US" i="1"/>
              <a:t>not </a:t>
            </a:r>
            <a:r>
              <a:rPr lang="en-US"/>
              <a:t>regular</a:t>
            </a:r>
          </a:p>
        </p:txBody>
      </p:sp>
      <p:sp>
        <p:nvSpPr>
          <p:cNvPr id="2887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800"/>
              <a:t>When is a language is regular? </a:t>
            </a:r>
            <a:br>
              <a:rPr lang="en-US" sz="2800"/>
            </a:br>
            <a:r>
              <a:rPr lang="en-US" sz="2800"/>
              <a:t>if we are able to construct one of the following: </a:t>
            </a:r>
            <a:r>
              <a:rPr lang="en-US" sz="2400"/>
              <a:t>DFA </a:t>
            </a:r>
            <a:r>
              <a:rPr lang="en-US" sz="2400" i="1"/>
              <a:t>or</a:t>
            </a:r>
            <a:r>
              <a:rPr lang="en-US" sz="2400"/>
              <a:t> NFA </a:t>
            </a:r>
            <a:r>
              <a:rPr lang="en-US" sz="2400" i="1"/>
              <a:t>or</a:t>
            </a:r>
            <a:r>
              <a:rPr lang="en-US" sz="2400"/>
              <a:t> </a:t>
            </a:r>
            <a:r>
              <a:rPr lang="en-US">
                <a:ea typeface="ＭＳ Ｐゴシック" pitchFamily="28" charset="-128"/>
                <a:sym typeface="Symbol" pitchFamily="28" charset="2"/>
              </a:rPr>
              <a:t></a:t>
            </a:r>
            <a:r>
              <a:rPr lang="en-US" sz="2400">
                <a:ea typeface="ＭＳ Ｐゴシック" pitchFamily="28" charset="-128"/>
              </a:rPr>
              <a:t> -NFA </a:t>
            </a:r>
            <a:r>
              <a:rPr lang="en-US" sz="2400" i="1">
                <a:ea typeface="ＭＳ Ｐゴシック" pitchFamily="28" charset="-128"/>
              </a:rPr>
              <a:t>or</a:t>
            </a:r>
            <a:r>
              <a:rPr lang="en-US" sz="2400">
                <a:ea typeface="ＭＳ Ｐゴシック" pitchFamily="28" charset="-128"/>
              </a:rPr>
              <a:t> regular expression</a:t>
            </a:r>
          </a:p>
          <a:p>
            <a:pPr lvl="1" eaLnBrk="1" hangingPunct="1">
              <a:lnSpc>
                <a:spcPct val="90000"/>
              </a:lnSpc>
            </a:pPr>
            <a:endParaRPr lang="en-US" sz="2400">
              <a:ea typeface="ＭＳ Ｐゴシック" pitchFamily="28" charset="-128"/>
            </a:endParaRPr>
          </a:p>
          <a:p>
            <a:pPr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>
                <a:ea typeface="ＭＳ Ｐゴシック" pitchFamily="28" charset="-128"/>
              </a:rPr>
              <a:t>When is it not?</a:t>
            </a:r>
            <a:br>
              <a:rPr lang="en-US">
                <a:ea typeface="ＭＳ Ｐゴシック" pitchFamily="28" charset="-128"/>
              </a:rPr>
            </a:br>
            <a:r>
              <a:rPr lang="en-US" sz="2800">
                <a:ea typeface="ＭＳ Ｐゴシック" pitchFamily="28" charset="-128"/>
              </a:rPr>
              <a:t>If we can show that no FA can be built for a language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8771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11CFC09-0289-4D13-AD7C-8D4C11450CB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1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How to prove languages are </a:t>
            </a:r>
            <a:r>
              <a:rPr lang="en-US" b="1" i="1"/>
              <a:t>not</a:t>
            </a:r>
            <a:r>
              <a:rPr lang="en-US"/>
              <a:t> regular?</a:t>
            </a:r>
          </a:p>
        </p:txBody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8" charset="2"/>
              <a:buNone/>
            </a:pPr>
            <a:r>
              <a:rPr lang="en-US" sz="2800"/>
              <a:t>What if we cannot come up with any FA? </a:t>
            </a:r>
          </a:p>
          <a:p>
            <a:pPr eaLnBrk="1" hangingPunct="1">
              <a:buFont typeface="Wingdings" pitchFamily="28" charset="2"/>
              <a:buNone/>
            </a:pPr>
            <a:r>
              <a:rPr lang="en-US" sz="2800"/>
              <a:t>A)	Can it be language that is not regular? </a:t>
            </a:r>
          </a:p>
          <a:p>
            <a:pPr eaLnBrk="1" hangingPunct="1">
              <a:buFont typeface="Wingdings" pitchFamily="28" charset="2"/>
              <a:buNone/>
            </a:pPr>
            <a:r>
              <a:rPr lang="en-US" sz="2800"/>
              <a:t>B)	Or is it that we tried wrong approaches?</a:t>
            </a:r>
            <a:endParaRPr lang="en-US" sz="2800">
              <a:solidFill>
                <a:schemeClr val="folHlink"/>
              </a:solidFill>
            </a:endParaRPr>
          </a:p>
          <a:p>
            <a:pPr eaLnBrk="1" hangingPunct="1">
              <a:buFont typeface="Wingdings" pitchFamily="28" charset="2"/>
              <a:buNone/>
            </a:pPr>
            <a:br>
              <a:rPr lang="en-US" sz="2800"/>
            </a:br>
            <a:r>
              <a:rPr lang="en-US" sz="2800"/>
              <a:t>How do we </a:t>
            </a:r>
            <a:r>
              <a:rPr lang="en-US" sz="2800" i="1"/>
              <a:t>decisively </a:t>
            </a:r>
            <a:r>
              <a:rPr lang="en-US" sz="2800"/>
              <a:t>prove that a language is not regular?</a:t>
            </a:r>
          </a:p>
        </p:txBody>
      </p:sp>
      <p:sp>
        <p:nvSpPr>
          <p:cNvPr id="6149" name="Text Box 6"/>
          <p:cNvSpPr txBox="1">
            <a:spLocks noChangeArrowheads="1"/>
          </p:cNvSpPr>
          <p:nvPr/>
        </p:nvSpPr>
        <p:spPr bwMode="auto">
          <a:xfrm>
            <a:off x="1295400" y="5765800"/>
            <a:ext cx="6999288" cy="711200"/>
          </a:xfrm>
          <a:prstGeom prst="rect">
            <a:avLst/>
          </a:prstGeom>
          <a:solidFill>
            <a:srgbClr val="CCFF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i="1"/>
              <a:t>“The hardest thing of all is to find a black cat in a dark room, </a:t>
            </a:r>
            <a:br>
              <a:rPr lang="en-US" i="1"/>
            </a:br>
            <a:r>
              <a:rPr lang="en-US" i="1"/>
              <a:t>especially if there is no cat!”  	-Confucius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658A7DD-1293-4E4A-B301-54EC1C733C85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1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 of a non-regular language </a:t>
            </a:r>
          </a:p>
        </p:txBody>
      </p:sp>
      <p:sp>
        <p:nvSpPr>
          <p:cNvPr id="186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8" charset="2"/>
              <a:buNone/>
            </a:pPr>
            <a:r>
              <a:rPr lang="en-US" sz="2800" dirty="0">
                <a:solidFill>
                  <a:srgbClr val="FF0000"/>
                </a:solidFill>
              </a:rPr>
              <a:t>Let L = {w | w is of the form 0</a:t>
            </a:r>
            <a:r>
              <a:rPr lang="en-US" sz="2800" baseline="30000" dirty="0">
                <a:solidFill>
                  <a:srgbClr val="FF0000"/>
                </a:solidFill>
              </a:rPr>
              <a:t>n</a:t>
            </a:r>
            <a:r>
              <a:rPr lang="en-US" sz="2800" dirty="0">
                <a:solidFill>
                  <a:srgbClr val="FF0000"/>
                </a:solidFill>
              </a:rPr>
              <a:t>1</a:t>
            </a:r>
            <a:r>
              <a:rPr lang="en-US" sz="2800" baseline="30000" dirty="0">
                <a:solidFill>
                  <a:srgbClr val="FF0000"/>
                </a:solidFill>
              </a:rPr>
              <a:t>n</a:t>
            </a:r>
            <a:r>
              <a:rPr lang="en-US" sz="2800" dirty="0">
                <a:solidFill>
                  <a:srgbClr val="FF0000"/>
                </a:solidFill>
              </a:rPr>
              <a:t> , for all n≥0} </a:t>
            </a:r>
          </a:p>
          <a:p>
            <a:pPr eaLnBrk="1" hangingPunct="1"/>
            <a:r>
              <a:rPr lang="en-US" sz="2800" i="1" u="sng" dirty="0"/>
              <a:t>Hypothesis:</a:t>
            </a:r>
            <a:r>
              <a:rPr lang="en-US" sz="2800" i="1" dirty="0"/>
              <a:t> L is not regular</a:t>
            </a:r>
          </a:p>
          <a:p>
            <a:pPr eaLnBrk="1" hangingPunct="1"/>
            <a:r>
              <a:rPr lang="en-US" sz="2800" u="sng" dirty="0"/>
              <a:t>Intuitive rationale:</a:t>
            </a:r>
            <a:r>
              <a:rPr lang="en-US" sz="2800" dirty="0"/>
              <a:t>	How do you keep track of a running count in an FA?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37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Pumping Lemma for Regular Languages</a:t>
            </a:r>
          </a:p>
        </p:txBody>
      </p:sp>
      <p:sp>
        <p:nvSpPr>
          <p:cNvPr id="9219" name="Subtitle 5"/>
          <p:cNvSpPr>
            <a:spLocks noGrp="1"/>
          </p:cNvSpPr>
          <p:nvPr>
            <p:ph type="subTitle" idx="1"/>
          </p:nvPr>
        </p:nvSpPr>
        <p:spPr>
          <a:xfrm>
            <a:off x="1371600" y="3429000"/>
            <a:ext cx="6400800" cy="1752600"/>
          </a:xfrm>
        </p:spPr>
        <p:txBody>
          <a:bodyPr/>
          <a:lstStyle/>
          <a:p>
            <a:pPr algn="l"/>
            <a:r>
              <a:rPr lang="en-US" sz="3000" b="1" dirty="0"/>
              <a:t>What it is? </a:t>
            </a:r>
            <a:br>
              <a:rPr lang="en-US" sz="3000" dirty="0"/>
            </a:br>
            <a:r>
              <a:rPr lang="en-US" sz="3000" dirty="0"/>
              <a:t>The Pumping Lemma is a property of all regular languages.</a:t>
            </a:r>
          </a:p>
          <a:p>
            <a:pPr algn="l"/>
            <a:r>
              <a:rPr lang="en-US" sz="3000" b="1" dirty="0"/>
              <a:t>How is it used? </a:t>
            </a:r>
            <a:br>
              <a:rPr lang="en-US" sz="3000" b="1" dirty="0"/>
            </a:br>
            <a:r>
              <a:rPr lang="en-US" sz="3000" dirty="0"/>
              <a:t>A technique that is used to show that a given language is not regular</a:t>
            </a:r>
          </a:p>
        </p:txBody>
      </p:sp>
      <p:sp>
        <p:nvSpPr>
          <p:cNvPr id="9220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78E1588-22C0-47E7-BD62-C3F7F6D95F6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792B1C1-2A01-4413-A063-8D9019A2B8AE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02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Pumping Lemma for Regular Languages</a:t>
            </a:r>
          </a:p>
        </p:txBody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800"/>
              <a:t>Let L be a regular language</a:t>
            </a:r>
          </a:p>
          <a:p>
            <a:pPr marL="609600" indent="-609600" eaLnBrk="1" hangingPunct="1">
              <a:lnSpc>
                <a:spcPct val="90000"/>
              </a:lnSpc>
            </a:pPr>
            <a:endParaRPr lang="en-US" sz="2800"/>
          </a:p>
          <a:p>
            <a:pPr marL="609600" indent="-609600"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800"/>
              <a:t>Then </a:t>
            </a:r>
            <a:r>
              <a:rPr lang="en-US" sz="2800" i="1" u="sng">
                <a:solidFill>
                  <a:srgbClr val="FF0000"/>
                </a:solidFill>
              </a:rPr>
              <a:t>there exists</a:t>
            </a:r>
            <a:r>
              <a:rPr lang="en-US" sz="2800">
                <a:solidFill>
                  <a:srgbClr val="FF0000"/>
                </a:solidFill>
              </a:rPr>
              <a:t> </a:t>
            </a:r>
            <a:r>
              <a:rPr lang="en-US" sz="2800"/>
              <a:t>some constant </a:t>
            </a:r>
            <a:r>
              <a:rPr lang="en-US" sz="2800" b="1" i="1"/>
              <a:t>N</a:t>
            </a:r>
            <a:r>
              <a:rPr lang="en-US" sz="2800"/>
              <a:t> such that</a:t>
            </a:r>
            <a:r>
              <a:rPr lang="en-US" sz="2800">
                <a:solidFill>
                  <a:schemeClr val="tx2"/>
                </a:solidFill>
              </a:rPr>
              <a:t> </a:t>
            </a:r>
            <a:r>
              <a:rPr lang="en-US" sz="2800" i="1" u="sng">
                <a:solidFill>
                  <a:schemeClr val="tx2"/>
                </a:solidFill>
              </a:rPr>
              <a:t>for every</a:t>
            </a:r>
            <a:r>
              <a:rPr lang="en-US" sz="2800"/>
              <a:t> string </a:t>
            </a:r>
            <a:r>
              <a:rPr lang="en-US" sz="2800" i="1"/>
              <a:t>w </a:t>
            </a:r>
            <a:r>
              <a:rPr lang="en-US" sz="2800" i="1">
                <a:sym typeface="Symbol" pitchFamily="28" charset="2"/>
              </a:rPr>
              <a:t> </a:t>
            </a:r>
            <a:r>
              <a:rPr lang="en-US" sz="2800" i="1"/>
              <a:t>L</a:t>
            </a:r>
            <a:r>
              <a:rPr lang="en-US" sz="2800"/>
              <a:t> s.t. </a:t>
            </a:r>
            <a:r>
              <a:rPr lang="en-US" sz="2800" i="1"/>
              <a:t>|w|≥N</a:t>
            </a:r>
            <a:r>
              <a:rPr lang="en-US" sz="2800"/>
              <a:t>, </a:t>
            </a:r>
            <a:r>
              <a:rPr lang="en-US" sz="2800" i="1" u="sng">
                <a:solidFill>
                  <a:srgbClr val="FF0000"/>
                </a:solidFill>
              </a:rPr>
              <a:t>there exists</a:t>
            </a:r>
            <a:r>
              <a:rPr lang="en-US" sz="2800">
                <a:solidFill>
                  <a:srgbClr val="FF0000"/>
                </a:solidFill>
              </a:rPr>
              <a:t> </a:t>
            </a:r>
            <a:r>
              <a:rPr lang="en-US" sz="2800"/>
              <a:t>a way to break </a:t>
            </a:r>
            <a:r>
              <a:rPr lang="en-US" sz="2800" i="1"/>
              <a:t>w</a:t>
            </a:r>
            <a:r>
              <a:rPr lang="en-US" sz="2800"/>
              <a:t> into three parts, </a:t>
            </a:r>
            <a:r>
              <a:rPr lang="en-US" sz="2800" i="1"/>
              <a:t>w=</a:t>
            </a:r>
            <a:r>
              <a:rPr lang="en-US" sz="2800" i="1">
                <a:solidFill>
                  <a:schemeClr val="hlink"/>
                </a:solidFill>
              </a:rPr>
              <a:t>x</a:t>
            </a:r>
            <a:r>
              <a:rPr lang="en-US" sz="2800" i="1">
                <a:solidFill>
                  <a:srgbClr val="006600"/>
                </a:solidFill>
              </a:rPr>
              <a:t>y</a:t>
            </a:r>
            <a:r>
              <a:rPr lang="en-US" sz="2800" i="1">
                <a:solidFill>
                  <a:srgbClr val="993300"/>
                </a:solidFill>
              </a:rPr>
              <a:t>z</a:t>
            </a:r>
            <a:r>
              <a:rPr lang="en-US" sz="2800"/>
              <a:t>, such that:</a:t>
            </a: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400" i="1">
                <a:solidFill>
                  <a:srgbClr val="006600"/>
                </a:solidFill>
              </a:rPr>
              <a:t>y</a:t>
            </a:r>
            <a:r>
              <a:rPr lang="en-US" sz="2400" i="1"/>
              <a:t>≠ </a:t>
            </a:r>
            <a:r>
              <a:rPr lang="en-US" sz="2400" i="1">
                <a:sym typeface="Symbol" pitchFamily="28" charset="2"/>
              </a:rPr>
              <a:t></a:t>
            </a:r>
            <a:endParaRPr lang="en-US" sz="2400" i="1">
              <a:ea typeface="ＭＳ Ｐゴシック" pitchFamily="28" charset="-128"/>
            </a:endParaRP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400" i="1">
                <a:ea typeface="ＭＳ Ｐゴシック" pitchFamily="28" charset="-128"/>
              </a:rPr>
              <a:t>|</a:t>
            </a:r>
            <a:r>
              <a:rPr lang="en-US" sz="2400" i="1">
                <a:solidFill>
                  <a:schemeClr val="hlink"/>
                </a:solidFill>
                <a:ea typeface="ＭＳ Ｐゴシック" pitchFamily="28" charset="-128"/>
              </a:rPr>
              <a:t>x</a:t>
            </a:r>
            <a:r>
              <a:rPr lang="en-US" sz="2400" i="1">
                <a:solidFill>
                  <a:srgbClr val="006600"/>
                </a:solidFill>
                <a:ea typeface="ＭＳ Ｐゴシック" pitchFamily="28" charset="-128"/>
              </a:rPr>
              <a:t>y</a:t>
            </a:r>
            <a:r>
              <a:rPr lang="en-US" sz="2400" i="1">
                <a:ea typeface="ＭＳ Ｐゴシック" pitchFamily="28" charset="-128"/>
              </a:rPr>
              <a:t>|≤N</a:t>
            </a: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400">
                <a:ea typeface="ＭＳ Ｐゴシック" pitchFamily="28" charset="-128"/>
              </a:rPr>
              <a:t>For all </a:t>
            </a:r>
            <a:r>
              <a:rPr lang="en-US" sz="2400" i="1">
                <a:ea typeface="ＭＳ Ｐゴシック" pitchFamily="28" charset="-128"/>
              </a:rPr>
              <a:t>k</a:t>
            </a:r>
            <a:r>
              <a:rPr lang="en-US" sz="2400" i="1"/>
              <a:t>≥0</a:t>
            </a:r>
            <a:r>
              <a:rPr lang="en-US" sz="2400"/>
              <a:t>, all strings of the form </a:t>
            </a:r>
            <a:r>
              <a:rPr lang="en-US" sz="2400" i="1">
                <a:solidFill>
                  <a:schemeClr val="hlink"/>
                </a:solidFill>
              </a:rPr>
              <a:t>x</a:t>
            </a:r>
            <a:r>
              <a:rPr lang="en-US" sz="2400" i="1">
                <a:solidFill>
                  <a:srgbClr val="006600"/>
                </a:solidFill>
              </a:rPr>
              <a:t>y</a:t>
            </a:r>
            <a:r>
              <a:rPr lang="en-US" sz="2400" i="1" baseline="30000">
                <a:solidFill>
                  <a:srgbClr val="006600"/>
                </a:solidFill>
              </a:rPr>
              <a:t>k</a:t>
            </a:r>
            <a:r>
              <a:rPr lang="en-US" sz="2400" i="1">
                <a:solidFill>
                  <a:srgbClr val="993300"/>
                </a:solidFill>
              </a:rPr>
              <a:t>z</a:t>
            </a:r>
            <a:r>
              <a:rPr lang="en-US" sz="2400"/>
              <a:t> </a:t>
            </a:r>
            <a:r>
              <a:rPr lang="en-US" sz="2400" i="1">
                <a:sym typeface="Symbol" pitchFamily="28" charset="2"/>
              </a:rPr>
              <a:t></a:t>
            </a:r>
            <a:r>
              <a:rPr lang="en-US" sz="2400"/>
              <a:t> </a:t>
            </a:r>
            <a:r>
              <a:rPr lang="en-US" sz="2400" i="1"/>
              <a:t>L</a:t>
            </a:r>
            <a:endParaRPr lang="en-US" sz="2400"/>
          </a:p>
        </p:txBody>
      </p:sp>
      <p:sp>
        <p:nvSpPr>
          <p:cNvPr id="10245" name="Rectangle 4"/>
          <p:cNvSpPr>
            <a:spLocks noChangeArrowheads="1"/>
          </p:cNvSpPr>
          <p:nvPr/>
        </p:nvSpPr>
        <p:spPr bwMode="auto">
          <a:xfrm>
            <a:off x="1219200" y="2971800"/>
            <a:ext cx="7696200" cy="2819400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19200" y="5943600"/>
            <a:ext cx="5955476" cy="40011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dirty="0"/>
              <a:t>This property should hold for </a:t>
            </a:r>
            <a:r>
              <a:rPr lang="en-US" u="sng" dirty="0"/>
              <a:t>all</a:t>
            </a:r>
            <a:r>
              <a:rPr lang="en-US" dirty="0"/>
              <a:t> regular languages.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6457950"/>
            <a:ext cx="6407150" cy="40005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b="1" dirty="0"/>
              <a:t>Definition:</a:t>
            </a:r>
            <a:r>
              <a:rPr lang="en-US" dirty="0"/>
              <a:t> </a:t>
            </a:r>
            <a:r>
              <a:rPr lang="en-US" i="1" dirty="0"/>
              <a:t>N </a:t>
            </a:r>
            <a:r>
              <a:rPr lang="en-US" dirty="0"/>
              <a:t>is called the “Pumping Lemma Constant”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EDAF0F5-F1A8-4C8B-80A7-0C07C7281D63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12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Pumping Lemma: Proof</a:t>
            </a:r>
          </a:p>
        </p:txBody>
      </p:sp>
      <p:sp>
        <p:nvSpPr>
          <p:cNvPr id="1894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82688" y="1752600"/>
            <a:ext cx="7772400" cy="4114800"/>
          </a:xfrm>
        </p:spPr>
        <p:txBody>
          <a:bodyPr/>
          <a:lstStyle/>
          <a:p>
            <a:pPr eaLnBrk="1" hangingPunct="1"/>
            <a:r>
              <a:rPr lang="en-US" sz="2800"/>
              <a:t>L is regular =&gt; it should have a DFA. </a:t>
            </a:r>
          </a:p>
          <a:p>
            <a:pPr lvl="1" eaLnBrk="1" hangingPunct="1"/>
            <a:r>
              <a:rPr lang="en-US" sz="2400" u="sng"/>
              <a:t>Set</a:t>
            </a:r>
            <a:r>
              <a:rPr lang="en-US" sz="2400"/>
              <a:t> </a:t>
            </a:r>
            <a:r>
              <a:rPr lang="en-US" i="1"/>
              <a:t>N</a:t>
            </a:r>
            <a:r>
              <a:rPr lang="en-US"/>
              <a:t> := number of states in the DFA</a:t>
            </a:r>
          </a:p>
          <a:p>
            <a:pPr eaLnBrk="1" hangingPunct="1"/>
            <a:r>
              <a:rPr lang="en-US" sz="2800"/>
              <a:t>Any string w</a:t>
            </a:r>
            <a:r>
              <a:rPr lang="en-US" sz="2800">
                <a:sym typeface="Symbol" pitchFamily="28" charset="2"/>
              </a:rPr>
              <a:t>L, s.t. |w|</a:t>
            </a:r>
            <a:r>
              <a:rPr lang="en-US" sz="2800" i="1"/>
              <a:t>≥N, </a:t>
            </a:r>
            <a:r>
              <a:rPr lang="en-US" sz="2800"/>
              <a:t>should have the form: </a:t>
            </a:r>
            <a:r>
              <a:rPr lang="en-US" sz="2800">
                <a:sym typeface="Symbol" pitchFamily="28" charset="2"/>
              </a:rPr>
              <a:t>	w</a:t>
            </a:r>
            <a:r>
              <a:rPr lang="en-US" sz="2800"/>
              <a:t>=a</a:t>
            </a:r>
            <a:r>
              <a:rPr lang="en-US" sz="2800" baseline="-25000"/>
              <a:t>1</a:t>
            </a:r>
            <a:r>
              <a:rPr lang="en-US" sz="2800"/>
              <a:t>a</a:t>
            </a:r>
            <a:r>
              <a:rPr lang="en-US" sz="2800" baseline="-25000"/>
              <a:t>2</a:t>
            </a:r>
            <a:r>
              <a:rPr lang="en-US" sz="2800"/>
              <a:t>…a</a:t>
            </a:r>
            <a:r>
              <a:rPr lang="en-US" sz="2800" baseline="-25000"/>
              <a:t>m</a:t>
            </a:r>
            <a:r>
              <a:rPr lang="en-US" sz="2800"/>
              <a:t>, where m≥N</a:t>
            </a:r>
          </a:p>
          <a:p>
            <a:pPr eaLnBrk="1" hangingPunct="1"/>
            <a:r>
              <a:rPr lang="en-US" sz="2800"/>
              <a:t>Let the states traversed after reading the first N symbols be:    {p</a:t>
            </a:r>
            <a:r>
              <a:rPr lang="en-US" sz="2800" baseline="-25000"/>
              <a:t>0</a:t>
            </a:r>
            <a:r>
              <a:rPr lang="en-US" sz="2800"/>
              <a:t>,p</a:t>
            </a:r>
            <a:r>
              <a:rPr lang="en-US" sz="2800" baseline="-25000"/>
              <a:t>1</a:t>
            </a:r>
            <a:r>
              <a:rPr lang="en-US" sz="2800"/>
              <a:t>,… p</a:t>
            </a:r>
            <a:r>
              <a:rPr lang="en-US" sz="2800" baseline="-25000"/>
              <a:t>N</a:t>
            </a:r>
            <a:r>
              <a:rPr lang="en-US" sz="2800"/>
              <a:t>}</a:t>
            </a:r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2400"/>
              <a:t>==&gt; There are N+1 p-states, while there are only N DFA states</a:t>
            </a:r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2400"/>
              <a:t>==&gt; at least one state has to repeat </a:t>
            </a:r>
            <a:br>
              <a:rPr lang="en-US" sz="2400"/>
            </a:br>
            <a:r>
              <a:rPr lang="en-US" sz="2400"/>
              <a:t>i.e, p</a:t>
            </a:r>
            <a:r>
              <a:rPr lang="en-US" sz="2400" baseline="-25000"/>
              <a:t>i</a:t>
            </a:r>
            <a:r>
              <a:rPr lang="en-US" sz="2400"/>
              <a:t>= p</a:t>
            </a:r>
            <a:r>
              <a:rPr lang="en-US" sz="2400" baseline="-25000"/>
              <a:t>J</a:t>
            </a:r>
            <a:r>
              <a:rPr lang="en-US" sz="2400"/>
              <a:t>where 0≤i&lt;j≤N (by PHP)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944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FD6EBA9-3F93-4E3C-B6E4-6E4619E638B9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Pumping Lemma: Proof…</a:t>
            </a:r>
          </a:p>
        </p:txBody>
      </p:sp>
      <p:sp>
        <p:nvSpPr>
          <p:cNvPr id="1126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43000" y="1905000"/>
            <a:ext cx="7772400" cy="4038600"/>
          </a:xfrm>
        </p:spPr>
        <p:txBody>
          <a:bodyPr/>
          <a:lstStyle/>
          <a:p>
            <a:pPr eaLnBrk="1" hangingPunct="1">
              <a:buFont typeface="Wingdings" pitchFamily="28" charset="2"/>
              <a:buChar char="Ø"/>
            </a:pPr>
            <a:r>
              <a:rPr lang="en-US" sz="2600"/>
              <a:t>=&gt; We should be able to break w=</a:t>
            </a:r>
            <a:r>
              <a:rPr lang="en-US" sz="2600">
                <a:solidFill>
                  <a:schemeClr val="hlink"/>
                </a:solidFill>
              </a:rPr>
              <a:t>x</a:t>
            </a:r>
            <a:r>
              <a:rPr lang="en-US" sz="2600">
                <a:solidFill>
                  <a:srgbClr val="006600"/>
                </a:solidFill>
              </a:rPr>
              <a:t>y</a:t>
            </a:r>
            <a:r>
              <a:rPr lang="en-US" sz="2600">
                <a:solidFill>
                  <a:srgbClr val="993300"/>
                </a:solidFill>
              </a:rPr>
              <a:t>z</a:t>
            </a:r>
            <a:r>
              <a:rPr lang="en-US" sz="2600"/>
              <a:t> as follows:</a:t>
            </a:r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1800">
                <a:solidFill>
                  <a:schemeClr val="hlink"/>
                </a:solidFill>
              </a:rPr>
              <a:t>x=a</a:t>
            </a:r>
            <a:r>
              <a:rPr lang="en-US" sz="1800" baseline="-25000">
                <a:solidFill>
                  <a:schemeClr val="hlink"/>
                </a:solidFill>
              </a:rPr>
              <a:t>1</a:t>
            </a:r>
            <a:r>
              <a:rPr lang="en-US" sz="1800">
                <a:solidFill>
                  <a:schemeClr val="hlink"/>
                </a:solidFill>
              </a:rPr>
              <a:t>a</a:t>
            </a:r>
            <a:r>
              <a:rPr lang="en-US" sz="1800" baseline="-25000">
                <a:solidFill>
                  <a:schemeClr val="hlink"/>
                </a:solidFill>
              </a:rPr>
              <a:t>2</a:t>
            </a:r>
            <a:r>
              <a:rPr lang="en-US" sz="1800">
                <a:solidFill>
                  <a:schemeClr val="hlink"/>
                </a:solidFill>
              </a:rPr>
              <a:t>..a</a:t>
            </a:r>
            <a:r>
              <a:rPr lang="en-US" sz="1800" baseline="-25000">
                <a:solidFill>
                  <a:schemeClr val="hlink"/>
                </a:solidFill>
              </a:rPr>
              <a:t>i</a:t>
            </a:r>
            <a:r>
              <a:rPr lang="en-US" sz="1800"/>
              <a:t>;  	</a:t>
            </a:r>
            <a:r>
              <a:rPr lang="en-US" sz="1800">
                <a:solidFill>
                  <a:srgbClr val="006600"/>
                </a:solidFill>
              </a:rPr>
              <a:t>y=a</a:t>
            </a:r>
            <a:r>
              <a:rPr lang="en-US" sz="1800" baseline="-25000">
                <a:solidFill>
                  <a:srgbClr val="006600"/>
                </a:solidFill>
              </a:rPr>
              <a:t>i+1</a:t>
            </a:r>
            <a:r>
              <a:rPr lang="en-US" sz="1800">
                <a:solidFill>
                  <a:srgbClr val="006600"/>
                </a:solidFill>
              </a:rPr>
              <a:t>a</a:t>
            </a:r>
            <a:r>
              <a:rPr lang="en-US" sz="1800" baseline="-25000">
                <a:solidFill>
                  <a:srgbClr val="006600"/>
                </a:solidFill>
              </a:rPr>
              <a:t>i+2</a:t>
            </a:r>
            <a:r>
              <a:rPr lang="en-US" sz="1800">
                <a:solidFill>
                  <a:srgbClr val="006600"/>
                </a:solidFill>
              </a:rPr>
              <a:t>..a</a:t>
            </a:r>
            <a:r>
              <a:rPr lang="en-US" sz="1800" baseline="-25000">
                <a:solidFill>
                  <a:srgbClr val="006600"/>
                </a:solidFill>
              </a:rPr>
              <a:t>J</a:t>
            </a:r>
            <a:r>
              <a:rPr lang="en-US" sz="1800"/>
              <a:t>;  	</a:t>
            </a:r>
            <a:r>
              <a:rPr lang="en-US" sz="1800">
                <a:solidFill>
                  <a:srgbClr val="993300"/>
                </a:solidFill>
              </a:rPr>
              <a:t>z=a</a:t>
            </a:r>
            <a:r>
              <a:rPr lang="en-US" sz="1800" baseline="-25000">
                <a:solidFill>
                  <a:srgbClr val="993300"/>
                </a:solidFill>
              </a:rPr>
              <a:t>J+1</a:t>
            </a:r>
            <a:r>
              <a:rPr lang="en-US" sz="1800">
                <a:solidFill>
                  <a:srgbClr val="993300"/>
                </a:solidFill>
              </a:rPr>
              <a:t>a</a:t>
            </a:r>
            <a:r>
              <a:rPr lang="en-US" sz="1800" baseline="-25000">
                <a:solidFill>
                  <a:srgbClr val="993300"/>
                </a:solidFill>
              </a:rPr>
              <a:t>J+2</a:t>
            </a:r>
            <a:r>
              <a:rPr lang="en-US" sz="1800">
                <a:solidFill>
                  <a:srgbClr val="993300"/>
                </a:solidFill>
              </a:rPr>
              <a:t>..a</a:t>
            </a:r>
            <a:r>
              <a:rPr lang="en-US" sz="1800" baseline="-25000">
                <a:solidFill>
                  <a:srgbClr val="993300"/>
                </a:solidFill>
              </a:rPr>
              <a:t>m</a:t>
            </a:r>
            <a:endParaRPr lang="en-US" sz="1800">
              <a:solidFill>
                <a:srgbClr val="993300"/>
              </a:solidFill>
            </a:endParaRPr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1800">
                <a:solidFill>
                  <a:schemeClr val="hlink"/>
                </a:solidFill>
              </a:rPr>
              <a:t>x’s path will be p</a:t>
            </a:r>
            <a:r>
              <a:rPr lang="en-US" sz="1800" baseline="-25000">
                <a:solidFill>
                  <a:schemeClr val="hlink"/>
                </a:solidFill>
              </a:rPr>
              <a:t>0</a:t>
            </a:r>
            <a:r>
              <a:rPr lang="en-US" sz="1800">
                <a:solidFill>
                  <a:schemeClr val="hlink"/>
                </a:solidFill>
              </a:rPr>
              <a:t>..p</a:t>
            </a:r>
            <a:r>
              <a:rPr lang="en-US" sz="1800" baseline="-25000">
                <a:solidFill>
                  <a:schemeClr val="hlink"/>
                </a:solidFill>
              </a:rPr>
              <a:t>i</a:t>
            </a:r>
            <a:r>
              <a:rPr lang="en-US" sz="1800"/>
              <a:t> </a:t>
            </a:r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1800">
                <a:solidFill>
                  <a:srgbClr val="006600"/>
                </a:solidFill>
              </a:rPr>
              <a:t>y’s path will be p</a:t>
            </a:r>
            <a:r>
              <a:rPr lang="en-US" sz="1800" baseline="-25000">
                <a:solidFill>
                  <a:srgbClr val="006600"/>
                </a:solidFill>
              </a:rPr>
              <a:t>i </a:t>
            </a:r>
            <a:r>
              <a:rPr lang="en-US" sz="1800">
                <a:solidFill>
                  <a:srgbClr val="006600"/>
                </a:solidFill>
              </a:rPr>
              <a:t>p</a:t>
            </a:r>
            <a:r>
              <a:rPr lang="en-US" sz="1800" baseline="-25000">
                <a:solidFill>
                  <a:srgbClr val="006600"/>
                </a:solidFill>
              </a:rPr>
              <a:t>i+1</a:t>
            </a:r>
            <a:r>
              <a:rPr lang="en-US" sz="1800">
                <a:solidFill>
                  <a:srgbClr val="006600"/>
                </a:solidFill>
              </a:rPr>
              <a:t>..p</a:t>
            </a:r>
            <a:r>
              <a:rPr lang="en-US" sz="1800" baseline="-25000">
                <a:solidFill>
                  <a:srgbClr val="006600"/>
                </a:solidFill>
              </a:rPr>
              <a:t>J</a:t>
            </a:r>
            <a:r>
              <a:rPr lang="en-US" sz="1800">
                <a:solidFill>
                  <a:srgbClr val="006600"/>
                </a:solidFill>
              </a:rPr>
              <a:t> (but p</a:t>
            </a:r>
            <a:r>
              <a:rPr lang="en-US" sz="1800" baseline="-25000">
                <a:solidFill>
                  <a:srgbClr val="006600"/>
                </a:solidFill>
              </a:rPr>
              <a:t>i</a:t>
            </a:r>
            <a:r>
              <a:rPr lang="en-US" sz="1800">
                <a:solidFill>
                  <a:srgbClr val="006600"/>
                </a:solidFill>
              </a:rPr>
              <a:t>=p</a:t>
            </a:r>
            <a:r>
              <a:rPr lang="en-US" sz="1800" baseline="-25000">
                <a:solidFill>
                  <a:srgbClr val="006600"/>
                </a:solidFill>
              </a:rPr>
              <a:t>J</a:t>
            </a:r>
            <a:r>
              <a:rPr lang="en-US" sz="1800">
                <a:solidFill>
                  <a:srgbClr val="006600"/>
                </a:solidFill>
              </a:rPr>
              <a:t> implying a loop)</a:t>
            </a:r>
            <a:endParaRPr lang="en-US" sz="1800"/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1800">
                <a:solidFill>
                  <a:srgbClr val="993300"/>
                </a:solidFill>
              </a:rPr>
              <a:t>z’s path will be p</a:t>
            </a:r>
            <a:r>
              <a:rPr lang="en-US" sz="1800" baseline="-25000">
                <a:solidFill>
                  <a:srgbClr val="993300"/>
                </a:solidFill>
              </a:rPr>
              <a:t>J</a:t>
            </a:r>
            <a:r>
              <a:rPr lang="en-US" sz="1800">
                <a:solidFill>
                  <a:srgbClr val="993300"/>
                </a:solidFill>
              </a:rPr>
              <a:t>p</a:t>
            </a:r>
            <a:r>
              <a:rPr lang="en-US" sz="1800" baseline="-25000">
                <a:solidFill>
                  <a:srgbClr val="993300"/>
                </a:solidFill>
              </a:rPr>
              <a:t>J+1</a:t>
            </a:r>
            <a:r>
              <a:rPr lang="en-US" sz="1800">
                <a:solidFill>
                  <a:srgbClr val="993300"/>
                </a:solidFill>
              </a:rPr>
              <a:t>..p</a:t>
            </a:r>
            <a:r>
              <a:rPr lang="en-US" sz="1800" baseline="-25000">
                <a:solidFill>
                  <a:srgbClr val="993300"/>
                </a:solidFill>
              </a:rPr>
              <a:t>m</a:t>
            </a:r>
            <a:r>
              <a:rPr lang="en-US" sz="1800">
                <a:solidFill>
                  <a:srgbClr val="993300"/>
                </a:solidFill>
              </a:rPr>
              <a:t> </a:t>
            </a:r>
          </a:p>
          <a:p>
            <a:pPr eaLnBrk="1" hangingPunct="1">
              <a:buFont typeface="Wingdings" pitchFamily="28" charset="2"/>
              <a:buChar char="Ø"/>
            </a:pPr>
            <a:r>
              <a:rPr lang="en-US" sz="2000"/>
              <a:t>Now consider another </a:t>
            </a:r>
            <a:br>
              <a:rPr lang="en-US" sz="2000"/>
            </a:br>
            <a:r>
              <a:rPr lang="en-US" sz="2000"/>
              <a:t>     string w</a:t>
            </a:r>
            <a:r>
              <a:rPr lang="en-US" sz="2000" baseline="-25000"/>
              <a:t>k</a:t>
            </a:r>
            <a:r>
              <a:rPr lang="en-US" sz="2000"/>
              <a:t>=</a:t>
            </a:r>
            <a:r>
              <a:rPr lang="en-US" sz="2000">
                <a:solidFill>
                  <a:schemeClr val="hlink"/>
                </a:solidFill>
              </a:rPr>
              <a:t>x</a:t>
            </a:r>
            <a:r>
              <a:rPr lang="en-US" sz="2000">
                <a:solidFill>
                  <a:srgbClr val="006600"/>
                </a:solidFill>
              </a:rPr>
              <a:t>y</a:t>
            </a:r>
            <a:r>
              <a:rPr lang="en-US" sz="2000" baseline="30000">
                <a:solidFill>
                  <a:srgbClr val="006600"/>
                </a:solidFill>
              </a:rPr>
              <a:t>k</a:t>
            </a:r>
            <a:r>
              <a:rPr lang="en-US" sz="2000">
                <a:solidFill>
                  <a:srgbClr val="993300"/>
                </a:solidFill>
              </a:rPr>
              <a:t>z</a:t>
            </a:r>
            <a:r>
              <a:rPr lang="en-US" sz="2000"/>
              <a:t> , where k≥0</a:t>
            </a:r>
          </a:p>
          <a:p>
            <a:pPr eaLnBrk="1" hangingPunct="1">
              <a:buFont typeface="Wingdings" pitchFamily="28" charset="2"/>
              <a:buChar char="Ø"/>
            </a:pPr>
            <a:r>
              <a:rPr lang="en-US" sz="2000"/>
              <a:t>Case k=0</a:t>
            </a:r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1800"/>
              <a:t>DFA will reach the accept state p</a:t>
            </a:r>
            <a:r>
              <a:rPr lang="en-US" sz="1800" baseline="-25000"/>
              <a:t>m</a:t>
            </a:r>
            <a:endParaRPr lang="en-US" sz="1800"/>
          </a:p>
          <a:p>
            <a:pPr eaLnBrk="1" hangingPunct="1">
              <a:buFont typeface="Wingdings" pitchFamily="28" charset="2"/>
              <a:buChar char="Ø"/>
            </a:pPr>
            <a:r>
              <a:rPr lang="en-US" sz="2000"/>
              <a:t>Case k&gt;0</a:t>
            </a:r>
          </a:p>
          <a:p>
            <a:pPr lvl="1" eaLnBrk="1" hangingPunct="1">
              <a:buFont typeface="Wingdings" pitchFamily="28" charset="2"/>
              <a:buChar char="Ø"/>
            </a:pPr>
            <a:r>
              <a:rPr lang="en-US" sz="1800"/>
              <a:t>DFA will loop for </a:t>
            </a:r>
            <a:r>
              <a:rPr lang="en-US" sz="1800">
                <a:solidFill>
                  <a:srgbClr val="006600"/>
                </a:solidFill>
              </a:rPr>
              <a:t>y</a:t>
            </a:r>
            <a:r>
              <a:rPr lang="en-US" sz="1800" baseline="30000">
                <a:solidFill>
                  <a:srgbClr val="006600"/>
                </a:solidFill>
              </a:rPr>
              <a:t>k</a:t>
            </a:r>
            <a:r>
              <a:rPr lang="en-US" sz="1800"/>
              <a:t>, and finally reach the accept state p</a:t>
            </a:r>
            <a:r>
              <a:rPr lang="en-US" sz="1800" baseline="-25000"/>
              <a:t>m</a:t>
            </a:r>
            <a:r>
              <a:rPr lang="en-US" sz="1800"/>
              <a:t> for </a:t>
            </a:r>
            <a:r>
              <a:rPr lang="en-US" sz="1800">
                <a:solidFill>
                  <a:srgbClr val="993300"/>
                </a:solidFill>
              </a:rPr>
              <a:t>z</a:t>
            </a:r>
            <a:endParaRPr lang="en-US" sz="1800"/>
          </a:p>
          <a:p>
            <a:pPr eaLnBrk="1" hangingPunct="1">
              <a:buFont typeface="Wingdings" pitchFamily="28" charset="2"/>
              <a:buChar char="Ø"/>
            </a:pPr>
            <a:r>
              <a:rPr lang="en-US" sz="2000"/>
              <a:t>In either case, w</a:t>
            </a:r>
            <a:r>
              <a:rPr lang="en-US" sz="2000" baseline="-25000"/>
              <a:t>k</a:t>
            </a:r>
            <a:r>
              <a:rPr lang="en-US" sz="2800">
                <a:solidFill>
                  <a:srgbClr val="000000"/>
                </a:solidFill>
                <a:sym typeface="Symbol" pitchFamily="28" charset="2"/>
              </a:rPr>
              <a:t></a:t>
            </a:r>
            <a:r>
              <a:rPr lang="en-US" sz="2000"/>
              <a:t> L </a:t>
            </a:r>
            <a:endParaRPr lang="en-US" sz="2000" baseline="-25000"/>
          </a:p>
        </p:txBody>
      </p:sp>
      <p:sp>
        <p:nvSpPr>
          <p:cNvPr id="12305" name="Text Box 19"/>
          <p:cNvSpPr txBox="1">
            <a:spLocks noChangeArrowheads="1"/>
          </p:cNvSpPr>
          <p:nvPr/>
        </p:nvSpPr>
        <p:spPr bwMode="auto">
          <a:xfrm>
            <a:off x="6927850" y="3352800"/>
            <a:ext cx="14033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rgbClr val="006600"/>
                </a:solidFill>
              </a:rPr>
              <a:t>y</a:t>
            </a:r>
            <a:r>
              <a:rPr lang="en-US" baseline="30000">
                <a:solidFill>
                  <a:srgbClr val="006600"/>
                </a:solidFill>
              </a:rPr>
              <a:t>k</a:t>
            </a:r>
            <a:r>
              <a:rPr lang="en-US">
                <a:solidFill>
                  <a:srgbClr val="006600"/>
                </a:solidFill>
              </a:rPr>
              <a:t> </a:t>
            </a:r>
            <a:r>
              <a:rPr lang="en-US" sz="1400">
                <a:solidFill>
                  <a:srgbClr val="006600"/>
                </a:solidFill>
              </a:rPr>
              <a:t>(for k loops)</a:t>
            </a:r>
            <a:endParaRPr lang="en-US">
              <a:solidFill>
                <a:srgbClr val="006600"/>
              </a:solidFill>
            </a:endParaRPr>
          </a:p>
        </p:txBody>
      </p:sp>
      <p:grpSp>
        <p:nvGrpSpPr>
          <p:cNvPr id="2" name="Group 19"/>
          <p:cNvGrpSpPr>
            <a:grpSpLocks/>
          </p:cNvGrpSpPr>
          <p:nvPr/>
        </p:nvGrpSpPr>
        <p:grpSpPr bwMode="auto">
          <a:xfrm>
            <a:off x="5181600" y="3429000"/>
            <a:ext cx="3733800" cy="1295400"/>
            <a:chOff x="5181600" y="3429000"/>
            <a:chExt cx="3733800" cy="1295400"/>
          </a:xfrm>
        </p:grpSpPr>
        <p:sp>
          <p:nvSpPr>
            <p:cNvPr id="12296" name="Oval 8"/>
            <p:cNvSpPr>
              <a:spLocks noChangeArrowheads="1"/>
            </p:cNvSpPr>
            <p:nvPr/>
          </p:nvSpPr>
          <p:spPr bwMode="auto">
            <a:xfrm>
              <a:off x="5715000" y="3962400"/>
              <a:ext cx="381000" cy="3810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/>
                <a:t>p</a:t>
              </a:r>
              <a:r>
                <a:rPr lang="en-US" baseline="-25000"/>
                <a:t>0</a:t>
              </a:r>
              <a:endParaRPr lang="en-US"/>
            </a:p>
          </p:txBody>
        </p:sp>
        <p:sp>
          <p:nvSpPr>
            <p:cNvPr id="12297" name="Oval 10"/>
            <p:cNvSpPr>
              <a:spLocks noChangeArrowheads="1"/>
            </p:cNvSpPr>
            <p:nvPr/>
          </p:nvSpPr>
          <p:spPr bwMode="auto">
            <a:xfrm>
              <a:off x="7010400" y="3962400"/>
              <a:ext cx="381000" cy="3810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/>
                <a:t>p</a:t>
              </a:r>
              <a:r>
                <a:rPr lang="en-US" baseline="-25000"/>
                <a:t>i</a:t>
              </a:r>
              <a:endParaRPr lang="en-US"/>
            </a:p>
          </p:txBody>
        </p:sp>
        <p:sp>
          <p:nvSpPr>
            <p:cNvPr id="12298" name="Oval 11"/>
            <p:cNvSpPr>
              <a:spLocks noChangeArrowheads="1"/>
            </p:cNvSpPr>
            <p:nvPr/>
          </p:nvSpPr>
          <p:spPr bwMode="auto">
            <a:xfrm>
              <a:off x="8382000" y="3962400"/>
              <a:ext cx="381000" cy="3810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/>
                <a:t>p</a:t>
              </a:r>
              <a:r>
                <a:rPr lang="en-US" baseline="-25000"/>
                <a:t>m</a:t>
              </a:r>
              <a:endParaRPr lang="en-US"/>
            </a:p>
          </p:txBody>
        </p:sp>
        <p:sp>
          <p:nvSpPr>
            <p:cNvPr id="12299" name="Line 12"/>
            <p:cNvSpPr>
              <a:spLocks noChangeShapeType="1"/>
            </p:cNvSpPr>
            <p:nvPr/>
          </p:nvSpPr>
          <p:spPr bwMode="auto">
            <a:xfrm>
              <a:off x="5334000" y="4114800"/>
              <a:ext cx="381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0" name="Line 13"/>
            <p:cNvSpPr>
              <a:spLocks noChangeShapeType="1"/>
            </p:cNvSpPr>
            <p:nvPr/>
          </p:nvSpPr>
          <p:spPr bwMode="auto">
            <a:xfrm>
              <a:off x="6096000" y="4114800"/>
              <a:ext cx="914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1" name="Line 14"/>
            <p:cNvSpPr>
              <a:spLocks noChangeShapeType="1"/>
            </p:cNvSpPr>
            <p:nvPr/>
          </p:nvSpPr>
          <p:spPr bwMode="auto">
            <a:xfrm>
              <a:off x="7391400" y="4114800"/>
              <a:ext cx="914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2" name="Oval 15"/>
            <p:cNvSpPr>
              <a:spLocks noChangeArrowheads="1"/>
            </p:cNvSpPr>
            <p:nvPr/>
          </p:nvSpPr>
          <p:spPr bwMode="auto">
            <a:xfrm>
              <a:off x="8305800" y="3886200"/>
              <a:ext cx="533400" cy="533400"/>
            </a:xfrm>
            <a:prstGeom prst="ellipse">
              <a:avLst/>
            </a:prstGeom>
            <a:solidFill>
              <a:schemeClr val="accent1">
                <a:alpha val="117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3" name="Freeform 16"/>
            <p:cNvSpPr>
              <a:spLocks/>
            </p:cNvSpPr>
            <p:nvPr/>
          </p:nvSpPr>
          <p:spPr bwMode="auto">
            <a:xfrm>
              <a:off x="6845300" y="3632200"/>
              <a:ext cx="635000" cy="406400"/>
            </a:xfrm>
            <a:custGeom>
              <a:avLst/>
              <a:gdLst>
                <a:gd name="T0" fmla="*/ 2147483647 w 400"/>
                <a:gd name="T1" fmla="*/ 2147483647 h 256"/>
                <a:gd name="T2" fmla="*/ 2147483647 w 400"/>
                <a:gd name="T3" fmla="*/ 2147483647 h 256"/>
                <a:gd name="T4" fmla="*/ 2147483647 w 400"/>
                <a:gd name="T5" fmla="*/ 2147483647 h 256"/>
                <a:gd name="T6" fmla="*/ 2147483647 w 400"/>
                <a:gd name="T7" fmla="*/ 2147483647 h 256"/>
                <a:gd name="T8" fmla="*/ 2147483647 w 400"/>
                <a:gd name="T9" fmla="*/ 2147483647 h 256"/>
                <a:gd name="T10" fmla="*/ 2147483647 w 400"/>
                <a:gd name="T11" fmla="*/ 2147483647 h 256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00"/>
                <a:gd name="T19" fmla="*/ 0 h 256"/>
                <a:gd name="T20" fmla="*/ 400 w 400"/>
                <a:gd name="T21" fmla="*/ 256 h 25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00" h="256">
                  <a:moveTo>
                    <a:pt x="152" y="256"/>
                  </a:moveTo>
                  <a:cubicBezTo>
                    <a:pt x="84" y="204"/>
                    <a:pt x="16" y="152"/>
                    <a:pt x="8" y="112"/>
                  </a:cubicBezTo>
                  <a:cubicBezTo>
                    <a:pt x="0" y="72"/>
                    <a:pt x="64" y="32"/>
                    <a:pt x="104" y="16"/>
                  </a:cubicBezTo>
                  <a:cubicBezTo>
                    <a:pt x="144" y="0"/>
                    <a:pt x="200" y="0"/>
                    <a:pt x="248" y="16"/>
                  </a:cubicBezTo>
                  <a:cubicBezTo>
                    <a:pt x="296" y="32"/>
                    <a:pt x="384" y="80"/>
                    <a:pt x="392" y="112"/>
                  </a:cubicBezTo>
                  <a:cubicBezTo>
                    <a:pt x="400" y="144"/>
                    <a:pt x="348" y="176"/>
                    <a:pt x="296" y="208"/>
                  </a:cubicBezTo>
                </a:path>
              </a:pathLst>
            </a:custGeom>
            <a:noFill/>
            <a:ln w="9525" cap="flat">
              <a:solidFill>
                <a:schemeClr val="tx1"/>
              </a:solidFill>
              <a:prstDash val="dash"/>
              <a:round/>
              <a:headEnd/>
              <a:tailEnd type="arrow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4" name="Text Box 17"/>
            <p:cNvSpPr txBox="1">
              <a:spLocks noChangeArrowheads="1"/>
            </p:cNvSpPr>
            <p:nvPr/>
          </p:nvSpPr>
          <p:spPr bwMode="auto">
            <a:xfrm>
              <a:off x="6232525" y="3752850"/>
              <a:ext cx="31115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hlink"/>
                  </a:solidFill>
                </a:rPr>
                <a:t>x</a:t>
              </a:r>
              <a:endParaRPr lang="en-US"/>
            </a:p>
          </p:txBody>
        </p:sp>
        <p:sp>
          <p:nvSpPr>
            <p:cNvPr id="3" name="Text Box 18"/>
            <p:cNvSpPr txBox="1">
              <a:spLocks noChangeArrowheads="1"/>
            </p:cNvSpPr>
            <p:nvPr/>
          </p:nvSpPr>
          <p:spPr bwMode="auto">
            <a:xfrm>
              <a:off x="7689850" y="3733800"/>
              <a:ext cx="311150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993300"/>
                  </a:solidFill>
                </a:rPr>
                <a:t>z</a:t>
              </a:r>
              <a:endParaRPr lang="en-US"/>
            </a:p>
          </p:txBody>
        </p:sp>
        <p:sp>
          <p:nvSpPr>
            <p:cNvPr id="12306" name="Text Box 20"/>
            <p:cNvSpPr txBox="1">
              <a:spLocks noChangeArrowheads="1"/>
            </p:cNvSpPr>
            <p:nvPr/>
          </p:nvSpPr>
          <p:spPr bwMode="auto">
            <a:xfrm>
              <a:off x="7086600" y="4251325"/>
              <a:ext cx="511175" cy="3968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=p</a:t>
              </a:r>
              <a:r>
                <a:rPr lang="en-US" baseline="-25000"/>
                <a:t>j</a:t>
              </a:r>
            </a:p>
          </p:txBody>
        </p:sp>
        <p:sp>
          <p:nvSpPr>
            <p:cNvPr id="12307" name="AutoShape 21"/>
            <p:cNvSpPr>
              <a:spLocks noChangeArrowheads="1"/>
            </p:cNvSpPr>
            <p:nvPr/>
          </p:nvSpPr>
          <p:spPr bwMode="auto">
            <a:xfrm>
              <a:off x="5181600" y="3429000"/>
              <a:ext cx="3733800" cy="1295400"/>
            </a:xfrm>
            <a:prstGeom prst="roundRect">
              <a:avLst>
                <a:gd name="adj" fmla="val 16667"/>
              </a:avLst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1270" name="Text Box 24"/>
          <p:cNvSpPr txBox="1">
            <a:spLocks noChangeArrowheads="1"/>
          </p:cNvSpPr>
          <p:nvPr/>
        </p:nvSpPr>
        <p:spPr bwMode="auto">
          <a:xfrm>
            <a:off x="4495800" y="5867400"/>
            <a:ext cx="39243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hlink"/>
                </a:solidFill>
              </a:rPr>
              <a:t>This proves part (3) of the lemma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12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12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2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12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112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12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2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112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112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7" dur="500"/>
                                        <p:tgtEl>
                                          <p:spTgt spid="112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2" dur="500"/>
                                        <p:tgtEl>
                                          <p:spTgt spid="112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67" dur="500"/>
                                        <p:tgtEl>
                                          <p:spTgt spid="1126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2" dur="500"/>
                                        <p:tgtEl>
                                          <p:spTgt spid="11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 build="p"/>
      <p:bldP spid="12305" grpId="0"/>
      <p:bldP spid="1127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F0ED9E9-DD12-41FD-899B-887EA8E2C2C4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33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Pumping Lemma: Proof…</a:t>
            </a:r>
          </a:p>
        </p:txBody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</a:pPr>
            <a:r>
              <a:rPr lang="en-US"/>
              <a:t>For part (1): </a:t>
            </a:r>
          </a:p>
          <a:p>
            <a:pPr marL="990600" lvl="1" indent="-533400" eaLnBrk="1" hangingPunct="1">
              <a:lnSpc>
                <a:spcPct val="90000"/>
              </a:lnSpc>
            </a:pPr>
            <a:r>
              <a:rPr lang="en-US"/>
              <a:t>Since i&lt;j, </a:t>
            </a:r>
            <a:r>
              <a:rPr lang="en-US">
                <a:solidFill>
                  <a:srgbClr val="006600"/>
                </a:solidFill>
              </a:rPr>
              <a:t>y </a:t>
            </a:r>
            <a:r>
              <a:rPr lang="en-US"/>
              <a:t>≠ </a:t>
            </a:r>
            <a:r>
              <a:rPr lang="en-US" i="1">
                <a:sym typeface="Symbol" pitchFamily="28" charset="2"/>
              </a:rPr>
              <a:t></a:t>
            </a:r>
            <a:endParaRPr lang="en-US">
              <a:ea typeface="ＭＳ Ｐゴシック" pitchFamily="28" charset="-128"/>
            </a:endParaRPr>
          </a:p>
          <a:p>
            <a:pPr marL="609600" indent="-609600" eaLnBrk="1" hangingPunct="1">
              <a:lnSpc>
                <a:spcPct val="90000"/>
              </a:lnSpc>
            </a:pPr>
            <a:endParaRPr lang="en-US">
              <a:ea typeface="ＭＳ Ｐゴシック" pitchFamily="28" charset="-128"/>
            </a:endParaRPr>
          </a:p>
          <a:p>
            <a:pPr marL="609600" indent="-609600" eaLnBrk="1" hangingPunct="1">
              <a:lnSpc>
                <a:spcPct val="90000"/>
              </a:lnSpc>
            </a:pPr>
            <a:r>
              <a:rPr lang="en-US">
                <a:ea typeface="ＭＳ Ｐゴシック" pitchFamily="28" charset="-128"/>
              </a:rPr>
              <a:t>For part (2):</a:t>
            </a:r>
          </a:p>
          <a:p>
            <a:pPr marL="990600" lvl="1" indent="-533400" eaLnBrk="1" hangingPunct="1">
              <a:lnSpc>
                <a:spcPct val="90000"/>
              </a:lnSpc>
            </a:pPr>
            <a:r>
              <a:rPr lang="en-US">
                <a:ea typeface="ＭＳ Ｐゴシック" pitchFamily="28" charset="-128"/>
              </a:rPr>
              <a:t>By PHP, the repetition of states has to occur within the first N symbols in w</a:t>
            </a:r>
          </a:p>
          <a:p>
            <a:pPr marL="990600" lvl="1" indent="-533400" eaLnBrk="1" hangingPunct="1">
              <a:lnSpc>
                <a:spcPct val="90000"/>
              </a:lnSpc>
            </a:pPr>
            <a:r>
              <a:rPr lang="en-US">
                <a:ea typeface="ＭＳ Ｐゴシック" pitchFamily="28" charset="-128"/>
              </a:rPr>
              <a:t>==&gt; |</a:t>
            </a:r>
            <a:r>
              <a:rPr lang="en-US">
                <a:solidFill>
                  <a:schemeClr val="hlink"/>
                </a:solidFill>
                <a:ea typeface="ＭＳ Ｐゴシック" pitchFamily="28" charset="-128"/>
              </a:rPr>
              <a:t>x</a:t>
            </a:r>
            <a:r>
              <a:rPr lang="en-US">
                <a:solidFill>
                  <a:srgbClr val="006600"/>
                </a:solidFill>
                <a:ea typeface="ＭＳ Ｐゴシック" pitchFamily="28" charset="-128"/>
              </a:rPr>
              <a:t>y</a:t>
            </a:r>
            <a:r>
              <a:rPr lang="en-US">
                <a:ea typeface="ＭＳ Ｐゴシック" pitchFamily="28" charset="-128"/>
              </a:rPr>
              <a:t>|≤N</a:t>
            </a: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None/>
            </a:pPr>
            <a:endParaRPr lang="en-US"/>
          </a:p>
        </p:txBody>
      </p:sp>
      <p:sp>
        <p:nvSpPr>
          <p:cNvPr id="13317" name="Rectangle 5"/>
          <p:cNvSpPr>
            <a:spLocks noChangeArrowheads="1"/>
          </p:cNvSpPr>
          <p:nvPr/>
        </p:nvSpPr>
        <p:spPr bwMode="auto">
          <a:xfrm>
            <a:off x="7772400" y="5791200"/>
            <a:ext cx="228600" cy="1524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318" name="Group 22"/>
          <p:cNvGrpSpPr>
            <a:grpSpLocks/>
          </p:cNvGrpSpPr>
          <p:nvPr/>
        </p:nvGrpSpPr>
        <p:grpSpPr bwMode="auto">
          <a:xfrm>
            <a:off x="5257800" y="1981200"/>
            <a:ext cx="3733800" cy="1371600"/>
            <a:chOff x="3072" y="2160"/>
            <a:chExt cx="2352" cy="864"/>
          </a:xfrm>
        </p:grpSpPr>
        <p:sp>
          <p:nvSpPr>
            <p:cNvPr id="13319" name="Oval 8"/>
            <p:cNvSpPr>
              <a:spLocks noChangeArrowheads="1"/>
            </p:cNvSpPr>
            <p:nvPr/>
          </p:nvSpPr>
          <p:spPr bwMode="auto">
            <a:xfrm>
              <a:off x="3408" y="2544"/>
              <a:ext cx="240" cy="24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/>
                <a:t>p</a:t>
              </a:r>
              <a:r>
                <a:rPr lang="en-US" baseline="-25000"/>
                <a:t>0</a:t>
              </a:r>
              <a:endParaRPr lang="en-US"/>
            </a:p>
          </p:txBody>
        </p:sp>
        <p:sp>
          <p:nvSpPr>
            <p:cNvPr id="13320" name="Oval 10"/>
            <p:cNvSpPr>
              <a:spLocks noChangeArrowheads="1"/>
            </p:cNvSpPr>
            <p:nvPr/>
          </p:nvSpPr>
          <p:spPr bwMode="auto">
            <a:xfrm>
              <a:off x="4224" y="2544"/>
              <a:ext cx="240" cy="24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/>
                <a:t>p</a:t>
              </a:r>
              <a:r>
                <a:rPr lang="en-US" baseline="-25000"/>
                <a:t>i</a:t>
              </a:r>
              <a:endParaRPr lang="en-US"/>
            </a:p>
          </p:txBody>
        </p:sp>
        <p:sp>
          <p:nvSpPr>
            <p:cNvPr id="13321" name="Oval 11"/>
            <p:cNvSpPr>
              <a:spLocks noChangeArrowheads="1"/>
            </p:cNvSpPr>
            <p:nvPr/>
          </p:nvSpPr>
          <p:spPr bwMode="auto">
            <a:xfrm>
              <a:off x="5088" y="2544"/>
              <a:ext cx="240" cy="24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/>
                <a:t>p</a:t>
              </a:r>
              <a:r>
                <a:rPr lang="en-US" baseline="-25000"/>
                <a:t>m</a:t>
              </a:r>
              <a:endParaRPr lang="en-US"/>
            </a:p>
          </p:txBody>
        </p:sp>
        <p:sp>
          <p:nvSpPr>
            <p:cNvPr id="13322" name="Line 12"/>
            <p:cNvSpPr>
              <a:spLocks noChangeShapeType="1"/>
            </p:cNvSpPr>
            <p:nvPr/>
          </p:nvSpPr>
          <p:spPr bwMode="auto">
            <a:xfrm>
              <a:off x="3168" y="2640"/>
              <a:ext cx="24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23" name="Line 13"/>
            <p:cNvSpPr>
              <a:spLocks noChangeShapeType="1"/>
            </p:cNvSpPr>
            <p:nvPr/>
          </p:nvSpPr>
          <p:spPr bwMode="auto">
            <a:xfrm>
              <a:off x="3648" y="2640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24" name="Line 14"/>
            <p:cNvSpPr>
              <a:spLocks noChangeShapeType="1"/>
            </p:cNvSpPr>
            <p:nvPr/>
          </p:nvSpPr>
          <p:spPr bwMode="auto">
            <a:xfrm>
              <a:off x="4464" y="2640"/>
              <a:ext cx="57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25" name="Oval 15"/>
            <p:cNvSpPr>
              <a:spLocks noChangeArrowheads="1"/>
            </p:cNvSpPr>
            <p:nvPr/>
          </p:nvSpPr>
          <p:spPr bwMode="auto">
            <a:xfrm>
              <a:off x="5040" y="2496"/>
              <a:ext cx="336" cy="336"/>
            </a:xfrm>
            <a:prstGeom prst="ellipse">
              <a:avLst/>
            </a:prstGeom>
            <a:solidFill>
              <a:schemeClr val="accent1">
                <a:alpha val="117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26" name="Freeform 16"/>
            <p:cNvSpPr>
              <a:spLocks/>
            </p:cNvSpPr>
            <p:nvPr/>
          </p:nvSpPr>
          <p:spPr bwMode="auto">
            <a:xfrm>
              <a:off x="4120" y="2336"/>
              <a:ext cx="400" cy="256"/>
            </a:xfrm>
            <a:custGeom>
              <a:avLst/>
              <a:gdLst>
                <a:gd name="T0" fmla="*/ 152 w 400"/>
                <a:gd name="T1" fmla="*/ 256 h 256"/>
                <a:gd name="T2" fmla="*/ 8 w 400"/>
                <a:gd name="T3" fmla="*/ 112 h 256"/>
                <a:gd name="T4" fmla="*/ 104 w 400"/>
                <a:gd name="T5" fmla="*/ 16 h 256"/>
                <a:gd name="T6" fmla="*/ 248 w 400"/>
                <a:gd name="T7" fmla="*/ 16 h 256"/>
                <a:gd name="T8" fmla="*/ 392 w 400"/>
                <a:gd name="T9" fmla="*/ 112 h 256"/>
                <a:gd name="T10" fmla="*/ 296 w 400"/>
                <a:gd name="T11" fmla="*/ 208 h 256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400"/>
                <a:gd name="T19" fmla="*/ 0 h 256"/>
                <a:gd name="T20" fmla="*/ 400 w 400"/>
                <a:gd name="T21" fmla="*/ 256 h 25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400" h="256">
                  <a:moveTo>
                    <a:pt x="152" y="256"/>
                  </a:moveTo>
                  <a:cubicBezTo>
                    <a:pt x="84" y="204"/>
                    <a:pt x="16" y="152"/>
                    <a:pt x="8" y="112"/>
                  </a:cubicBezTo>
                  <a:cubicBezTo>
                    <a:pt x="0" y="72"/>
                    <a:pt x="64" y="32"/>
                    <a:pt x="104" y="16"/>
                  </a:cubicBezTo>
                  <a:cubicBezTo>
                    <a:pt x="144" y="0"/>
                    <a:pt x="200" y="0"/>
                    <a:pt x="248" y="16"/>
                  </a:cubicBezTo>
                  <a:cubicBezTo>
                    <a:pt x="296" y="32"/>
                    <a:pt x="384" y="80"/>
                    <a:pt x="392" y="112"/>
                  </a:cubicBezTo>
                  <a:cubicBezTo>
                    <a:pt x="400" y="144"/>
                    <a:pt x="348" y="176"/>
                    <a:pt x="296" y="208"/>
                  </a:cubicBezTo>
                </a:path>
              </a:pathLst>
            </a:custGeom>
            <a:noFill/>
            <a:ln w="9525" cap="flat">
              <a:solidFill>
                <a:schemeClr val="tx1"/>
              </a:solidFill>
              <a:prstDash val="dash"/>
              <a:round/>
              <a:headEnd/>
              <a:tailEnd type="arrow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27" name="Text Box 17"/>
            <p:cNvSpPr txBox="1">
              <a:spLocks noChangeArrowheads="1"/>
            </p:cNvSpPr>
            <p:nvPr/>
          </p:nvSpPr>
          <p:spPr bwMode="auto">
            <a:xfrm>
              <a:off x="3734" y="2412"/>
              <a:ext cx="19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hlink"/>
                  </a:solidFill>
                </a:rPr>
                <a:t>x</a:t>
              </a:r>
              <a:endParaRPr lang="en-US"/>
            </a:p>
          </p:txBody>
        </p:sp>
        <p:sp>
          <p:nvSpPr>
            <p:cNvPr id="13328" name="Text Box 18"/>
            <p:cNvSpPr txBox="1">
              <a:spLocks noChangeArrowheads="1"/>
            </p:cNvSpPr>
            <p:nvPr/>
          </p:nvSpPr>
          <p:spPr bwMode="auto">
            <a:xfrm>
              <a:off x="4652" y="2400"/>
              <a:ext cx="196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993300"/>
                  </a:solidFill>
                </a:rPr>
                <a:t>z</a:t>
              </a:r>
              <a:endParaRPr lang="en-US"/>
            </a:p>
          </p:txBody>
        </p:sp>
        <p:sp>
          <p:nvSpPr>
            <p:cNvPr id="13329" name="Text Box 19"/>
            <p:cNvSpPr txBox="1">
              <a:spLocks noChangeArrowheads="1"/>
            </p:cNvSpPr>
            <p:nvPr/>
          </p:nvSpPr>
          <p:spPr bwMode="auto">
            <a:xfrm>
              <a:off x="4172" y="2160"/>
              <a:ext cx="884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006600"/>
                  </a:solidFill>
                </a:rPr>
                <a:t>y</a:t>
              </a:r>
              <a:r>
                <a:rPr lang="en-US" baseline="30000">
                  <a:solidFill>
                    <a:srgbClr val="006600"/>
                  </a:solidFill>
                </a:rPr>
                <a:t>k</a:t>
              </a:r>
              <a:r>
                <a:rPr lang="en-US">
                  <a:solidFill>
                    <a:srgbClr val="006600"/>
                  </a:solidFill>
                </a:rPr>
                <a:t> </a:t>
              </a:r>
              <a:r>
                <a:rPr lang="en-US" sz="1400">
                  <a:solidFill>
                    <a:srgbClr val="006600"/>
                  </a:solidFill>
                </a:rPr>
                <a:t>(for k loops)</a:t>
              </a:r>
              <a:endParaRPr lang="en-US">
                <a:solidFill>
                  <a:srgbClr val="006600"/>
                </a:solidFill>
              </a:endParaRPr>
            </a:p>
          </p:txBody>
        </p:sp>
        <p:sp>
          <p:nvSpPr>
            <p:cNvPr id="13330" name="Text Box 20"/>
            <p:cNvSpPr txBox="1">
              <a:spLocks noChangeArrowheads="1"/>
            </p:cNvSpPr>
            <p:nvPr/>
          </p:nvSpPr>
          <p:spPr bwMode="auto">
            <a:xfrm>
              <a:off x="4272" y="2726"/>
              <a:ext cx="322" cy="2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=p</a:t>
              </a:r>
              <a:r>
                <a:rPr lang="en-US" baseline="-25000"/>
                <a:t>j</a:t>
              </a:r>
            </a:p>
          </p:txBody>
        </p:sp>
        <p:sp>
          <p:nvSpPr>
            <p:cNvPr id="13331" name="AutoShape 21"/>
            <p:cNvSpPr>
              <a:spLocks noChangeArrowheads="1"/>
            </p:cNvSpPr>
            <p:nvPr/>
          </p:nvSpPr>
          <p:spPr bwMode="auto">
            <a:xfrm>
              <a:off x="3072" y="2208"/>
              <a:ext cx="2352" cy="816"/>
            </a:xfrm>
            <a:prstGeom prst="roundRect">
              <a:avLst>
                <a:gd name="adj" fmla="val 16667"/>
              </a:avLst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2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122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22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122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1229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2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9C85CC7-AE31-45F7-8A11-55A0A3D32DB9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43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The Purpose of the Pumping Lemma for RL</a:t>
            </a:r>
          </a:p>
        </p:txBody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To prove that some languages</a:t>
            </a:r>
            <a:r>
              <a:rPr lang="en-US" i="1"/>
              <a:t> cannot be </a:t>
            </a:r>
            <a:r>
              <a:rPr lang="en-US"/>
              <a:t>regular.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CC5309C-B77D-4650-A2DE-FF0B7D4C54FA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How to use the pumping lemma?	</a:t>
            </a:r>
          </a:p>
        </p:txBody>
      </p:sp>
      <p:sp>
        <p:nvSpPr>
          <p:cNvPr id="276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800" dirty="0"/>
              <a:t>Think of playing a 2 person game</a:t>
            </a:r>
          </a:p>
          <a:p>
            <a:pPr marL="1009650" lvl="1" indent="-609600" eaLnBrk="1" hangingPunct="1">
              <a:lnSpc>
                <a:spcPct val="90000"/>
              </a:lnSpc>
            </a:pPr>
            <a:r>
              <a:rPr lang="en-US" sz="2400" u="sng" dirty="0">
                <a:solidFill>
                  <a:srgbClr val="FF0000"/>
                </a:solidFill>
              </a:rPr>
              <a:t>Role 1:</a:t>
            </a:r>
            <a:r>
              <a:rPr lang="en-US" sz="2400" dirty="0">
                <a:solidFill>
                  <a:srgbClr val="FF0000"/>
                </a:solidFill>
              </a:rPr>
              <a:t> 	</a:t>
            </a:r>
            <a:r>
              <a:rPr lang="en-US" sz="2400" b="1" i="1" dirty="0">
                <a:solidFill>
                  <a:srgbClr val="FF0000"/>
                </a:solidFill>
              </a:rPr>
              <a:t>We </a:t>
            </a:r>
            <a:r>
              <a:rPr lang="en-US" sz="2400" dirty="0">
                <a:solidFill>
                  <a:srgbClr val="FF0000"/>
                </a:solidFill>
              </a:rPr>
              <a:t>claim that the language cannot be regular</a:t>
            </a:r>
          </a:p>
          <a:p>
            <a:pPr marL="1009650" lvl="1" indent="-609600" eaLnBrk="1" hangingPunct="1">
              <a:lnSpc>
                <a:spcPct val="90000"/>
              </a:lnSpc>
            </a:pPr>
            <a:endParaRPr lang="en-US" sz="2400" dirty="0"/>
          </a:p>
          <a:p>
            <a:pPr marL="1009650" lvl="1" indent="-609600" eaLnBrk="1" hangingPunct="1">
              <a:lnSpc>
                <a:spcPct val="90000"/>
              </a:lnSpc>
            </a:pPr>
            <a:r>
              <a:rPr lang="en-US" sz="2400" u="sng" dirty="0">
                <a:solidFill>
                  <a:srgbClr val="006600"/>
                </a:solidFill>
              </a:rPr>
              <a:t>Role 2:</a:t>
            </a:r>
            <a:r>
              <a:rPr lang="en-US" sz="2400" dirty="0">
                <a:solidFill>
                  <a:srgbClr val="006600"/>
                </a:solidFill>
              </a:rPr>
              <a:t> 	An </a:t>
            </a:r>
            <a:r>
              <a:rPr lang="en-US" sz="2400" b="1" i="1" dirty="0">
                <a:solidFill>
                  <a:srgbClr val="006600"/>
                </a:solidFill>
              </a:rPr>
              <a:t>adversary</a:t>
            </a:r>
            <a:r>
              <a:rPr lang="en-US" sz="2400" dirty="0">
                <a:solidFill>
                  <a:srgbClr val="006600"/>
                </a:solidFill>
              </a:rPr>
              <a:t> who claims the language is regular</a:t>
            </a:r>
            <a:r>
              <a:rPr lang="en-US" sz="2400" dirty="0"/>
              <a:t>		</a:t>
            </a:r>
          </a:p>
          <a:p>
            <a:pPr marL="1009650" lvl="1" indent="-609600" eaLnBrk="1" hangingPunct="1">
              <a:lnSpc>
                <a:spcPct val="90000"/>
              </a:lnSpc>
            </a:pPr>
            <a:endParaRPr lang="en-US" sz="2400" dirty="0"/>
          </a:p>
          <a:p>
            <a:pPr marL="1009650" lvl="1" indent="-609600" eaLnBrk="1" hangingPunct="1">
              <a:lnSpc>
                <a:spcPct val="90000"/>
              </a:lnSpc>
            </a:pPr>
            <a:r>
              <a:rPr lang="en-US" sz="2400" dirty="0"/>
              <a:t>We show that the adversary’s statement will lead to a contradiction that implies pumping lemma </a:t>
            </a:r>
            <a:r>
              <a:rPr lang="en-US" sz="2400" i="1" dirty="0"/>
              <a:t>cannot</a:t>
            </a:r>
            <a:r>
              <a:rPr lang="en-US" sz="2400" dirty="0"/>
              <a:t> hold for the language.</a:t>
            </a:r>
          </a:p>
          <a:p>
            <a:pPr marL="1009650" lvl="1" indent="-609600" eaLnBrk="1" hangingPunct="1">
              <a:lnSpc>
                <a:spcPct val="90000"/>
              </a:lnSpc>
            </a:pPr>
            <a:endParaRPr lang="en-US" sz="2400" dirty="0"/>
          </a:p>
          <a:p>
            <a:pPr marL="1009650" lvl="1" indent="-609600" eaLnBrk="1" hangingPunct="1">
              <a:lnSpc>
                <a:spcPct val="90000"/>
              </a:lnSpc>
            </a:pPr>
            <a:r>
              <a:rPr lang="en-US" sz="2400" dirty="0"/>
              <a:t>We win!!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76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6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276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276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276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48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F203F53-5E5E-4358-8CDD-FA9FC1C758F5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63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How to use the pumping lemma?	(The Steps)</a:t>
            </a:r>
          </a:p>
        </p:txBody>
      </p:sp>
      <p:sp>
        <p:nvSpPr>
          <p:cNvPr id="276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82688" y="1905000"/>
            <a:ext cx="7772400" cy="4114800"/>
          </a:xfrm>
        </p:spPr>
        <p:txBody>
          <a:bodyPr/>
          <a:lstStyle/>
          <a:p>
            <a:pPr marL="609600" indent="-6096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800" dirty="0">
                <a:solidFill>
                  <a:srgbClr val="FF0000"/>
                </a:solidFill>
              </a:rPr>
              <a:t>(we) L is not regular.</a:t>
            </a:r>
          </a:p>
          <a:p>
            <a:pPr marL="609600" indent="-6096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800" dirty="0">
                <a:solidFill>
                  <a:srgbClr val="008000"/>
                </a:solidFill>
              </a:rPr>
              <a:t>(adv.) Claims that L is regular and gives you a value for N as its P/L constant</a:t>
            </a:r>
          </a:p>
          <a:p>
            <a:pPr marL="609600" indent="-6096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800" dirty="0">
                <a:solidFill>
                  <a:srgbClr val="FF0000"/>
                </a:solidFill>
              </a:rPr>
              <a:t>(we) Using N, choose a string w </a:t>
            </a:r>
            <a:r>
              <a:rPr lang="en-US" sz="2800" dirty="0">
                <a:solidFill>
                  <a:srgbClr val="FF0000"/>
                </a:solidFill>
                <a:sym typeface="Symbol" pitchFamily="28" charset="2"/>
              </a:rPr>
              <a:t></a:t>
            </a:r>
            <a:r>
              <a:rPr lang="en-US" sz="2800" dirty="0">
                <a:solidFill>
                  <a:srgbClr val="FF0000"/>
                </a:solidFill>
              </a:rPr>
              <a:t> L </a:t>
            </a:r>
            <a:r>
              <a:rPr lang="en-US" sz="2800" dirty="0" err="1">
                <a:solidFill>
                  <a:srgbClr val="FF0000"/>
                </a:solidFill>
              </a:rPr>
              <a:t>s.t</a:t>
            </a:r>
            <a:r>
              <a:rPr lang="en-US" sz="2800" dirty="0">
                <a:solidFill>
                  <a:srgbClr val="FF0000"/>
                </a:solidFill>
              </a:rPr>
              <a:t>., </a:t>
            </a: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400" dirty="0">
                <a:solidFill>
                  <a:srgbClr val="FF0000"/>
                </a:solidFill>
              </a:rPr>
              <a:t>|w| ≥ N, </a:t>
            </a: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 sz="2400" dirty="0">
                <a:solidFill>
                  <a:srgbClr val="7030A0"/>
                </a:solidFill>
              </a:rPr>
              <a:t>Using w as the template, construct other words w</a:t>
            </a:r>
            <a:r>
              <a:rPr lang="en-US" sz="2400" baseline="-25000" dirty="0">
                <a:solidFill>
                  <a:srgbClr val="7030A0"/>
                </a:solidFill>
              </a:rPr>
              <a:t>k</a:t>
            </a:r>
            <a:r>
              <a:rPr lang="en-US" sz="2400" dirty="0">
                <a:solidFill>
                  <a:srgbClr val="7030A0"/>
                </a:solidFill>
              </a:rPr>
              <a:t> of the form </a:t>
            </a:r>
            <a:r>
              <a:rPr lang="en-US" sz="2400" dirty="0" err="1">
                <a:solidFill>
                  <a:srgbClr val="7030A0"/>
                </a:solidFill>
              </a:rPr>
              <a:t>xy</a:t>
            </a:r>
            <a:r>
              <a:rPr lang="en-US" sz="2400" baseline="30000" dirty="0" err="1">
                <a:solidFill>
                  <a:srgbClr val="7030A0"/>
                </a:solidFill>
              </a:rPr>
              <a:t>k</a:t>
            </a:r>
            <a:r>
              <a:rPr lang="en-US" sz="2400" dirty="0" err="1">
                <a:solidFill>
                  <a:srgbClr val="7030A0"/>
                </a:solidFill>
              </a:rPr>
              <a:t>z</a:t>
            </a:r>
            <a:r>
              <a:rPr lang="en-US" sz="2400" dirty="0">
                <a:solidFill>
                  <a:srgbClr val="7030A0"/>
                </a:solidFill>
              </a:rPr>
              <a:t> and show that at least one such w</a:t>
            </a:r>
            <a:r>
              <a:rPr lang="en-US" sz="2400" baseline="-25000" dirty="0">
                <a:solidFill>
                  <a:srgbClr val="7030A0"/>
                </a:solidFill>
              </a:rPr>
              <a:t>k</a:t>
            </a:r>
            <a:r>
              <a:rPr lang="en-US" sz="2400" dirty="0">
                <a:solidFill>
                  <a:srgbClr val="7030A0"/>
                </a:solidFill>
              </a:rPr>
              <a:t> </a:t>
            </a:r>
            <a:r>
              <a:rPr lang="en-US" sz="2400" dirty="0">
                <a:solidFill>
                  <a:srgbClr val="7030A0"/>
                </a:solidFill>
                <a:sym typeface="Symbol" pitchFamily="28" charset="2"/>
              </a:rPr>
              <a:t> </a:t>
            </a:r>
            <a:r>
              <a:rPr lang="en-US" sz="2400" dirty="0">
                <a:solidFill>
                  <a:srgbClr val="7030A0"/>
                </a:solidFill>
              </a:rPr>
              <a:t>L </a:t>
            </a:r>
          </a:p>
          <a:p>
            <a:pPr marL="990600" lvl="1" indent="-533400"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400" dirty="0">
                <a:solidFill>
                  <a:srgbClr val="7030A0"/>
                </a:solidFill>
              </a:rPr>
              <a:t>		</a:t>
            </a:r>
            <a:r>
              <a:rPr lang="en-US" sz="2000" dirty="0">
                <a:solidFill>
                  <a:srgbClr val="7030A0"/>
                </a:solidFill>
              </a:rPr>
              <a:t>=&gt; this implies we have successfully broken the pumping lemma for the language, and hence that the adversary is wrong.</a:t>
            </a:r>
          </a:p>
          <a:p>
            <a:pPr marL="990600" lvl="1" indent="-533400"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000" dirty="0">
                <a:solidFill>
                  <a:srgbClr val="FF0000"/>
                </a:solidFill>
              </a:rPr>
              <a:t>(Note: In this process, we may have to try many values of k, starting with k=0, and then 2, 3, .. so on, until w</a:t>
            </a:r>
            <a:r>
              <a:rPr lang="en-US" sz="2000" baseline="-25000" dirty="0">
                <a:solidFill>
                  <a:srgbClr val="FF0000"/>
                </a:solidFill>
              </a:rPr>
              <a:t>k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>
                <a:solidFill>
                  <a:srgbClr val="FF0000"/>
                </a:solidFill>
                <a:sym typeface="Symbol" pitchFamily="28" charset="2"/>
              </a:rPr>
              <a:t> </a:t>
            </a:r>
            <a:r>
              <a:rPr lang="en-US" sz="2000" dirty="0">
                <a:solidFill>
                  <a:srgbClr val="FF0000"/>
                </a:solidFill>
              </a:rPr>
              <a:t>L )</a:t>
            </a:r>
          </a:p>
          <a:p>
            <a:pPr marL="990600" lvl="1" indent="-533400" eaLnBrk="1" hangingPunct="1">
              <a:lnSpc>
                <a:spcPct val="90000"/>
              </a:lnSpc>
              <a:buFont typeface="Wingdings" pitchFamily="28" charset="2"/>
              <a:buNone/>
            </a:pPr>
            <a:endParaRPr lang="en-US" sz="2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76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76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76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76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76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276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3" dur="500"/>
                                        <p:tgtEl>
                                          <p:spTgt spid="276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48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Pumping Lemma 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What WE do?</a:t>
            </a:r>
          </a:p>
          <a:p>
            <a:endParaRPr lang="en-US" dirty="0"/>
          </a:p>
          <a:p>
            <a:endParaRPr lang="en-US" dirty="0"/>
          </a:p>
          <a:p>
            <a:pPr lvl="1">
              <a:buNone/>
            </a:pPr>
            <a:r>
              <a:rPr lang="en-US" sz="2200" dirty="0"/>
              <a:t>3. Using </a:t>
            </a:r>
            <a:r>
              <a:rPr lang="en-US" sz="2200" i="1" dirty="0"/>
              <a:t>N</a:t>
            </a:r>
            <a:r>
              <a:rPr lang="en-US" sz="2200" dirty="0"/>
              <a:t>, we construct our template string </a:t>
            </a:r>
            <a:r>
              <a:rPr lang="en-US" sz="2200" i="1" dirty="0"/>
              <a:t>w</a:t>
            </a:r>
          </a:p>
          <a:p>
            <a:pPr lvl="1">
              <a:buNone/>
            </a:pPr>
            <a:r>
              <a:rPr lang="en-US" sz="2200" dirty="0"/>
              <a:t>4. Demonstrate to the adversary, either through pumping up or down on </a:t>
            </a:r>
            <a:r>
              <a:rPr lang="en-US" sz="2200" i="1" dirty="0"/>
              <a:t>w</a:t>
            </a:r>
            <a:r>
              <a:rPr lang="en-US" sz="2200" dirty="0"/>
              <a:t>, that some string w</a:t>
            </a:r>
            <a:r>
              <a:rPr lang="en-US" sz="2200" baseline="-25000" dirty="0"/>
              <a:t>k</a:t>
            </a:r>
            <a:r>
              <a:rPr lang="en-US" sz="2200" dirty="0"/>
              <a:t> </a:t>
            </a:r>
            <a:r>
              <a:rPr lang="en-US" sz="2200" dirty="0">
                <a:sym typeface="Symbol" pitchFamily="28" charset="2"/>
              </a:rPr>
              <a:t> </a:t>
            </a:r>
            <a:r>
              <a:rPr lang="en-US" sz="2200" dirty="0"/>
              <a:t>L</a:t>
            </a:r>
            <a:br>
              <a:rPr lang="en-US" sz="2200" dirty="0"/>
            </a:br>
            <a:r>
              <a:rPr lang="en-US" sz="2200" dirty="0"/>
              <a:t>(this should happen regardless of w=xyz)</a:t>
            </a:r>
          </a:p>
          <a:p>
            <a:pPr lvl="1">
              <a:buNone/>
            </a:pPr>
            <a:endParaRPr lang="en-US" sz="2200" dirty="0"/>
          </a:p>
          <a:p>
            <a:pPr lvl="1">
              <a:buNone/>
            </a:pPr>
            <a:endParaRPr lang="en-US" sz="2200" i="1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u="sng" dirty="0"/>
              <a:t>What the Adversary does?</a:t>
            </a:r>
          </a:p>
          <a:p>
            <a:pPr marL="914400" lvl="1" indent="-457200">
              <a:buNone/>
            </a:pPr>
            <a:r>
              <a:rPr lang="en-US" sz="2200" dirty="0"/>
              <a:t>1. Claims L is regular</a:t>
            </a:r>
          </a:p>
          <a:p>
            <a:pPr marL="914400" lvl="1" indent="-457200">
              <a:buNone/>
            </a:pPr>
            <a:r>
              <a:rPr lang="en-US" sz="2200" dirty="0"/>
              <a:t>2. Provides </a:t>
            </a:r>
            <a:r>
              <a:rPr lang="en-US" sz="2200" i="1" dirty="0"/>
              <a:t>N</a:t>
            </a:r>
          </a:p>
          <a:p>
            <a:pPr lvl="1"/>
            <a:endParaRPr lang="en-US" sz="2200" i="1" dirty="0"/>
          </a:p>
          <a:p>
            <a:pPr lvl="1"/>
            <a:endParaRPr lang="en-US" sz="2200" i="1" dirty="0"/>
          </a:p>
          <a:p>
            <a:pPr lvl="1">
              <a:buNone/>
            </a:pPr>
            <a:endParaRPr lang="en-US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28600" y="0"/>
            <a:ext cx="79433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We don’t have any control over N, except that it is positive.</a:t>
            </a:r>
            <a:br>
              <a:rPr lang="en-US" dirty="0"/>
            </a:br>
            <a:r>
              <a:rPr lang="en-US" dirty="0"/>
              <a:t>	We also don’t have any control over how to split w=xyz, </a:t>
            </a:r>
            <a:br>
              <a:rPr lang="en-US" dirty="0"/>
            </a:br>
            <a:r>
              <a:rPr lang="en-US" dirty="0"/>
              <a:t>		but xyz should respect the P/L conditions (1) and (2).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9AD203E-8B15-4A53-BCE4-421760DB6916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74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000"/>
              <a:t>Example of using the Pumping Lemma to prove that a language is not regular</a:t>
            </a:r>
            <a:endParaRPr lang="en-US"/>
          </a:p>
        </p:txBody>
      </p:sp>
      <p:sp>
        <p:nvSpPr>
          <p:cNvPr id="1935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82688" y="1828800"/>
            <a:ext cx="7772400" cy="4114800"/>
          </a:xfrm>
        </p:spPr>
        <p:txBody>
          <a:bodyPr/>
          <a:lstStyle/>
          <a:p>
            <a:pPr marL="533400" indent="-533400"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400" b="1">
                <a:solidFill>
                  <a:srgbClr val="FF0000"/>
                </a:solidFill>
              </a:rPr>
              <a:t>Let L</a:t>
            </a:r>
            <a:r>
              <a:rPr lang="en-US" sz="2400" b="1" baseline="-25000">
                <a:solidFill>
                  <a:srgbClr val="FF0000"/>
                </a:solidFill>
              </a:rPr>
              <a:t>eq</a:t>
            </a:r>
            <a:r>
              <a:rPr lang="en-US" sz="2400" b="1">
                <a:solidFill>
                  <a:srgbClr val="FF0000"/>
                </a:solidFill>
              </a:rPr>
              <a:t> = {w | w is a binary string with equal number of 1s and 0s} </a:t>
            </a:r>
          </a:p>
          <a:p>
            <a:pPr marL="533400" indent="-533400" eaLnBrk="1" hangingPunct="1">
              <a:lnSpc>
                <a:spcPct val="90000"/>
              </a:lnSpc>
            </a:pPr>
            <a:r>
              <a:rPr lang="en-US" sz="2400" u="sng"/>
              <a:t>Your Claim:</a:t>
            </a:r>
            <a:r>
              <a:rPr lang="en-US" sz="2400"/>
              <a:t> L</a:t>
            </a:r>
            <a:r>
              <a:rPr lang="en-US" sz="2400" baseline="-25000"/>
              <a:t>eq</a:t>
            </a:r>
            <a:r>
              <a:rPr lang="en-US" sz="2400"/>
              <a:t> is not regular</a:t>
            </a:r>
          </a:p>
          <a:p>
            <a:pPr marL="533400" indent="-533400" eaLnBrk="1" hangingPunct="1">
              <a:lnSpc>
                <a:spcPct val="90000"/>
              </a:lnSpc>
            </a:pPr>
            <a:r>
              <a:rPr lang="en-US" sz="2400" u="sng"/>
              <a:t>Proof: </a:t>
            </a:r>
            <a:endParaRPr lang="en-US" sz="2400"/>
          </a:p>
          <a:p>
            <a:pPr marL="914400" lvl="1" indent="-457200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2200"/>
              <a:t>By contradiction, let L</a:t>
            </a:r>
            <a:r>
              <a:rPr lang="en-US" sz="2200" baseline="-25000"/>
              <a:t>eq</a:t>
            </a:r>
            <a:r>
              <a:rPr lang="en-US" sz="2200"/>
              <a:t> be regular</a:t>
            </a:r>
          </a:p>
          <a:p>
            <a:pPr marL="914400" lvl="1" indent="-457200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2200"/>
              <a:t>P/L constant should exist</a:t>
            </a:r>
          </a:p>
          <a:p>
            <a:pPr marL="1295400" lvl="2" indent="-381000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2000"/>
              <a:t>Let </a:t>
            </a:r>
            <a:r>
              <a:rPr lang="en-US" sz="2000" i="1"/>
              <a:t>N</a:t>
            </a:r>
            <a:r>
              <a:rPr lang="en-US" sz="2000"/>
              <a:t> = that P/L constant</a:t>
            </a:r>
          </a:p>
          <a:p>
            <a:pPr marL="914400" lvl="1" indent="-457200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2200"/>
              <a:t>Consider input w = 0</a:t>
            </a:r>
            <a:r>
              <a:rPr lang="en-US" sz="2200" baseline="30000"/>
              <a:t>N</a:t>
            </a:r>
            <a:r>
              <a:rPr lang="en-US" sz="2200"/>
              <a:t>1</a:t>
            </a:r>
            <a:r>
              <a:rPr lang="en-US" sz="2200" baseline="30000"/>
              <a:t>N</a:t>
            </a:r>
            <a:r>
              <a:rPr lang="en-US" sz="2200"/>
              <a:t>    </a:t>
            </a:r>
            <a:br>
              <a:rPr lang="en-US" sz="2200"/>
            </a:br>
            <a:r>
              <a:rPr lang="en-US" sz="2200"/>
              <a:t>	</a:t>
            </a:r>
            <a:r>
              <a:rPr lang="en-US" sz="2200" i="1"/>
              <a:t>(your choice for the template string)</a:t>
            </a:r>
          </a:p>
          <a:p>
            <a:pPr marL="914400" lvl="1" indent="-457200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2200"/>
              <a:t>By pumping lemma, we should be able to break w=</a:t>
            </a:r>
            <a:r>
              <a:rPr lang="en-US" sz="2200">
                <a:solidFill>
                  <a:schemeClr val="hlink"/>
                </a:solidFill>
              </a:rPr>
              <a:t>x</a:t>
            </a:r>
            <a:r>
              <a:rPr lang="en-US" sz="2200">
                <a:solidFill>
                  <a:srgbClr val="006600"/>
                </a:solidFill>
              </a:rPr>
              <a:t>y</a:t>
            </a:r>
            <a:r>
              <a:rPr lang="en-US" sz="2200">
                <a:solidFill>
                  <a:srgbClr val="993300"/>
                </a:solidFill>
              </a:rPr>
              <a:t>z</a:t>
            </a:r>
            <a:r>
              <a:rPr lang="en-US" sz="2200"/>
              <a:t>, such that:</a:t>
            </a:r>
            <a:endParaRPr lang="en-US" sz="2400"/>
          </a:p>
          <a:p>
            <a:pPr marL="1295400" lvl="2" indent="-381000" eaLnBrk="1" hangingPunct="1">
              <a:lnSpc>
                <a:spcPct val="90000"/>
              </a:lnSpc>
              <a:buFont typeface="Arial" charset="0"/>
              <a:buAutoNum type="arabicParenR"/>
            </a:pPr>
            <a:r>
              <a:rPr lang="en-US" sz="1800">
                <a:solidFill>
                  <a:srgbClr val="006600"/>
                </a:solidFill>
              </a:rPr>
              <a:t>y</a:t>
            </a:r>
            <a:r>
              <a:rPr lang="en-US" sz="1800"/>
              <a:t>≠ </a:t>
            </a:r>
            <a:r>
              <a:rPr lang="en-US" sz="2000" i="1">
                <a:sym typeface="Symbol" pitchFamily="28" charset="2"/>
              </a:rPr>
              <a:t></a:t>
            </a:r>
            <a:endParaRPr lang="en-US" sz="1800">
              <a:ea typeface="ＭＳ Ｐゴシック" pitchFamily="28" charset="-128"/>
            </a:endParaRPr>
          </a:p>
          <a:p>
            <a:pPr marL="1295400" lvl="2" indent="-381000" eaLnBrk="1" hangingPunct="1">
              <a:lnSpc>
                <a:spcPct val="90000"/>
              </a:lnSpc>
              <a:buFont typeface="Arial" charset="0"/>
              <a:buAutoNum type="arabicParenR"/>
            </a:pPr>
            <a:r>
              <a:rPr lang="en-US" sz="1800">
                <a:ea typeface="ＭＳ Ｐゴシック" pitchFamily="28" charset="-128"/>
              </a:rPr>
              <a:t>|</a:t>
            </a:r>
            <a:r>
              <a:rPr lang="en-US" sz="1800">
                <a:solidFill>
                  <a:schemeClr val="hlink"/>
                </a:solidFill>
                <a:ea typeface="ＭＳ Ｐゴシック" pitchFamily="28" charset="-128"/>
              </a:rPr>
              <a:t>x</a:t>
            </a:r>
            <a:r>
              <a:rPr lang="en-US" sz="1800">
                <a:solidFill>
                  <a:srgbClr val="006600"/>
                </a:solidFill>
                <a:ea typeface="ＭＳ Ｐゴシック" pitchFamily="28" charset="-128"/>
              </a:rPr>
              <a:t>y</a:t>
            </a:r>
            <a:r>
              <a:rPr lang="en-US" sz="1800">
                <a:ea typeface="ＭＳ Ｐゴシック" pitchFamily="28" charset="-128"/>
              </a:rPr>
              <a:t>|≤N</a:t>
            </a:r>
          </a:p>
          <a:p>
            <a:pPr marL="1295400" lvl="2" indent="-381000" eaLnBrk="1" hangingPunct="1">
              <a:lnSpc>
                <a:spcPct val="90000"/>
              </a:lnSpc>
              <a:buFont typeface="Arial" charset="0"/>
              <a:buAutoNum type="arabicParenR"/>
            </a:pPr>
            <a:r>
              <a:rPr lang="en-US" sz="1800">
                <a:ea typeface="ＭＳ Ｐゴシック" pitchFamily="28" charset="-128"/>
              </a:rPr>
              <a:t>For all k</a:t>
            </a:r>
            <a:r>
              <a:rPr lang="en-US" sz="1800"/>
              <a:t>≥0, the string </a:t>
            </a:r>
            <a:r>
              <a:rPr lang="en-US" sz="1800">
                <a:solidFill>
                  <a:schemeClr val="hlink"/>
                </a:solidFill>
              </a:rPr>
              <a:t>x</a:t>
            </a:r>
            <a:r>
              <a:rPr lang="en-US" sz="1800">
                <a:solidFill>
                  <a:srgbClr val="006600"/>
                </a:solidFill>
              </a:rPr>
              <a:t>y</a:t>
            </a:r>
            <a:r>
              <a:rPr lang="en-US" sz="1800" baseline="30000">
                <a:solidFill>
                  <a:srgbClr val="006600"/>
                </a:solidFill>
              </a:rPr>
              <a:t>k</a:t>
            </a:r>
            <a:r>
              <a:rPr lang="en-US" sz="1800">
                <a:solidFill>
                  <a:srgbClr val="993300"/>
                </a:solidFill>
              </a:rPr>
              <a:t>z</a:t>
            </a:r>
            <a:r>
              <a:rPr lang="en-US" sz="1800"/>
              <a:t> is also in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0" y="3276600"/>
            <a:ext cx="960438" cy="3381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  <a:sym typeface="Wingdings" pitchFamily="2" charset="2"/>
              </a:rPr>
              <a:t> </a:t>
            </a: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</a:rPr>
              <a:t>adv.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8077200" y="4386263"/>
            <a:ext cx="854075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 b="1" u="sng">
                <a:solidFill>
                  <a:srgbClr val="FF0000"/>
                </a:solidFill>
                <a:sym typeface="Wingdings" pitchFamily="28" charset="2"/>
              </a:rPr>
              <a:t> </a:t>
            </a:r>
            <a:r>
              <a:rPr lang="en-US" sz="1600" b="1" u="sng">
                <a:solidFill>
                  <a:srgbClr val="FF0000"/>
                </a:solidFill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7200" y="3776663"/>
            <a:ext cx="884238" cy="33813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>
              <a:defRPr/>
            </a:pP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  <a:sym typeface="Wingdings" pitchFamily="2" charset="2"/>
              </a:rPr>
              <a:t> </a:t>
            </a:r>
            <a:r>
              <a:rPr lang="en-US" sz="1600" b="1" u="sng" dirty="0">
                <a:solidFill>
                  <a:schemeClr val="accent1">
                    <a:lumMod val="50000"/>
                  </a:schemeClr>
                </a:solidFill>
              </a:rPr>
              <a:t>adv.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8153400" y="5072063"/>
            <a:ext cx="777875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sz="1600" b="1" u="sng">
                <a:solidFill>
                  <a:srgbClr val="FF0000"/>
                </a:solidFill>
                <a:sym typeface="Wingdings" pitchFamily="28" charset="2"/>
              </a:rPr>
              <a:t></a:t>
            </a:r>
            <a:r>
              <a:rPr lang="en-US" sz="1600" b="1" u="sng">
                <a:solidFill>
                  <a:srgbClr val="FF0000"/>
                </a:solidFill>
              </a:rPr>
              <a:t>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52400"/>
            <a:ext cx="9080500" cy="708025"/>
          </a:xfrm>
          <a:prstGeom prst="rect">
            <a:avLst/>
          </a:prstGeom>
          <a:solidFill>
            <a:schemeClr val="accent2"/>
          </a:solidFill>
          <a:ln>
            <a:prstDash val="dash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u="sng" dirty="0"/>
              <a:t>Note: </a:t>
            </a:r>
            <a:r>
              <a:rPr lang="en-US" dirty="0"/>
              <a:t>This N can be anything (need not necessarily be the #states in the DFA. </a:t>
            </a:r>
            <a:br>
              <a:rPr lang="en-US" dirty="0"/>
            </a:br>
            <a:r>
              <a:rPr lang="en-US" dirty="0"/>
              <a:t>		It’s the adversary’s choice.)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5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539" grpId="0" build="p"/>
      <p:bldP spid="5" grpId="0"/>
      <p:bldP spid="6" grpId="0"/>
      <p:bldP spid="7" grpId="0"/>
      <p:bldP spid="8" grpId="0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0F341DB-4AEC-4583-A986-BB8DFB5E4602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Proof…		</a:t>
            </a:r>
            <a:endParaRPr lang="en-US" sz="2000"/>
          </a:p>
        </p:txBody>
      </p:sp>
      <p:sp>
        <p:nvSpPr>
          <p:cNvPr id="1945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990600" lvl="1" indent="-533400" eaLnBrk="1" hangingPunct="1">
              <a:buFont typeface="Wingdings" pitchFamily="28" charset="2"/>
              <a:buChar char="Ø"/>
            </a:pPr>
            <a:r>
              <a:rPr lang="en-US" sz="2200"/>
              <a:t>Because </a:t>
            </a:r>
            <a:r>
              <a:rPr lang="en-US" sz="2400">
                <a:ea typeface="ＭＳ Ｐゴシック" pitchFamily="28" charset="-128"/>
              </a:rPr>
              <a:t>|</a:t>
            </a:r>
            <a:r>
              <a:rPr lang="en-US" sz="2400">
                <a:solidFill>
                  <a:schemeClr val="hlink"/>
                </a:solidFill>
                <a:ea typeface="ＭＳ Ｐゴシック" pitchFamily="28" charset="-128"/>
              </a:rPr>
              <a:t>x</a:t>
            </a:r>
            <a:r>
              <a:rPr lang="en-US" sz="2400">
                <a:solidFill>
                  <a:srgbClr val="006600"/>
                </a:solidFill>
                <a:ea typeface="ＭＳ Ｐゴシック" pitchFamily="28" charset="-128"/>
              </a:rPr>
              <a:t>y</a:t>
            </a:r>
            <a:r>
              <a:rPr lang="en-US" sz="2400">
                <a:ea typeface="ＭＳ Ｐゴシック" pitchFamily="28" charset="-128"/>
              </a:rPr>
              <a:t>|≤N</a:t>
            </a:r>
            <a:r>
              <a:rPr lang="en-US" sz="2200"/>
              <a:t>, </a:t>
            </a:r>
            <a:r>
              <a:rPr lang="en-US" sz="2200">
                <a:solidFill>
                  <a:schemeClr val="hlink"/>
                </a:solidFill>
                <a:ea typeface="ＭＳ Ｐゴシック" pitchFamily="28" charset="-128"/>
              </a:rPr>
              <a:t>x</a:t>
            </a:r>
            <a:r>
              <a:rPr lang="en-US" sz="2200">
                <a:solidFill>
                  <a:srgbClr val="006600"/>
                </a:solidFill>
                <a:ea typeface="ＭＳ Ｐゴシック" pitchFamily="28" charset="-128"/>
              </a:rPr>
              <a:t>y</a:t>
            </a:r>
            <a:r>
              <a:rPr lang="en-US" sz="2200"/>
              <a:t> should contain only 0s</a:t>
            </a:r>
          </a:p>
          <a:p>
            <a:pPr marL="1390650" lvl="2" indent="-533400" eaLnBrk="1" hangingPunct="1">
              <a:buFont typeface="Wingdings" pitchFamily="28" charset="2"/>
              <a:buChar char="Ø"/>
            </a:pPr>
            <a:r>
              <a:rPr lang="en-US" sz="1800"/>
              <a:t>(This and because </a:t>
            </a:r>
            <a:r>
              <a:rPr lang="en-US" sz="2000">
                <a:solidFill>
                  <a:srgbClr val="006600"/>
                </a:solidFill>
              </a:rPr>
              <a:t>y</a:t>
            </a:r>
            <a:r>
              <a:rPr lang="en-US" sz="2000"/>
              <a:t>≠ </a:t>
            </a:r>
            <a:r>
              <a:rPr lang="en-US" sz="2000" i="1">
                <a:sym typeface="Symbol" pitchFamily="28" charset="2"/>
              </a:rPr>
              <a:t></a:t>
            </a:r>
            <a:r>
              <a:rPr lang="en-US" sz="2000">
                <a:ea typeface="ＭＳ Ｐゴシック" pitchFamily="28" charset="-128"/>
                <a:sym typeface="Symbol" pitchFamily="28" charset="2"/>
              </a:rPr>
              <a:t>,</a:t>
            </a:r>
            <a:r>
              <a:rPr lang="en-US" sz="1800"/>
              <a:t>  implies</a:t>
            </a:r>
            <a:r>
              <a:rPr lang="en-US" sz="1800">
                <a:solidFill>
                  <a:srgbClr val="006600"/>
                </a:solidFill>
                <a:ea typeface="ＭＳ Ｐゴシック" pitchFamily="28" charset="-128"/>
              </a:rPr>
              <a:t> y=0</a:t>
            </a:r>
            <a:r>
              <a:rPr lang="en-US" sz="1800" baseline="30000">
                <a:solidFill>
                  <a:srgbClr val="006600"/>
                </a:solidFill>
                <a:ea typeface="ＭＳ Ｐゴシック" pitchFamily="28" charset="-128"/>
              </a:rPr>
              <a:t>+</a:t>
            </a:r>
            <a:r>
              <a:rPr lang="en-US" sz="1800"/>
              <a:t>)</a:t>
            </a:r>
          </a:p>
          <a:p>
            <a:pPr marL="990600" lvl="1" indent="-533400" eaLnBrk="1" hangingPunct="1">
              <a:buFont typeface="Wingdings" pitchFamily="28" charset="2"/>
              <a:buChar char="Ø"/>
            </a:pPr>
            <a:r>
              <a:rPr lang="en-US" sz="2200"/>
              <a:t>Therefore </a:t>
            </a:r>
            <a:r>
              <a:rPr lang="en-US" sz="2200">
                <a:solidFill>
                  <a:schemeClr val="hlink"/>
                </a:solidFill>
                <a:ea typeface="ＭＳ Ｐゴシック" pitchFamily="28" charset="-128"/>
              </a:rPr>
              <a:t>x </a:t>
            </a:r>
            <a:r>
              <a:rPr lang="en-US" sz="2200"/>
              <a:t>can contain </a:t>
            </a:r>
            <a:r>
              <a:rPr lang="en-US" sz="2200" i="1"/>
              <a:t>at most</a:t>
            </a:r>
            <a:r>
              <a:rPr lang="en-US" sz="2200"/>
              <a:t> N-1 0s</a:t>
            </a:r>
          </a:p>
          <a:p>
            <a:pPr marL="990600" lvl="1" indent="-533400" eaLnBrk="1" hangingPunct="1">
              <a:buFont typeface="Wingdings" pitchFamily="28" charset="2"/>
              <a:buChar char="Ø"/>
            </a:pPr>
            <a:r>
              <a:rPr lang="en-US" sz="2200"/>
              <a:t>Also, all the N 1s must be inside </a:t>
            </a:r>
            <a:r>
              <a:rPr lang="en-US" sz="2200">
                <a:solidFill>
                  <a:srgbClr val="993300"/>
                </a:solidFill>
              </a:rPr>
              <a:t>z</a:t>
            </a:r>
            <a:endParaRPr lang="en-US" sz="2200"/>
          </a:p>
          <a:p>
            <a:pPr marL="990600" lvl="1" indent="-533400" eaLnBrk="1" hangingPunct="1">
              <a:buFont typeface="Wingdings" pitchFamily="28" charset="2"/>
              <a:buChar char="Ø"/>
            </a:pPr>
            <a:r>
              <a:rPr lang="en-US" sz="2200"/>
              <a:t>By (3), any string of the form </a:t>
            </a:r>
            <a:r>
              <a:rPr lang="en-US" sz="2200">
                <a:solidFill>
                  <a:schemeClr val="hlink"/>
                </a:solidFill>
              </a:rPr>
              <a:t>x</a:t>
            </a:r>
            <a:r>
              <a:rPr lang="en-US" sz="2200">
                <a:solidFill>
                  <a:srgbClr val="006600"/>
                </a:solidFill>
              </a:rPr>
              <a:t>y</a:t>
            </a:r>
            <a:r>
              <a:rPr lang="en-US" sz="2200" baseline="30000">
                <a:solidFill>
                  <a:srgbClr val="006600"/>
                </a:solidFill>
              </a:rPr>
              <a:t>k</a:t>
            </a:r>
            <a:r>
              <a:rPr lang="en-US" sz="2200">
                <a:solidFill>
                  <a:srgbClr val="993300"/>
                </a:solidFill>
              </a:rPr>
              <a:t>z</a:t>
            </a:r>
            <a:r>
              <a:rPr lang="en-US" sz="2200"/>
              <a:t> </a:t>
            </a:r>
            <a:r>
              <a:rPr lang="en-US" sz="2200">
                <a:sym typeface="Symbol" pitchFamily="28" charset="2"/>
              </a:rPr>
              <a:t></a:t>
            </a:r>
            <a:r>
              <a:rPr lang="en-US" sz="2200"/>
              <a:t> L</a:t>
            </a:r>
            <a:r>
              <a:rPr lang="en-US" sz="2200" baseline="-25000"/>
              <a:t>eq</a:t>
            </a:r>
            <a:r>
              <a:rPr lang="en-US" sz="2200"/>
              <a:t> for all </a:t>
            </a:r>
            <a:r>
              <a:rPr lang="en-US" sz="2200">
                <a:ea typeface="ＭＳ Ｐゴシック" pitchFamily="28" charset="-128"/>
              </a:rPr>
              <a:t>k</a:t>
            </a:r>
            <a:r>
              <a:rPr lang="en-US" sz="2200"/>
              <a:t>≥0 </a:t>
            </a:r>
          </a:p>
          <a:p>
            <a:pPr marL="990600" lvl="1" indent="-533400" eaLnBrk="1" hangingPunct="1">
              <a:buFont typeface="Wingdings" pitchFamily="28" charset="2"/>
              <a:buChar char="Ø"/>
            </a:pPr>
            <a:r>
              <a:rPr lang="en-US" sz="2200" u="sng"/>
              <a:t>Case k=0:</a:t>
            </a:r>
            <a:r>
              <a:rPr lang="en-US" sz="2200"/>
              <a:t> </a:t>
            </a:r>
            <a:r>
              <a:rPr lang="en-US" sz="2200">
                <a:solidFill>
                  <a:schemeClr val="hlink"/>
                </a:solidFill>
                <a:ea typeface="ＭＳ Ｐゴシック" pitchFamily="28" charset="-128"/>
              </a:rPr>
              <a:t>x</a:t>
            </a:r>
            <a:r>
              <a:rPr lang="en-US" sz="2200">
                <a:solidFill>
                  <a:srgbClr val="993300"/>
                </a:solidFill>
              </a:rPr>
              <a:t>z </a:t>
            </a:r>
            <a:r>
              <a:rPr lang="en-US" sz="2200"/>
              <a:t>has at most N-1 0s but has N 1s</a:t>
            </a:r>
          </a:p>
          <a:p>
            <a:pPr marL="990600" lvl="1" indent="-533400" eaLnBrk="1" hangingPunct="1">
              <a:buFont typeface="Wingdings" pitchFamily="28" charset="2"/>
              <a:buChar char="Ø"/>
            </a:pPr>
            <a:r>
              <a:rPr lang="en-US" sz="2200"/>
              <a:t>Therefore, </a:t>
            </a:r>
            <a:r>
              <a:rPr lang="en-US" sz="2200">
                <a:solidFill>
                  <a:schemeClr val="hlink"/>
                </a:solidFill>
              </a:rPr>
              <a:t>x</a:t>
            </a:r>
            <a:r>
              <a:rPr lang="en-US" sz="2200">
                <a:solidFill>
                  <a:srgbClr val="006600"/>
                </a:solidFill>
              </a:rPr>
              <a:t>y</a:t>
            </a:r>
            <a:r>
              <a:rPr lang="en-US" sz="2200" baseline="30000">
                <a:solidFill>
                  <a:srgbClr val="006600"/>
                </a:solidFill>
              </a:rPr>
              <a:t>0</a:t>
            </a:r>
            <a:r>
              <a:rPr lang="en-US" sz="2200">
                <a:solidFill>
                  <a:srgbClr val="993300"/>
                </a:solidFill>
              </a:rPr>
              <a:t>z</a:t>
            </a:r>
            <a:r>
              <a:rPr lang="en-US" sz="2200"/>
              <a:t> </a:t>
            </a:r>
            <a:r>
              <a:rPr lang="en-US" sz="2200">
                <a:sym typeface="Symbol" pitchFamily="28" charset="2"/>
              </a:rPr>
              <a:t></a:t>
            </a:r>
            <a:r>
              <a:rPr lang="en-US" sz="2200"/>
              <a:t> L</a:t>
            </a:r>
            <a:r>
              <a:rPr lang="en-US" sz="2200" baseline="-25000"/>
              <a:t>eq</a:t>
            </a:r>
            <a:endParaRPr lang="en-US" sz="2200"/>
          </a:p>
          <a:p>
            <a:pPr marL="990600" lvl="1" indent="-533400" eaLnBrk="1" hangingPunct="1">
              <a:buFont typeface="Wingdings" pitchFamily="28" charset="2"/>
              <a:buChar char="Ø"/>
            </a:pPr>
            <a:r>
              <a:rPr lang="en-US" sz="2200"/>
              <a:t>This violates the P/L (a contradiction)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162800" y="4800600"/>
            <a:ext cx="304800" cy="381000"/>
            <a:chOff x="3072" y="3840"/>
            <a:chExt cx="192" cy="240"/>
          </a:xfrm>
        </p:grpSpPr>
        <p:grpSp>
          <p:nvGrpSpPr>
            <p:cNvPr id="18450" name="Group 5"/>
            <p:cNvGrpSpPr>
              <a:grpSpLocks/>
            </p:cNvGrpSpPr>
            <p:nvPr/>
          </p:nvGrpSpPr>
          <p:grpSpPr bwMode="auto">
            <a:xfrm>
              <a:off x="3120" y="3840"/>
              <a:ext cx="96" cy="240"/>
              <a:chOff x="3120" y="3840"/>
              <a:chExt cx="96" cy="240"/>
            </a:xfrm>
          </p:grpSpPr>
          <p:sp>
            <p:nvSpPr>
              <p:cNvPr id="18452" name="Line 6"/>
              <p:cNvSpPr>
                <a:spLocks noChangeShapeType="1"/>
              </p:cNvSpPr>
              <p:nvPr/>
            </p:nvSpPr>
            <p:spPr bwMode="auto">
              <a:xfrm flipH="1">
                <a:off x="3120" y="3840"/>
                <a:ext cx="48" cy="96"/>
              </a:xfrm>
              <a:prstGeom prst="line">
                <a:avLst/>
              </a:prstGeom>
              <a:noFill/>
              <a:ln w="22225">
                <a:solidFill>
                  <a:schemeClr val="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53" name="Line 7"/>
              <p:cNvSpPr>
                <a:spLocks noChangeShapeType="1"/>
              </p:cNvSpPr>
              <p:nvPr/>
            </p:nvSpPr>
            <p:spPr bwMode="auto">
              <a:xfrm>
                <a:off x="3120" y="3936"/>
                <a:ext cx="96" cy="48"/>
              </a:xfrm>
              <a:prstGeom prst="line">
                <a:avLst/>
              </a:prstGeom>
              <a:noFill/>
              <a:ln w="22225">
                <a:solidFill>
                  <a:schemeClr val="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454" name="Line 8"/>
              <p:cNvSpPr>
                <a:spLocks noChangeShapeType="1"/>
              </p:cNvSpPr>
              <p:nvPr/>
            </p:nvSpPr>
            <p:spPr bwMode="auto">
              <a:xfrm flipH="1">
                <a:off x="3120" y="3984"/>
                <a:ext cx="96" cy="96"/>
              </a:xfrm>
              <a:prstGeom prst="line">
                <a:avLst/>
              </a:prstGeom>
              <a:noFill/>
              <a:ln w="22225">
                <a:solidFill>
                  <a:schemeClr val="hlink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8451" name="Line 9"/>
            <p:cNvSpPr>
              <a:spLocks noChangeShapeType="1"/>
            </p:cNvSpPr>
            <p:nvPr/>
          </p:nvSpPr>
          <p:spPr bwMode="auto">
            <a:xfrm>
              <a:off x="3072" y="3936"/>
              <a:ext cx="192" cy="0"/>
            </a:xfrm>
            <a:prstGeom prst="line">
              <a:avLst/>
            </a:prstGeom>
            <a:noFill/>
            <a:ln w="1905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94570" name="Text Box 10"/>
          <p:cNvSpPr txBox="1">
            <a:spLocks noChangeArrowheads="1"/>
          </p:cNvSpPr>
          <p:nvPr/>
        </p:nvSpPr>
        <p:spPr bwMode="auto">
          <a:xfrm>
            <a:off x="1676400" y="5562600"/>
            <a:ext cx="6400800" cy="1006475"/>
          </a:xfrm>
          <a:prstGeom prst="rect">
            <a:avLst/>
          </a:prstGeom>
          <a:solidFill>
            <a:srgbClr val="FFCC99"/>
          </a:solidFill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>
                <a:solidFill>
                  <a:schemeClr val="tx2"/>
                </a:solidFill>
              </a:rPr>
              <a:t>Another way of proving this will be to show that if </a:t>
            </a:r>
            <a:br>
              <a:rPr lang="en-US">
                <a:solidFill>
                  <a:schemeClr val="tx2"/>
                </a:solidFill>
              </a:rPr>
            </a:br>
            <a:r>
              <a:rPr lang="en-US">
                <a:solidFill>
                  <a:schemeClr val="tx2"/>
                </a:solidFill>
              </a:rPr>
              <a:t>the #0s is arbitrarily pumped up (e.g., k=2),</a:t>
            </a:r>
            <a:br>
              <a:rPr lang="en-US">
                <a:solidFill>
                  <a:schemeClr val="tx2"/>
                </a:solidFill>
              </a:rPr>
            </a:br>
            <a:r>
              <a:rPr lang="en-US">
                <a:solidFill>
                  <a:schemeClr val="tx2"/>
                </a:solidFill>
              </a:rPr>
              <a:t>then the #0s will become exceed the #1s </a:t>
            </a:r>
          </a:p>
        </p:txBody>
      </p:sp>
      <p:sp>
        <p:nvSpPr>
          <p:cNvPr id="18439" name="TextBox 11"/>
          <p:cNvSpPr txBox="1">
            <a:spLocks noChangeArrowheads="1"/>
          </p:cNvSpPr>
          <p:nvPr/>
        </p:nvSpPr>
        <p:spPr bwMode="auto">
          <a:xfrm>
            <a:off x="8229600" y="2057400"/>
            <a:ext cx="8255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 b="1" u="sng">
                <a:solidFill>
                  <a:srgbClr val="FF0000"/>
                </a:solidFill>
                <a:sym typeface="Wingdings" pitchFamily="28" charset="2"/>
              </a:rPr>
              <a:t> </a:t>
            </a:r>
            <a:r>
              <a:rPr lang="en-US" sz="1600" b="1" u="sng">
                <a:solidFill>
                  <a:srgbClr val="FF0000"/>
                </a:solidFill>
              </a:rPr>
              <a:t>you</a:t>
            </a:r>
          </a:p>
        </p:txBody>
      </p:sp>
      <p:cxnSp>
        <p:nvCxnSpPr>
          <p:cNvPr id="18440" name="Straight Arrow Connector 15"/>
          <p:cNvCxnSpPr>
            <a:cxnSpLocks noChangeShapeType="1"/>
          </p:cNvCxnSpPr>
          <p:nvPr/>
        </p:nvCxnSpPr>
        <p:spPr bwMode="auto">
          <a:xfrm flipH="1">
            <a:off x="8610600" y="2362200"/>
            <a:ext cx="31750" cy="28956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</p:spPr>
      </p:cxnSp>
      <p:sp>
        <p:nvSpPr>
          <p:cNvPr id="18441" name="TextBox 14"/>
          <p:cNvSpPr txBox="1">
            <a:spLocks noChangeArrowheads="1"/>
          </p:cNvSpPr>
          <p:nvPr/>
        </p:nvSpPr>
        <p:spPr bwMode="auto">
          <a:xfrm>
            <a:off x="2209800" y="304800"/>
            <a:ext cx="5707063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rgbClr val="C00000"/>
                </a:solidFill>
              </a:rPr>
              <a:t>Template string w = 0</a:t>
            </a:r>
            <a:r>
              <a:rPr lang="en-US" baseline="30000">
                <a:solidFill>
                  <a:srgbClr val="C00000"/>
                </a:solidFill>
              </a:rPr>
              <a:t>N</a:t>
            </a:r>
            <a:r>
              <a:rPr lang="en-US">
                <a:solidFill>
                  <a:srgbClr val="C00000"/>
                </a:solidFill>
              </a:rPr>
              <a:t>1</a:t>
            </a:r>
            <a:r>
              <a:rPr lang="en-US" baseline="30000">
                <a:solidFill>
                  <a:srgbClr val="C00000"/>
                </a:solidFill>
              </a:rPr>
              <a:t>N  </a:t>
            </a:r>
            <a:r>
              <a:rPr lang="en-US">
                <a:solidFill>
                  <a:srgbClr val="C00000"/>
                </a:solidFill>
              </a:rPr>
              <a:t>= 00  ….     011  …    1</a:t>
            </a:r>
          </a:p>
        </p:txBody>
      </p:sp>
      <p:cxnSp>
        <p:nvCxnSpPr>
          <p:cNvPr id="18442" name="Straight Arrow Connector 18"/>
          <p:cNvCxnSpPr>
            <a:cxnSpLocks noChangeShapeType="1"/>
          </p:cNvCxnSpPr>
          <p:nvPr/>
        </p:nvCxnSpPr>
        <p:spPr bwMode="auto">
          <a:xfrm flipH="1">
            <a:off x="5410200" y="685800"/>
            <a:ext cx="381000" cy="0"/>
          </a:xfrm>
          <a:prstGeom prst="straightConnector1">
            <a:avLst/>
          </a:prstGeom>
          <a:noFill/>
          <a:ln w="9525" algn="ctr">
            <a:solidFill>
              <a:srgbClr val="C00000"/>
            </a:solidFill>
            <a:round/>
            <a:headEnd/>
            <a:tailEnd type="arrow" w="med" len="med"/>
          </a:ln>
        </p:spPr>
      </p:cxnSp>
      <p:cxnSp>
        <p:nvCxnSpPr>
          <p:cNvPr id="18443" name="Straight Arrow Connector 20"/>
          <p:cNvCxnSpPr>
            <a:cxnSpLocks noChangeShapeType="1"/>
          </p:cNvCxnSpPr>
          <p:nvPr/>
        </p:nvCxnSpPr>
        <p:spPr bwMode="auto">
          <a:xfrm flipH="1">
            <a:off x="6629400" y="685800"/>
            <a:ext cx="381000" cy="0"/>
          </a:xfrm>
          <a:prstGeom prst="straightConnector1">
            <a:avLst/>
          </a:prstGeom>
          <a:noFill/>
          <a:ln w="9525" algn="ctr">
            <a:solidFill>
              <a:srgbClr val="C00000"/>
            </a:solidFill>
            <a:round/>
            <a:headEnd/>
            <a:tailEnd type="arrow" w="med" len="med"/>
          </a:ln>
        </p:spPr>
      </p:cxnSp>
      <p:cxnSp>
        <p:nvCxnSpPr>
          <p:cNvPr id="18444" name="Straight Arrow Connector 21"/>
          <p:cNvCxnSpPr>
            <a:cxnSpLocks noChangeShapeType="1"/>
          </p:cNvCxnSpPr>
          <p:nvPr/>
        </p:nvCxnSpPr>
        <p:spPr bwMode="auto">
          <a:xfrm flipH="1">
            <a:off x="7315200" y="685800"/>
            <a:ext cx="381000" cy="0"/>
          </a:xfrm>
          <a:prstGeom prst="straightConnector1">
            <a:avLst/>
          </a:prstGeom>
          <a:noFill/>
          <a:ln w="9525" algn="ctr">
            <a:solidFill>
              <a:srgbClr val="C00000"/>
            </a:solidFill>
            <a:round/>
            <a:headEnd type="arrow" w="med" len="med"/>
            <a:tailEnd/>
          </a:ln>
        </p:spPr>
      </p:cxnSp>
      <p:cxnSp>
        <p:nvCxnSpPr>
          <p:cNvPr id="18445" name="Straight Arrow Connector 22"/>
          <p:cNvCxnSpPr>
            <a:cxnSpLocks noChangeShapeType="1"/>
          </p:cNvCxnSpPr>
          <p:nvPr/>
        </p:nvCxnSpPr>
        <p:spPr bwMode="auto">
          <a:xfrm flipH="1">
            <a:off x="6248400" y="685800"/>
            <a:ext cx="381000" cy="0"/>
          </a:xfrm>
          <a:prstGeom prst="straightConnector1">
            <a:avLst/>
          </a:prstGeom>
          <a:noFill/>
          <a:ln w="9525" algn="ctr">
            <a:solidFill>
              <a:srgbClr val="C00000"/>
            </a:solidFill>
            <a:round/>
            <a:headEnd type="arrow" w="med" len="med"/>
            <a:tailEnd/>
          </a:ln>
        </p:spPr>
      </p:cxnSp>
      <p:sp>
        <p:nvSpPr>
          <p:cNvPr id="18446" name="TextBox 23"/>
          <p:cNvSpPr txBox="1">
            <a:spLocks noChangeArrowheads="1"/>
          </p:cNvSpPr>
          <p:nvPr/>
        </p:nvSpPr>
        <p:spPr bwMode="auto">
          <a:xfrm>
            <a:off x="5867400" y="514350"/>
            <a:ext cx="331788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18447" name="TextBox 24"/>
          <p:cNvSpPr txBox="1">
            <a:spLocks noChangeArrowheads="1"/>
          </p:cNvSpPr>
          <p:nvPr/>
        </p:nvSpPr>
        <p:spPr bwMode="auto">
          <a:xfrm>
            <a:off x="7010400" y="514350"/>
            <a:ext cx="331788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>
                <a:solidFill>
                  <a:srgbClr val="C00000"/>
                </a:solidFill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" y="4114800"/>
            <a:ext cx="1635125" cy="738188"/>
          </a:xfrm>
          <a:prstGeom prst="rect">
            <a:avLst/>
          </a:prstGeom>
          <a:solidFill>
            <a:schemeClr val="accent2"/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sz="1400" dirty="0"/>
              <a:t>Setting k=0 is </a:t>
            </a:r>
            <a:br>
              <a:rPr lang="en-US" sz="1400" dirty="0"/>
            </a:br>
            <a:r>
              <a:rPr lang="en-US" sz="1400" dirty="0"/>
              <a:t>referred to as</a:t>
            </a:r>
            <a:br>
              <a:rPr lang="en-US" sz="1400" dirty="0"/>
            </a:br>
            <a:r>
              <a:rPr lang="en-US" sz="1400" b="1" u="sng" dirty="0"/>
              <a:t>“pumping down”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" y="5867400"/>
            <a:ext cx="1387475" cy="738188"/>
          </a:xfrm>
          <a:prstGeom prst="rect">
            <a:avLst/>
          </a:prstGeom>
          <a:solidFill>
            <a:schemeClr val="accent2"/>
          </a:solidFill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>
              <a:defRPr/>
            </a:pPr>
            <a:r>
              <a:rPr lang="en-US" sz="1400" dirty="0"/>
              <a:t>Setting k&gt;1 is </a:t>
            </a:r>
            <a:br>
              <a:rPr lang="en-US" sz="1400" dirty="0"/>
            </a:br>
            <a:r>
              <a:rPr lang="en-US" sz="1400" dirty="0"/>
              <a:t>referred to as</a:t>
            </a:r>
            <a:br>
              <a:rPr lang="en-US" sz="1400" dirty="0"/>
            </a:br>
            <a:r>
              <a:rPr lang="en-US" sz="1400" b="1" u="sng" dirty="0"/>
              <a:t>“pumping up”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1945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63" grpId="0" build="p"/>
      <p:bldP spid="19457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38AB8-B7E4-5A2C-0971-F419A5ABD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F873C-2484-B619-2493-AF245119B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832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AA6A1-C6AA-AAEC-5DF9-1F488F0D9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52C1-B8E6-A70E-E695-7B53D667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A877A-5B8E-E33B-1DBD-175E36DE3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802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80803-6727-205C-A1A5-1F2B8A94C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1E918-AD59-348D-035E-B2A049EB9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E270-5357-556C-9232-4BF51908B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034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BBF7A4B-E53E-42F3-A52B-D56A59304D7A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194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Exercise 2</a:t>
            </a:r>
          </a:p>
        </p:txBody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8" charset="2"/>
              <a:buNone/>
            </a:pPr>
            <a:r>
              <a:rPr lang="en-US" i="1">
                <a:solidFill>
                  <a:srgbClr val="FF0000"/>
                </a:solidFill>
              </a:rPr>
              <a:t>Prove L = {0</a:t>
            </a:r>
            <a:r>
              <a:rPr lang="en-US" i="1" baseline="30000">
                <a:solidFill>
                  <a:srgbClr val="FF0000"/>
                </a:solidFill>
              </a:rPr>
              <a:t>n</a:t>
            </a:r>
            <a:r>
              <a:rPr lang="en-US" i="1">
                <a:solidFill>
                  <a:srgbClr val="FF0000"/>
                </a:solidFill>
              </a:rPr>
              <a:t>10</a:t>
            </a:r>
            <a:r>
              <a:rPr lang="en-US" i="1" baseline="30000">
                <a:solidFill>
                  <a:srgbClr val="FF0000"/>
                </a:solidFill>
              </a:rPr>
              <a:t>n</a:t>
            </a:r>
            <a:r>
              <a:rPr lang="en-US" i="1">
                <a:solidFill>
                  <a:srgbClr val="FF0000"/>
                </a:solidFill>
              </a:rPr>
              <a:t> | n≥ 1} is not regular</a:t>
            </a:r>
          </a:p>
          <a:p>
            <a:pPr eaLnBrk="1" hangingPunct="1"/>
            <a:endParaRPr lang="en-US" sz="2600" u="sng"/>
          </a:p>
          <a:p>
            <a:pPr eaLnBrk="1" hangingPunct="1">
              <a:buFont typeface="Wingdings" pitchFamily="28" charset="2"/>
              <a:buNone/>
            </a:pPr>
            <a:r>
              <a:rPr lang="en-US" sz="2600" u="sng"/>
              <a:t>Note: </a:t>
            </a:r>
            <a:r>
              <a:rPr lang="en-US" sz="2600"/>
              <a:t>This n is not to be confused with the pumping lemma constant N. That </a:t>
            </a:r>
            <a:r>
              <a:rPr lang="en-US" sz="2600" i="1"/>
              <a:t>can</a:t>
            </a:r>
            <a:r>
              <a:rPr lang="en-US" sz="2600"/>
              <a:t> be different.</a:t>
            </a:r>
          </a:p>
          <a:p>
            <a:pPr eaLnBrk="1" hangingPunct="1">
              <a:buFont typeface="Wingdings" pitchFamily="28" charset="2"/>
              <a:buNone/>
            </a:pPr>
            <a:endParaRPr lang="en-US" sz="2600">
              <a:sym typeface="Wingdings" pitchFamily="28" charset="2"/>
            </a:endParaRPr>
          </a:p>
          <a:p>
            <a:pPr eaLnBrk="1" hangingPunct="1">
              <a:buFont typeface="Wingdings" pitchFamily="28" charset="2"/>
              <a:buNone/>
            </a:pPr>
            <a:r>
              <a:rPr lang="en-US" sz="2600">
                <a:sym typeface="Wingdings" pitchFamily="28" charset="2"/>
              </a:rPr>
              <a:t>In other words, the above question is s</a:t>
            </a:r>
            <a:r>
              <a:rPr lang="en-US" sz="2600"/>
              <a:t>ame as proving:</a:t>
            </a:r>
          </a:p>
          <a:p>
            <a:pPr lvl="1" eaLnBrk="1" hangingPunct="1"/>
            <a:r>
              <a:rPr lang="en-US" sz="2600">
                <a:solidFill>
                  <a:srgbClr val="FF0000"/>
                </a:solidFill>
              </a:rPr>
              <a:t>L = {0</a:t>
            </a:r>
            <a:r>
              <a:rPr lang="en-US" sz="2600" baseline="30000">
                <a:solidFill>
                  <a:srgbClr val="FF0000"/>
                </a:solidFill>
              </a:rPr>
              <a:t>m</a:t>
            </a:r>
            <a:r>
              <a:rPr lang="en-US" sz="2600">
                <a:solidFill>
                  <a:srgbClr val="FF0000"/>
                </a:solidFill>
              </a:rPr>
              <a:t>10</a:t>
            </a:r>
            <a:r>
              <a:rPr lang="en-US" sz="2600" baseline="30000">
                <a:solidFill>
                  <a:srgbClr val="FF0000"/>
                </a:solidFill>
              </a:rPr>
              <a:t>m</a:t>
            </a:r>
            <a:r>
              <a:rPr lang="en-US" sz="2600">
                <a:solidFill>
                  <a:srgbClr val="FF0000"/>
                </a:solidFill>
              </a:rPr>
              <a:t> | m≥ 1} is not regular</a:t>
            </a:r>
          </a:p>
          <a:p>
            <a:pPr eaLnBrk="1" hangingPunct="1">
              <a:buFont typeface="Wingdings" pitchFamily="28" charset="2"/>
              <a:buNone/>
            </a:pPr>
            <a:endParaRPr lang="en-US" sz="2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DE22C-674F-3C89-010B-B2380764A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B7C30-DEB0-1228-8297-FAF8B5BBA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B61A45-8F64-82D4-37CF-3018F84FA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81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D8EDB-7178-255A-B390-31401B1D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7FF86-704C-0DCF-D0CC-43BD1A4CF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83A4F-979E-B4D7-10B3-BE286A233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304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C17C2-F255-3A38-DCE1-DA68A5DA2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1432-CA6B-CD5D-94D7-A573ECD5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52925-9010-2157-409D-3F5F4FFAF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121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9099098-90A4-4F51-9A78-2575BA059481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 3: Pumping Lemma</a:t>
            </a:r>
          </a:p>
        </p:txBody>
      </p:sp>
      <p:sp>
        <p:nvSpPr>
          <p:cNvPr id="195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buFont typeface="Wingdings" pitchFamily="28" charset="2"/>
              <a:buNone/>
            </a:pPr>
            <a:r>
              <a:rPr lang="en-US" sz="2400" b="1" u="sng">
                <a:solidFill>
                  <a:schemeClr val="hlink"/>
                </a:solidFill>
              </a:rPr>
              <a:t>Claim: </a:t>
            </a:r>
            <a:r>
              <a:rPr lang="en-US" sz="2400" b="1">
                <a:solidFill>
                  <a:schemeClr val="hlink"/>
                </a:solidFill>
              </a:rPr>
              <a:t>L = { 0</a:t>
            </a:r>
            <a:r>
              <a:rPr lang="en-US" sz="2400" b="1" baseline="30000">
                <a:solidFill>
                  <a:schemeClr val="hlink"/>
                </a:solidFill>
              </a:rPr>
              <a:t>i</a:t>
            </a:r>
            <a:r>
              <a:rPr lang="en-US" sz="2400" b="1">
                <a:solidFill>
                  <a:schemeClr val="hlink"/>
                </a:solidFill>
              </a:rPr>
              <a:t> | i is a perfect square} is not regular</a:t>
            </a:r>
            <a:endParaRPr lang="en-US" sz="2400"/>
          </a:p>
          <a:p>
            <a:pPr eaLnBrk="1" hangingPunct="1">
              <a:lnSpc>
                <a:spcPct val="90000"/>
              </a:lnSpc>
            </a:pPr>
            <a:r>
              <a:rPr lang="en-US" sz="2400" u="sng"/>
              <a:t>Proof:</a:t>
            </a:r>
            <a:r>
              <a:rPr lang="en-US" sz="2600" u="sng"/>
              <a:t> </a:t>
            </a:r>
            <a:endParaRPr lang="en-US" sz="2600"/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By contradiction, let L be regular. 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P/L should apply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Let </a:t>
            </a:r>
            <a:r>
              <a:rPr lang="en-US" sz="1800" i="1"/>
              <a:t>N</a:t>
            </a:r>
            <a:r>
              <a:rPr lang="en-US" sz="1800"/>
              <a:t> = P/L constant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Choose w=0</a:t>
            </a:r>
            <a:r>
              <a:rPr lang="en-US" sz="1800" baseline="30000"/>
              <a:t>N</a:t>
            </a:r>
            <a:r>
              <a:rPr lang="en-US" sz="1800" baseline="50000"/>
              <a:t>2</a:t>
            </a:r>
            <a:endParaRPr lang="en-US" sz="1800"/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By pumping lemma, w=</a:t>
            </a:r>
            <a:r>
              <a:rPr lang="en-US" sz="1800">
                <a:solidFill>
                  <a:schemeClr val="hlink"/>
                </a:solidFill>
              </a:rPr>
              <a:t>x</a:t>
            </a:r>
            <a:r>
              <a:rPr lang="en-US" sz="1800">
                <a:solidFill>
                  <a:srgbClr val="006600"/>
                </a:solidFill>
              </a:rPr>
              <a:t>y</a:t>
            </a:r>
            <a:r>
              <a:rPr lang="en-US" sz="1800">
                <a:solidFill>
                  <a:srgbClr val="993300"/>
                </a:solidFill>
              </a:rPr>
              <a:t>z</a:t>
            </a:r>
            <a:r>
              <a:rPr lang="en-US" sz="1800"/>
              <a:t> satisfying all three rules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By rules (1) &amp; (2), </a:t>
            </a:r>
            <a:r>
              <a:rPr lang="en-US" sz="1800">
                <a:solidFill>
                  <a:srgbClr val="006600"/>
                </a:solidFill>
              </a:rPr>
              <a:t>y</a:t>
            </a:r>
            <a:r>
              <a:rPr lang="en-US" sz="1800"/>
              <a:t> has between 1 and N 0s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By rule (3), any string of the form </a:t>
            </a:r>
            <a:r>
              <a:rPr lang="en-US" sz="1800">
                <a:solidFill>
                  <a:schemeClr val="hlink"/>
                </a:solidFill>
              </a:rPr>
              <a:t>x</a:t>
            </a:r>
            <a:r>
              <a:rPr lang="en-US" sz="1800">
                <a:solidFill>
                  <a:srgbClr val="006600"/>
                </a:solidFill>
              </a:rPr>
              <a:t>y</a:t>
            </a:r>
            <a:r>
              <a:rPr lang="en-US" sz="1800" baseline="30000">
                <a:solidFill>
                  <a:srgbClr val="006600"/>
                </a:solidFill>
              </a:rPr>
              <a:t>k</a:t>
            </a:r>
            <a:r>
              <a:rPr lang="en-US" sz="1800">
                <a:solidFill>
                  <a:srgbClr val="993300"/>
                </a:solidFill>
              </a:rPr>
              <a:t>z</a:t>
            </a:r>
            <a:r>
              <a:rPr lang="en-US" sz="1800"/>
              <a:t> is also in L for all </a:t>
            </a:r>
            <a:r>
              <a:rPr lang="en-US" sz="1800">
                <a:ea typeface="ＭＳ Ｐゴシック" pitchFamily="28" charset="-128"/>
              </a:rPr>
              <a:t>k</a:t>
            </a:r>
            <a:r>
              <a:rPr lang="en-US" sz="1800"/>
              <a:t>≥0 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Case k=0: 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0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	= 	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- #zeros (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/>
              <a:t>)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                 N</a:t>
            </a:r>
            <a:r>
              <a:rPr lang="en-US" sz="1400" baseline="30000"/>
              <a:t>2</a:t>
            </a:r>
            <a:r>
              <a:rPr lang="en-US" sz="1400"/>
              <a:t> – N    ≤     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0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   ≤   N</a:t>
            </a:r>
            <a:r>
              <a:rPr lang="en-US" sz="1400" baseline="30000"/>
              <a:t>2</a:t>
            </a:r>
            <a:r>
              <a:rPr lang="en-US" sz="1400"/>
              <a:t> - 1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 b="1"/>
              <a:t>(N-1)</a:t>
            </a:r>
            <a:r>
              <a:rPr lang="en-US" sz="1400" b="1" baseline="30000"/>
              <a:t>2</a:t>
            </a:r>
            <a:r>
              <a:rPr lang="en-US" sz="1400"/>
              <a:t>   &lt;   N</a:t>
            </a:r>
            <a:r>
              <a:rPr lang="en-US" sz="1400" baseline="30000"/>
              <a:t>2</a:t>
            </a:r>
            <a:r>
              <a:rPr lang="en-US" sz="1400"/>
              <a:t> - N   ≤    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0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    ≤    N</a:t>
            </a:r>
            <a:r>
              <a:rPr lang="en-US" sz="1400" baseline="30000"/>
              <a:t>2</a:t>
            </a:r>
            <a:r>
              <a:rPr lang="en-US" sz="1400"/>
              <a:t> - 1   &lt;   </a:t>
            </a:r>
            <a:r>
              <a:rPr lang="en-US" sz="1400" b="1"/>
              <a:t>N</a:t>
            </a:r>
            <a:r>
              <a:rPr lang="en-US" sz="1400" b="1" baseline="30000"/>
              <a:t>2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0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 </a:t>
            </a:r>
            <a:r>
              <a:rPr lang="en-US" sz="1400">
                <a:sym typeface="Symbol" pitchFamily="28" charset="2"/>
              </a:rPr>
              <a:t> </a:t>
            </a:r>
            <a:r>
              <a:rPr lang="en-US" sz="1400"/>
              <a:t> L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But the above will complete the proof ONLY IF N&gt;1. 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… (proof contd.. Next slide)</a:t>
            </a:r>
            <a:endParaRPr lang="en-US" sz="2200"/>
          </a:p>
          <a:p>
            <a:pPr eaLnBrk="1" hangingPunct="1">
              <a:lnSpc>
                <a:spcPct val="90000"/>
              </a:lnSpc>
            </a:pPr>
            <a:endParaRPr lang="en-US" sz="2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5587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B0CDF95-7123-4939-968B-C70ED084A09B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215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Example 3: Pumping Lemma</a:t>
            </a:r>
          </a:p>
        </p:txBody>
      </p:sp>
      <p:sp>
        <p:nvSpPr>
          <p:cNvPr id="1955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(proof contd…)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If the adversary pick N=1, then </a:t>
            </a:r>
            <a:r>
              <a:rPr lang="en-US" sz="1400" b="1"/>
              <a:t>(N-1)</a:t>
            </a:r>
            <a:r>
              <a:rPr lang="en-US" sz="1400" b="1" baseline="30000"/>
              <a:t>2</a:t>
            </a:r>
            <a:r>
              <a:rPr lang="en-US" sz="1400"/>
              <a:t>   </a:t>
            </a:r>
            <a:r>
              <a:rPr lang="en-US" sz="1400">
                <a:solidFill>
                  <a:srgbClr val="FF0000"/>
                </a:solidFill>
              </a:rPr>
              <a:t>≤   </a:t>
            </a:r>
            <a:r>
              <a:rPr lang="en-US" sz="1400"/>
              <a:t>N</a:t>
            </a:r>
            <a:r>
              <a:rPr lang="en-US" sz="1400" baseline="30000"/>
              <a:t>2</a:t>
            </a:r>
            <a:r>
              <a:rPr lang="en-US" sz="1400"/>
              <a:t> – N, and therefore the #zeros(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0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could end up being a perfect square!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This means that pumping down (i.e., setting k=0) is not giving us the proof!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So lets try pumping up next…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800"/>
              <a:t>Case k=2: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2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	=   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+  #zeros (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/>
              <a:t>)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                 N</a:t>
            </a:r>
            <a:r>
              <a:rPr lang="en-US" sz="1400" baseline="30000"/>
              <a:t>2</a:t>
            </a:r>
            <a:r>
              <a:rPr lang="en-US" sz="1400"/>
              <a:t> + 1    ≤     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2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   ≤   N</a:t>
            </a:r>
            <a:r>
              <a:rPr lang="en-US" sz="1400" baseline="30000"/>
              <a:t>2</a:t>
            </a:r>
            <a:r>
              <a:rPr lang="en-US" sz="1400"/>
              <a:t> + N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 b="1"/>
              <a:t>N</a:t>
            </a:r>
            <a:r>
              <a:rPr lang="en-US" sz="1400" b="1" baseline="30000"/>
              <a:t>2</a:t>
            </a:r>
            <a:r>
              <a:rPr lang="en-US" sz="1400"/>
              <a:t>   &lt;   N</a:t>
            </a:r>
            <a:r>
              <a:rPr lang="en-US" sz="1400" baseline="30000"/>
              <a:t>2</a:t>
            </a:r>
            <a:r>
              <a:rPr lang="en-US" sz="1400"/>
              <a:t> + 1 ≤    #zeros (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2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)     ≤    N</a:t>
            </a:r>
            <a:r>
              <a:rPr lang="en-US" sz="1400" baseline="30000"/>
              <a:t>2</a:t>
            </a:r>
            <a:r>
              <a:rPr lang="en-US" sz="1400"/>
              <a:t> + N   &lt;   (</a:t>
            </a:r>
            <a:r>
              <a:rPr lang="en-US" sz="1400" b="1"/>
              <a:t>N+1)</a:t>
            </a:r>
            <a:r>
              <a:rPr lang="en-US" sz="1400" b="1" baseline="30000"/>
              <a:t>2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>
                <a:solidFill>
                  <a:srgbClr val="006600"/>
                </a:solidFill>
              </a:rPr>
              <a:t>y</a:t>
            </a:r>
            <a:r>
              <a:rPr lang="en-US" sz="1400" baseline="30000">
                <a:solidFill>
                  <a:srgbClr val="006600"/>
                </a:solidFill>
              </a:rPr>
              <a:t>2</a:t>
            </a:r>
            <a:r>
              <a:rPr lang="en-US" sz="1400">
                <a:solidFill>
                  <a:srgbClr val="993300"/>
                </a:solidFill>
              </a:rPr>
              <a:t>z</a:t>
            </a:r>
            <a:r>
              <a:rPr lang="en-US" sz="1400"/>
              <a:t> </a:t>
            </a:r>
            <a:r>
              <a:rPr lang="en-US" sz="1400">
                <a:sym typeface="Symbol" pitchFamily="28" charset="2"/>
              </a:rPr>
              <a:t> </a:t>
            </a:r>
            <a:r>
              <a:rPr lang="en-US" sz="1400"/>
              <a:t> L</a:t>
            </a:r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endParaRPr lang="en-US" sz="1400"/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endParaRPr lang="en-US" sz="1400"/>
          </a:p>
          <a:p>
            <a:pPr lvl="2" eaLnBrk="1" hangingPunct="1">
              <a:lnSpc>
                <a:spcPct val="90000"/>
              </a:lnSpc>
              <a:buFont typeface="Wingdings" pitchFamily="28" charset="2"/>
              <a:buChar char="Ø"/>
            </a:pPr>
            <a:r>
              <a:rPr lang="en-US" sz="1400"/>
              <a:t>(Notice that the above should hold for all possible N values of N&gt;0. Therefore, this completes the proof.)</a:t>
            </a:r>
          </a:p>
          <a:p>
            <a:pPr lvl="1" eaLnBrk="1" hangingPunct="1">
              <a:lnSpc>
                <a:spcPct val="90000"/>
              </a:lnSpc>
              <a:buFont typeface="Wingdings" pitchFamily="28" charset="2"/>
              <a:buChar char="Ø"/>
            </a:pPr>
            <a:endParaRPr lang="en-US" sz="2200"/>
          </a:p>
          <a:p>
            <a:pPr eaLnBrk="1" hangingPunct="1">
              <a:lnSpc>
                <a:spcPct val="90000"/>
              </a:lnSpc>
            </a:pPr>
            <a:endParaRPr lang="en-US" sz="280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352800" y="4267200"/>
            <a:ext cx="304800" cy="381000"/>
            <a:chOff x="3072" y="3840"/>
            <a:chExt cx="192" cy="240"/>
          </a:xfrm>
        </p:grpSpPr>
        <p:grpSp>
          <p:nvGrpSpPr>
            <p:cNvPr id="21510" name="Group 5"/>
            <p:cNvGrpSpPr>
              <a:grpSpLocks/>
            </p:cNvGrpSpPr>
            <p:nvPr/>
          </p:nvGrpSpPr>
          <p:grpSpPr bwMode="auto">
            <a:xfrm>
              <a:off x="3120" y="3840"/>
              <a:ext cx="96" cy="240"/>
              <a:chOff x="3120" y="3840"/>
              <a:chExt cx="96" cy="240"/>
            </a:xfrm>
          </p:grpSpPr>
          <p:sp>
            <p:nvSpPr>
              <p:cNvPr id="21512" name="Line 6"/>
              <p:cNvSpPr>
                <a:spLocks noChangeShapeType="1"/>
              </p:cNvSpPr>
              <p:nvPr/>
            </p:nvSpPr>
            <p:spPr bwMode="auto">
              <a:xfrm flipH="1">
                <a:off x="3120" y="3840"/>
                <a:ext cx="48" cy="96"/>
              </a:xfrm>
              <a:prstGeom prst="line">
                <a:avLst/>
              </a:prstGeom>
              <a:noFill/>
              <a:ln w="22225">
                <a:solidFill>
                  <a:schemeClr val="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513" name="Line 7"/>
              <p:cNvSpPr>
                <a:spLocks noChangeShapeType="1"/>
              </p:cNvSpPr>
              <p:nvPr/>
            </p:nvSpPr>
            <p:spPr bwMode="auto">
              <a:xfrm>
                <a:off x="3120" y="3936"/>
                <a:ext cx="96" cy="48"/>
              </a:xfrm>
              <a:prstGeom prst="line">
                <a:avLst/>
              </a:prstGeom>
              <a:noFill/>
              <a:ln w="22225">
                <a:solidFill>
                  <a:schemeClr val="hlink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1514" name="Line 8"/>
              <p:cNvSpPr>
                <a:spLocks noChangeShapeType="1"/>
              </p:cNvSpPr>
              <p:nvPr/>
            </p:nvSpPr>
            <p:spPr bwMode="auto">
              <a:xfrm flipH="1">
                <a:off x="3120" y="3984"/>
                <a:ext cx="96" cy="96"/>
              </a:xfrm>
              <a:prstGeom prst="line">
                <a:avLst/>
              </a:prstGeom>
              <a:noFill/>
              <a:ln w="22225">
                <a:solidFill>
                  <a:schemeClr val="hlink"/>
                </a:solidFill>
                <a:round/>
                <a:headEnd/>
                <a:tailEnd type="triangle" w="med" len="med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1511" name="Line 9"/>
            <p:cNvSpPr>
              <a:spLocks noChangeShapeType="1"/>
            </p:cNvSpPr>
            <p:nvPr/>
          </p:nvSpPr>
          <p:spPr bwMode="auto">
            <a:xfrm>
              <a:off x="3072" y="3936"/>
              <a:ext cx="192" cy="0"/>
            </a:xfrm>
            <a:prstGeom prst="line">
              <a:avLst/>
            </a:prstGeom>
            <a:noFill/>
            <a:ln w="1905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5587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33A54-6A45-A2A3-A165-26C68706C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9402C-5BE8-FABF-576C-B495C4EB0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2C0AD-8CCE-CC99-3188-093B85DB8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8160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79DF8-CF4C-AB55-108A-D291D959E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F35E1-D872-B26A-1C66-D072FB19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1495A-C378-E77E-6576-0DCE005B6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619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4C4B-959A-19BD-5696-A13547070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8E4E2-4CB3-393A-C2B7-94E38E2AD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0741B-27F9-BE81-E023-2D99E3234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70674C-54CF-4EC1-BCF0-43EEACE5786F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0221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14"/>
          <p:cNvSpPr>
            <a:spLocks noGrp="1" noChangeArrowheads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815A03E-F310-4D17-BBCA-843ECF4A28D1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Equivalence &amp; Minimization of DFAs</a:t>
            </a:r>
          </a:p>
        </p:txBody>
      </p:sp>
      <p:sp>
        <p:nvSpPr>
          <p:cNvPr id="44036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14BF77F4-BC3C-4E76-92C2-7E1DD57AF024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Applications of interest</a:t>
            </a:r>
          </a:p>
        </p:txBody>
      </p:sp>
      <p:sp>
        <p:nvSpPr>
          <p:cNvPr id="2375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Comparing two DFAs: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400" dirty="0"/>
              <a:t>L(DFA</a:t>
            </a:r>
            <a:r>
              <a:rPr lang="en-US" sz="2400" baseline="-25000" dirty="0"/>
              <a:t>1</a:t>
            </a:r>
            <a:r>
              <a:rPr lang="en-US" sz="2400" dirty="0"/>
              <a:t>) == L(DFA</a:t>
            </a:r>
            <a:r>
              <a:rPr lang="en-US" sz="2400" baseline="-25000" dirty="0"/>
              <a:t>2</a:t>
            </a:r>
            <a:r>
              <a:rPr lang="en-US" sz="2400" dirty="0"/>
              <a:t>)?</a:t>
            </a:r>
          </a:p>
          <a:p>
            <a:pPr marL="914400" lvl="1" indent="-457200" eaLnBrk="1" hangingPunct="1">
              <a:lnSpc>
                <a:spcPct val="90000"/>
              </a:lnSpc>
              <a:buFont typeface="Wingdings" pitchFamily="28" charset="2"/>
              <a:buNone/>
              <a:defRPr/>
            </a:pPr>
            <a:endParaRPr lang="en-US" sz="2000" dirty="0"/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800" dirty="0"/>
              <a:t>How to minimize a DFA?</a:t>
            </a:r>
          </a:p>
          <a:p>
            <a:pPr marL="914400" lvl="1" indent="-457200" eaLnBrk="1" hangingPunct="1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400" dirty="0"/>
              <a:t>Remove unreachable states</a:t>
            </a:r>
          </a:p>
          <a:p>
            <a:pPr marL="914400" lvl="1" indent="-457200" eaLnBrk="1" hangingPunct="1">
              <a:lnSpc>
                <a:spcPct val="90000"/>
              </a:lnSpc>
              <a:buFont typeface="+mj-lt"/>
              <a:buAutoNum type="arabicPeriod"/>
              <a:defRPr/>
            </a:pPr>
            <a:r>
              <a:rPr lang="en-US" sz="2400" dirty="0"/>
              <a:t>Identify &amp; condense equivalent states into one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5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7571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E507E0-E639-4D1D-8692-4EAB95301A54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460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400"/>
              <a:t>When to call two states in a DFA “equivalent”?</a:t>
            </a:r>
          </a:p>
        </p:txBody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itchFamily="28" charset="2"/>
              <a:buNone/>
            </a:pPr>
            <a:r>
              <a:rPr lang="en-US"/>
              <a:t>Two states p and q are said to be </a:t>
            </a:r>
            <a:r>
              <a:rPr lang="en-US" i="1">
                <a:solidFill>
                  <a:srgbClr val="FF0000"/>
                </a:solidFill>
              </a:rPr>
              <a:t>equivalent </a:t>
            </a:r>
            <a:r>
              <a:rPr lang="en-US"/>
              <a:t>iff: </a:t>
            </a:r>
          </a:p>
          <a:p>
            <a:pPr marL="1028700" lvl="1" indent="-571500" eaLnBrk="1" hangingPunct="1">
              <a:buFont typeface="Wingdings" pitchFamily="28" charset="2"/>
              <a:buAutoNum type="romanLcParenR"/>
            </a:pPr>
            <a:r>
              <a:rPr lang="en-US" sz="2000"/>
              <a:t>Any string w accepted by starting at p is also accepted by starting at q; </a:t>
            </a:r>
          </a:p>
          <a:p>
            <a:pPr marL="1028700" lvl="1" indent="-571500" eaLnBrk="1" hangingPunct="1">
              <a:buFont typeface="Wingdings" pitchFamily="28" charset="2"/>
              <a:buNone/>
            </a:pPr>
            <a:endParaRPr lang="en-US" sz="2000"/>
          </a:p>
          <a:p>
            <a:pPr marL="1028700" lvl="1" indent="-571500" eaLnBrk="1" hangingPunct="1">
              <a:buFont typeface="Wingdings" pitchFamily="28" charset="2"/>
              <a:buNone/>
            </a:pPr>
            <a:endParaRPr lang="en-US" sz="2000"/>
          </a:p>
          <a:p>
            <a:pPr marL="1028700" lvl="1" indent="-571500" eaLnBrk="1" hangingPunct="1">
              <a:buFont typeface="Wingdings" pitchFamily="28" charset="2"/>
              <a:buNone/>
            </a:pPr>
            <a:endParaRPr lang="en-US" sz="2000"/>
          </a:p>
          <a:p>
            <a:pPr marL="1028700" lvl="1" indent="-571500" eaLnBrk="1" hangingPunct="1">
              <a:buFont typeface="Wingdings" pitchFamily="28" charset="2"/>
              <a:buAutoNum type="romanLcParenR"/>
            </a:pPr>
            <a:r>
              <a:rPr lang="en-US" sz="2000"/>
              <a:t>Any string w rejected by starting at p is also rejected by starting at q.</a:t>
            </a:r>
          </a:p>
        </p:txBody>
      </p:sp>
      <p:sp>
        <p:nvSpPr>
          <p:cNvPr id="43013" name="Text Box 4"/>
          <p:cNvSpPr txBox="1">
            <a:spLocks noChangeArrowheads="1"/>
          </p:cNvSpPr>
          <p:nvPr/>
        </p:nvSpPr>
        <p:spPr bwMode="auto">
          <a:xfrm rot="-5400000">
            <a:off x="-1735137" y="4021137"/>
            <a:ext cx="4476750" cy="396875"/>
          </a:xfrm>
          <a:prstGeom prst="rect">
            <a:avLst/>
          </a:prstGeom>
          <a:solidFill>
            <a:srgbClr val="FFCC99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Past doesn’t matter - only future does!</a:t>
            </a:r>
          </a:p>
        </p:txBody>
      </p:sp>
      <p:sp>
        <p:nvSpPr>
          <p:cNvPr id="46086" name="Oval 7"/>
          <p:cNvSpPr>
            <a:spLocks noChangeArrowheads="1"/>
          </p:cNvSpPr>
          <p:nvPr/>
        </p:nvSpPr>
        <p:spPr bwMode="auto">
          <a:xfrm>
            <a:off x="4419600" y="3657600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r>
              <a:rPr lang="en-US" sz="1600"/>
              <a:t>p</a:t>
            </a:r>
          </a:p>
        </p:txBody>
      </p:sp>
      <p:sp>
        <p:nvSpPr>
          <p:cNvPr id="46087" name="Oval 8"/>
          <p:cNvSpPr>
            <a:spLocks noChangeArrowheads="1"/>
          </p:cNvSpPr>
          <p:nvPr/>
        </p:nvSpPr>
        <p:spPr bwMode="auto">
          <a:xfrm>
            <a:off x="4419600" y="4267200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r>
              <a:rPr lang="en-US" sz="1600"/>
              <a:t>q</a:t>
            </a:r>
          </a:p>
        </p:txBody>
      </p:sp>
      <p:sp>
        <p:nvSpPr>
          <p:cNvPr id="46088" name="TextBox 9"/>
          <p:cNvSpPr txBox="1">
            <a:spLocks noChangeArrowheads="1"/>
          </p:cNvSpPr>
          <p:nvPr/>
        </p:nvSpPr>
        <p:spPr bwMode="auto">
          <a:xfrm>
            <a:off x="838200" y="4114800"/>
            <a:ext cx="728663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u="sng"/>
              <a:t>AND</a:t>
            </a:r>
          </a:p>
        </p:txBody>
      </p:sp>
      <p:sp>
        <p:nvSpPr>
          <p:cNvPr id="46089" name="Freeform 11"/>
          <p:cNvSpPr>
            <a:spLocks/>
          </p:cNvSpPr>
          <p:nvPr/>
        </p:nvSpPr>
        <p:spPr bwMode="auto">
          <a:xfrm>
            <a:off x="4800600" y="3756025"/>
            <a:ext cx="1806575" cy="153988"/>
          </a:xfrm>
          <a:custGeom>
            <a:avLst/>
            <a:gdLst>
              <a:gd name="T0" fmla="*/ 0 w 1807029"/>
              <a:gd name="T1" fmla="*/ 76590 h 153928"/>
              <a:gd name="T2" fmla="*/ 32553 w 1807029"/>
              <a:gd name="T3" fmla="*/ 54702 h 153928"/>
              <a:gd name="T4" fmla="*/ 97646 w 1807029"/>
              <a:gd name="T5" fmla="*/ 32827 h 153928"/>
              <a:gd name="T6" fmla="*/ 249552 w 1807029"/>
              <a:gd name="T7" fmla="*/ 43764 h 153928"/>
              <a:gd name="T8" fmla="*/ 292952 w 1807029"/>
              <a:gd name="T9" fmla="*/ 76590 h 153928"/>
              <a:gd name="T10" fmla="*/ 390612 w 1807029"/>
              <a:gd name="T11" fmla="*/ 120354 h 153928"/>
              <a:gd name="T12" fmla="*/ 596764 w 1807029"/>
              <a:gd name="T13" fmla="*/ 109412 h 153928"/>
              <a:gd name="T14" fmla="*/ 629315 w 1807029"/>
              <a:gd name="T15" fmla="*/ 98466 h 153928"/>
              <a:gd name="T16" fmla="*/ 651011 w 1807029"/>
              <a:gd name="T17" fmla="*/ 76590 h 153928"/>
              <a:gd name="T18" fmla="*/ 705265 w 1807029"/>
              <a:gd name="T19" fmla="*/ 0 h 153928"/>
              <a:gd name="T20" fmla="*/ 911418 w 1807029"/>
              <a:gd name="T21" fmla="*/ 10938 h 153928"/>
              <a:gd name="T22" fmla="*/ 933116 w 1807029"/>
              <a:gd name="T23" fmla="*/ 32827 h 153928"/>
              <a:gd name="T24" fmla="*/ 965670 w 1807029"/>
              <a:gd name="T25" fmla="*/ 87528 h 153928"/>
              <a:gd name="T26" fmla="*/ 1063324 w 1807029"/>
              <a:gd name="T27" fmla="*/ 120354 h 153928"/>
              <a:gd name="T28" fmla="*/ 1367129 w 1807029"/>
              <a:gd name="T29" fmla="*/ 109412 h 153928"/>
              <a:gd name="T30" fmla="*/ 1475630 w 1807029"/>
              <a:gd name="T31" fmla="*/ 76590 h 153928"/>
              <a:gd name="T32" fmla="*/ 1508180 w 1807029"/>
              <a:gd name="T33" fmla="*/ 65647 h 153928"/>
              <a:gd name="T34" fmla="*/ 1562431 w 1807029"/>
              <a:gd name="T35" fmla="*/ 76590 h 153928"/>
              <a:gd name="T36" fmla="*/ 1605832 w 1807029"/>
              <a:gd name="T37" fmla="*/ 87528 h 153928"/>
              <a:gd name="T38" fmla="*/ 1801135 w 1807029"/>
              <a:gd name="T39" fmla="*/ 87528 h 15392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1807029"/>
              <a:gd name="T61" fmla="*/ 0 h 153928"/>
              <a:gd name="T62" fmla="*/ 1807029 w 1807029"/>
              <a:gd name="T63" fmla="*/ 153928 h 15392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1807029" h="153928">
                <a:moveTo>
                  <a:pt x="0" y="76200"/>
                </a:moveTo>
                <a:cubicBezTo>
                  <a:pt x="10886" y="68943"/>
                  <a:pt x="20702" y="59742"/>
                  <a:pt x="32657" y="54429"/>
                </a:cubicBezTo>
                <a:cubicBezTo>
                  <a:pt x="53628" y="45109"/>
                  <a:pt x="97971" y="32658"/>
                  <a:pt x="97971" y="32658"/>
                </a:cubicBezTo>
                <a:cubicBezTo>
                  <a:pt x="148771" y="36286"/>
                  <a:pt x="200654" y="32495"/>
                  <a:pt x="250371" y="43543"/>
                </a:cubicBezTo>
                <a:cubicBezTo>
                  <a:pt x="268082" y="47479"/>
                  <a:pt x="277687" y="68086"/>
                  <a:pt x="293914" y="76200"/>
                </a:cubicBezTo>
                <a:cubicBezTo>
                  <a:pt x="449369" y="153928"/>
                  <a:pt x="295823" y="55702"/>
                  <a:pt x="391886" y="119743"/>
                </a:cubicBezTo>
                <a:cubicBezTo>
                  <a:pt x="460829" y="116115"/>
                  <a:pt x="529959" y="115108"/>
                  <a:pt x="598714" y="108858"/>
                </a:cubicBezTo>
                <a:cubicBezTo>
                  <a:pt x="610141" y="107819"/>
                  <a:pt x="621532" y="103876"/>
                  <a:pt x="631371" y="97972"/>
                </a:cubicBezTo>
                <a:cubicBezTo>
                  <a:pt x="640172" y="92691"/>
                  <a:pt x="645886" y="83457"/>
                  <a:pt x="653143" y="76200"/>
                </a:cubicBezTo>
                <a:cubicBezTo>
                  <a:pt x="678543" y="0"/>
                  <a:pt x="653143" y="18143"/>
                  <a:pt x="707571" y="0"/>
                </a:cubicBezTo>
                <a:cubicBezTo>
                  <a:pt x="776514" y="3629"/>
                  <a:pt x="846055" y="1122"/>
                  <a:pt x="914400" y="10886"/>
                </a:cubicBezTo>
                <a:cubicBezTo>
                  <a:pt x="924560" y="12337"/>
                  <a:pt x="930891" y="23857"/>
                  <a:pt x="936171" y="32658"/>
                </a:cubicBezTo>
                <a:cubicBezTo>
                  <a:pt x="950811" y="57059"/>
                  <a:pt x="938488" y="73295"/>
                  <a:pt x="968829" y="87086"/>
                </a:cubicBezTo>
                <a:cubicBezTo>
                  <a:pt x="1000167" y="101330"/>
                  <a:pt x="1034143" y="108857"/>
                  <a:pt x="1066800" y="119743"/>
                </a:cubicBezTo>
                <a:cubicBezTo>
                  <a:pt x="1168400" y="116115"/>
                  <a:pt x="1270133" y="115200"/>
                  <a:pt x="1371600" y="108858"/>
                </a:cubicBezTo>
                <a:cubicBezTo>
                  <a:pt x="1391849" y="107592"/>
                  <a:pt x="1470832" y="79408"/>
                  <a:pt x="1480457" y="76200"/>
                </a:cubicBezTo>
                <a:lnTo>
                  <a:pt x="1513114" y="65315"/>
                </a:lnTo>
                <a:cubicBezTo>
                  <a:pt x="1531257" y="68943"/>
                  <a:pt x="1549481" y="72186"/>
                  <a:pt x="1567543" y="76200"/>
                </a:cubicBezTo>
                <a:cubicBezTo>
                  <a:pt x="1582148" y="79445"/>
                  <a:pt x="1596140" y="86407"/>
                  <a:pt x="1611086" y="87086"/>
                </a:cubicBezTo>
                <a:cubicBezTo>
                  <a:pt x="1676333" y="90052"/>
                  <a:pt x="1741715" y="87086"/>
                  <a:pt x="1807029" y="87086"/>
                </a:cubicBezTo>
              </a:path>
            </a:pathLst>
          </a:cu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6090" name="Oval 12"/>
          <p:cNvSpPr>
            <a:spLocks noChangeArrowheads="1"/>
          </p:cNvSpPr>
          <p:nvPr/>
        </p:nvSpPr>
        <p:spPr bwMode="auto">
          <a:xfrm>
            <a:off x="6705600" y="3657600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1600"/>
          </a:p>
        </p:txBody>
      </p:sp>
      <p:sp>
        <p:nvSpPr>
          <p:cNvPr id="46091" name="Oval 13"/>
          <p:cNvSpPr>
            <a:spLocks noChangeArrowheads="1"/>
          </p:cNvSpPr>
          <p:nvPr/>
        </p:nvSpPr>
        <p:spPr bwMode="auto">
          <a:xfrm>
            <a:off x="6629400" y="3581400"/>
            <a:ext cx="533400" cy="533400"/>
          </a:xfrm>
          <a:prstGeom prst="ellips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46092" name="Freeform 15"/>
          <p:cNvSpPr>
            <a:spLocks/>
          </p:cNvSpPr>
          <p:nvPr/>
        </p:nvSpPr>
        <p:spPr bwMode="auto">
          <a:xfrm>
            <a:off x="4837113" y="4329113"/>
            <a:ext cx="1806575" cy="153987"/>
          </a:xfrm>
          <a:custGeom>
            <a:avLst/>
            <a:gdLst>
              <a:gd name="T0" fmla="*/ 0 w 1807029"/>
              <a:gd name="T1" fmla="*/ 76577 h 153928"/>
              <a:gd name="T2" fmla="*/ 32553 w 1807029"/>
              <a:gd name="T3" fmla="*/ 54702 h 153928"/>
              <a:gd name="T4" fmla="*/ 97646 w 1807029"/>
              <a:gd name="T5" fmla="*/ 32827 h 153928"/>
              <a:gd name="T6" fmla="*/ 249552 w 1807029"/>
              <a:gd name="T7" fmla="*/ 43764 h 153928"/>
              <a:gd name="T8" fmla="*/ 292952 w 1807029"/>
              <a:gd name="T9" fmla="*/ 76577 h 153928"/>
              <a:gd name="T10" fmla="*/ 390612 w 1807029"/>
              <a:gd name="T11" fmla="*/ 120341 h 153928"/>
              <a:gd name="T12" fmla="*/ 596764 w 1807029"/>
              <a:gd name="T13" fmla="*/ 109404 h 153928"/>
              <a:gd name="T14" fmla="*/ 629315 w 1807029"/>
              <a:gd name="T15" fmla="*/ 98466 h 153928"/>
              <a:gd name="T16" fmla="*/ 651011 w 1807029"/>
              <a:gd name="T17" fmla="*/ 76577 h 153928"/>
              <a:gd name="T18" fmla="*/ 705265 w 1807029"/>
              <a:gd name="T19" fmla="*/ 0 h 153928"/>
              <a:gd name="T20" fmla="*/ 911418 w 1807029"/>
              <a:gd name="T21" fmla="*/ 10938 h 153928"/>
              <a:gd name="T22" fmla="*/ 933116 w 1807029"/>
              <a:gd name="T23" fmla="*/ 32827 h 153928"/>
              <a:gd name="T24" fmla="*/ 965670 w 1807029"/>
              <a:gd name="T25" fmla="*/ 87518 h 153928"/>
              <a:gd name="T26" fmla="*/ 1063324 w 1807029"/>
              <a:gd name="T27" fmla="*/ 120341 h 153928"/>
              <a:gd name="T28" fmla="*/ 1367129 w 1807029"/>
              <a:gd name="T29" fmla="*/ 109404 h 153928"/>
              <a:gd name="T30" fmla="*/ 1475630 w 1807029"/>
              <a:gd name="T31" fmla="*/ 76577 h 153928"/>
              <a:gd name="T32" fmla="*/ 1508180 w 1807029"/>
              <a:gd name="T33" fmla="*/ 65640 h 153928"/>
              <a:gd name="T34" fmla="*/ 1562431 w 1807029"/>
              <a:gd name="T35" fmla="*/ 76577 h 153928"/>
              <a:gd name="T36" fmla="*/ 1605832 w 1807029"/>
              <a:gd name="T37" fmla="*/ 87518 h 153928"/>
              <a:gd name="T38" fmla="*/ 1801135 w 1807029"/>
              <a:gd name="T39" fmla="*/ 87518 h 15392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1807029"/>
              <a:gd name="T61" fmla="*/ 0 h 153928"/>
              <a:gd name="T62" fmla="*/ 1807029 w 1807029"/>
              <a:gd name="T63" fmla="*/ 153928 h 15392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1807029" h="153928">
                <a:moveTo>
                  <a:pt x="0" y="76200"/>
                </a:moveTo>
                <a:cubicBezTo>
                  <a:pt x="10886" y="68943"/>
                  <a:pt x="20702" y="59742"/>
                  <a:pt x="32657" y="54429"/>
                </a:cubicBezTo>
                <a:cubicBezTo>
                  <a:pt x="53628" y="45109"/>
                  <a:pt x="97971" y="32658"/>
                  <a:pt x="97971" y="32658"/>
                </a:cubicBezTo>
                <a:cubicBezTo>
                  <a:pt x="148771" y="36286"/>
                  <a:pt x="200654" y="32495"/>
                  <a:pt x="250371" y="43543"/>
                </a:cubicBezTo>
                <a:cubicBezTo>
                  <a:pt x="268082" y="47479"/>
                  <a:pt x="277687" y="68086"/>
                  <a:pt x="293914" y="76200"/>
                </a:cubicBezTo>
                <a:cubicBezTo>
                  <a:pt x="449369" y="153928"/>
                  <a:pt x="295823" y="55702"/>
                  <a:pt x="391886" y="119743"/>
                </a:cubicBezTo>
                <a:cubicBezTo>
                  <a:pt x="460829" y="116115"/>
                  <a:pt x="529959" y="115108"/>
                  <a:pt x="598714" y="108858"/>
                </a:cubicBezTo>
                <a:cubicBezTo>
                  <a:pt x="610141" y="107819"/>
                  <a:pt x="621532" y="103876"/>
                  <a:pt x="631371" y="97972"/>
                </a:cubicBezTo>
                <a:cubicBezTo>
                  <a:pt x="640172" y="92691"/>
                  <a:pt x="645886" y="83457"/>
                  <a:pt x="653143" y="76200"/>
                </a:cubicBezTo>
                <a:cubicBezTo>
                  <a:pt x="678543" y="0"/>
                  <a:pt x="653143" y="18143"/>
                  <a:pt x="707571" y="0"/>
                </a:cubicBezTo>
                <a:cubicBezTo>
                  <a:pt x="776514" y="3629"/>
                  <a:pt x="846055" y="1122"/>
                  <a:pt x="914400" y="10886"/>
                </a:cubicBezTo>
                <a:cubicBezTo>
                  <a:pt x="924560" y="12337"/>
                  <a:pt x="930891" y="23857"/>
                  <a:pt x="936171" y="32658"/>
                </a:cubicBezTo>
                <a:cubicBezTo>
                  <a:pt x="950811" y="57059"/>
                  <a:pt x="938488" y="73295"/>
                  <a:pt x="968829" y="87086"/>
                </a:cubicBezTo>
                <a:cubicBezTo>
                  <a:pt x="1000167" y="101330"/>
                  <a:pt x="1034143" y="108857"/>
                  <a:pt x="1066800" y="119743"/>
                </a:cubicBezTo>
                <a:cubicBezTo>
                  <a:pt x="1168400" y="116115"/>
                  <a:pt x="1270133" y="115200"/>
                  <a:pt x="1371600" y="108858"/>
                </a:cubicBezTo>
                <a:cubicBezTo>
                  <a:pt x="1391849" y="107592"/>
                  <a:pt x="1470832" y="79408"/>
                  <a:pt x="1480457" y="76200"/>
                </a:cubicBezTo>
                <a:lnTo>
                  <a:pt x="1513114" y="65315"/>
                </a:lnTo>
                <a:cubicBezTo>
                  <a:pt x="1531257" y="68943"/>
                  <a:pt x="1549481" y="72186"/>
                  <a:pt x="1567543" y="76200"/>
                </a:cubicBezTo>
                <a:cubicBezTo>
                  <a:pt x="1582148" y="79445"/>
                  <a:pt x="1596140" y="86407"/>
                  <a:pt x="1611086" y="87086"/>
                </a:cubicBezTo>
                <a:cubicBezTo>
                  <a:pt x="1676333" y="90052"/>
                  <a:pt x="1741715" y="87086"/>
                  <a:pt x="1807029" y="87086"/>
                </a:cubicBezTo>
              </a:path>
            </a:pathLst>
          </a:cu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6093" name="Oval 16"/>
          <p:cNvSpPr>
            <a:spLocks noChangeArrowheads="1"/>
          </p:cNvSpPr>
          <p:nvPr/>
        </p:nvSpPr>
        <p:spPr bwMode="auto">
          <a:xfrm>
            <a:off x="6742113" y="4230688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1600"/>
          </a:p>
        </p:txBody>
      </p:sp>
      <p:sp>
        <p:nvSpPr>
          <p:cNvPr id="46094" name="Oval 17"/>
          <p:cNvSpPr>
            <a:spLocks noChangeArrowheads="1"/>
          </p:cNvSpPr>
          <p:nvPr/>
        </p:nvSpPr>
        <p:spPr bwMode="auto">
          <a:xfrm>
            <a:off x="6665913" y="4154488"/>
            <a:ext cx="533400" cy="533400"/>
          </a:xfrm>
          <a:prstGeom prst="ellips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46095" name="TextBox 18"/>
          <p:cNvSpPr txBox="1">
            <a:spLocks noChangeArrowheads="1"/>
          </p:cNvSpPr>
          <p:nvPr/>
        </p:nvSpPr>
        <p:spPr bwMode="auto">
          <a:xfrm>
            <a:off x="5562600" y="3886200"/>
            <a:ext cx="369888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w</a:t>
            </a:r>
          </a:p>
        </p:txBody>
      </p:sp>
      <p:sp>
        <p:nvSpPr>
          <p:cNvPr id="46096" name="Oval 19"/>
          <p:cNvSpPr>
            <a:spLocks noChangeArrowheads="1"/>
          </p:cNvSpPr>
          <p:nvPr/>
        </p:nvSpPr>
        <p:spPr bwMode="auto">
          <a:xfrm>
            <a:off x="4459288" y="5410200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r>
              <a:rPr lang="en-US" sz="1600"/>
              <a:t>p</a:t>
            </a:r>
          </a:p>
        </p:txBody>
      </p:sp>
      <p:sp>
        <p:nvSpPr>
          <p:cNvPr id="46097" name="Oval 20"/>
          <p:cNvSpPr>
            <a:spLocks noChangeArrowheads="1"/>
          </p:cNvSpPr>
          <p:nvPr/>
        </p:nvSpPr>
        <p:spPr bwMode="auto">
          <a:xfrm>
            <a:off x="4459288" y="6019800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r>
              <a:rPr lang="en-US" sz="1600"/>
              <a:t>q</a:t>
            </a:r>
          </a:p>
        </p:txBody>
      </p:sp>
      <p:sp>
        <p:nvSpPr>
          <p:cNvPr id="46098" name="Freeform 21"/>
          <p:cNvSpPr>
            <a:spLocks/>
          </p:cNvSpPr>
          <p:nvPr/>
        </p:nvSpPr>
        <p:spPr bwMode="auto">
          <a:xfrm>
            <a:off x="4840288" y="5508625"/>
            <a:ext cx="1806575" cy="153988"/>
          </a:xfrm>
          <a:custGeom>
            <a:avLst/>
            <a:gdLst>
              <a:gd name="T0" fmla="*/ 0 w 1807029"/>
              <a:gd name="T1" fmla="*/ 76590 h 153928"/>
              <a:gd name="T2" fmla="*/ 32553 w 1807029"/>
              <a:gd name="T3" fmla="*/ 54702 h 153928"/>
              <a:gd name="T4" fmla="*/ 97646 w 1807029"/>
              <a:gd name="T5" fmla="*/ 32827 h 153928"/>
              <a:gd name="T6" fmla="*/ 249552 w 1807029"/>
              <a:gd name="T7" fmla="*/ 43764 h 153928"/>
              <a:gd name="T8" fmla="*/ 292952 w 1807029"/>
              <a:gd name="T9" fmla="*/ 76590 h 153928"/>
              <a:gd name="T10" fmla="*/ 390612 w 1807029"/>
              <a:gd name="T11" fmla="*/ 120354 h 153928"/>
              <a:gd name="T12" fmla="*/ 596764 w 1807029"/>
              <a:gd name="T13" fmla="*/ 109412 h 153928"/>
              <a:gd name="T14" fmla="*/ 629315 w 1807029"/>
              <a:gd name="T15" fmla="*/ 98466 h 153928"/>
              <a:gd name="T16" fmla="*/ 651011 w 1807029"/>
              <a:gd name="T17" fmla="*/ 76590 h 153928"/>
              <a:gd name="T18" fmla="*/ 705265 w 1807029"/>
              <a:gd name="T19" fmla="*/ 0 h 153928"/>
              <a:gd name="T20" fmla="*/ 911418 w 1807029"/>
              <a:gd name="T21" fmla="*/ 10938 h 153928"/>
              <a:gd name="T22" fmla="*/ 933116 w 1807029"/>
              <a:gd name="T23" fmla="*/ 32827 h 153928"/>
              <a:gd name="T24" fmla="*/ 965670 w 1807029"/>
              <a:gd name="T25" fmla="*/ 87528 h 153928"/>
              <a:gd name="T26" fmla="*/ 1063324 w 1807029"/>
              <a:gd name="T27" fmla="*/ 120354 h 153928"/>
              <a:gd name="T28" fmla="*/ 1367129 w 1807029"/>
              <a:gd name="T29" fmla="*/ 109412 h 153928"/>
              <a:gd name="T30" fmla="*/ 1475630 w 1807029"/>
              <a:gd name="T31" fmla="*/ 76590 h 153928"/>
              <a:gd name="T32" fmla="*/ 1508180 w 1807029"/>
              <a:gd name="T33" fmla="*/ 65647 h 153928"/>
              <a:gd name="T34" fmla="*/ 1562431 w 1807029"/>
              <a:gd name="T35" fmla="*/ 76590 h 153928"/>
              <a:gd name="T36" fmla="*/ 1605832 w 1807029"/>
              <a:gd name="T37" fmla="*/ 87528 h 153928"/>
              <a:gd name="T38" fmla="*/ 1801135 w 1807029"/>
              <a:gd name="T39" fmla="*/ 87528 h 15392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1807029"/>
              <a:gd name="T61" fmla="*/ 0 h 153928"/>
              <a:gd name="T62" fmla="*/ 1807029 w 1807029"/>
              <a:gd name="T63" fmla="*/ 153928 h 15392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1807029" h="153928">
                <a:moveTo>
                  <a:pt x="0" y="76200"/>
                </a:moveTo>
                <a:cubicBezTo>
                  <a:pt x="10886" y="68943"/>
                  <a:pt x="20702" y="59742"/>
                  <a:pt x="32657" y="54429"/>
                </a:cubicBezTo>
                <a:cubicBezTo>
                  <a:pt x="53628" y="45109"/>
                  <a:pt x="97971" y="32658"/>
                  <a:pt x="97971" y="32658"/>
                </a:cubicBezTo>
                <a:cubicBezTo>
                  <a:pt x="148771" y="36286"/>
                  <a:pt x="200654" y="32495"/>
                  <a:pt x="250371" y="43543"/>
                </a:cubicBezTo>
                <a:cubicBezTo>
                  <a:pt x="268082" y="47479"/>
                  <a:pt x="277687" y="68086"/>
                  <a:pt x="293914" y="76200"/>
                </a:cubicBezTo>
                <a:cubicBezTo>
                  <a:pt x="449369" y="153928"/>
                  <a:pt x="295823" y="55702"/>
                  <a:pt x="391886" y="119743"/>
                </a:cubicBezTo>
                <a:cubicBezTo>
                  <a:pt x="460829" y="116115"/>
                  <a:pt x="529959" y="115108"/>
                  <a:pt x="598714" y="108858"/>
                </a:cubicBezTo>
                <a:cubicBezTo>
                  <a:pt x="610141" y="107819"/>
                  <a:pt x="621532" y="103876"/>
                  <a:pt x="631371" y="97972"/>
                </a:cubicBezTo>
                <a:cubicBezTo>
                  <a:pt x="640172" y="92691"/>
                  <a:pt x="645886" y="83457"/>
                  <a:pt x="653143" y="76200"/>
                </a:cubicBezTo>
                <a:cubicBezTo>
                  <a:pt x="678543" y="0"/>
                  <a:pt x="653143" y="18143"/>
                  <a:pt x="707571" y="0"/>
                </a:cubicBezTo>
                <a:cubicBezTo>
                  <a:pt x="776514" y="3629"/>
                  <a:pt x="846055" y="1122"/>
                  <a:pt x="914400" y="10886"/>
                </a:cubicBezTo>
                <a:cubicBezTo>
                  <a:pt x="924560" y="12337"/>
                  <a:pt x="930891" y="23857"/>
                  <a:pt x="936171" y="32658"/>
                </a:cubicBezTo>
                <a:cubicBezTo>
                  <a:pt x="950811" y="57059"/>
                  <a:pt x="938488" y="73295"/>
                  <a:pt x="968829" y="87086"/>
                </a:cubicBezTo>
                <a:cubicBezTo>
                  <a:pt x="1000167" y="101330"/>
                  <a:pt x="1034143" y="108857"/>
                  <a:pt x="1066800" y="119743"/>
                </a:cubicBezTo>
                <a:cubicBezTo>
                  <a:pt x="1168400" y="116115"/>
                  <a:pt x="1270133" y="115200"/>
                  <a:pt x="1371600" y="108858"/>
                </a:cubicBezTo>
                <a:cubicBezTo>
                  <a:pt x="1391849" y="107592"/>
                  <a:pt x="1470832" y="79408"/>
                  <a:pt x="1480457" y="76200"/>
                </a:cubicBezTo>
                <a:lnTo>
                  <a:pt x="1513114" y="65315"/>
                </a:lnTo>
                <a:cubicBezTo>
                  <a:pt x="1531257" y="68943"/>
                  <a:pt x="1549481" y="72186"/>
                  <a:pt x="1567543" y="76200"/>
                </a:cubicBezTo>
                <a:cubicBezTo>
                  <a:pt x="1582148" y="79445"/>
                  <a:pt x="1596140" y="86407"/>
                  <a:pt x="1611086" y="87086"/>
                </a:cubicBezTo>
                <a:cubicBezTo>
                  <a:pt x="1676333" y="90052"/>
                  <a:pt x="1741715" y="87086"/>
                  <a:pt x="1807029" y="87086"/>
                </a:cubicBezTo>
              </a:path>
            </a:pathLst>
          </a:cu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6099" name="Oval 22"/>
          <p:cNvSpPr>
            <a:spLocks noChangeArrowheads="1"/>
          </p:cNvSpPr>
          <p:nvPr/>
        </p:nvSpPr>
        <p:spPr bwMode="auto">
          <a:xfrm>
            <a:off x="6705600" y="5410200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1600"/>
          </a:p>
        </p:txBody>
      </p:sp>
      <p:sp>
        <p:nvSpPr>
          <p:cNvPr id="46100" name="Freeform 24"/>
          <p:cNvSpPr>
            <a:spLocks/>
          </p:cNvSpPr>
          <p:nvPr/>
        </p:nvSpPr>
        <p:spPr bwMode="auto">
          <a:xfrm>
            <a:off x="4876800" y="6081713"/>
            <a:ext cx="1806575" cy="153987"/>
          </a:xfrm>
          <a:custGeom>
            <a:avLst/>
            <a:gdLst>
              <a:gd name="T0" fmla="*/ 0 w 1807029"/>
              <a:gd name="T1" fmla="*/ 76577 h 153928"/>
              <a:gd name="T2" fmla="*/ 32553 w 1807029"/>
              <a:gd name="T3" fmla="*/ 54702 h 153928"/>
              <a:gd name="T4" fmla="*/ 97646 w 1807029"/>
              <a:gd name="T5" fmla="*/ 32827 h 153928"/>
              <a:gd name="T6" fmla="*/ 249552 w 1807029"/>
              <a:gd name="T7" fmla="*/ 43764 h 153928"/>
              <a:gd name="T8" fmla="*/ 292952 w 1807029"/>
              <a:gd name="T9" fmla="*/ 76577 h 153928"/>
              <a:gd name="T10" fmla="*/ 390612 w 1807029"/>
              <a:gd name="T11" fmla="*/ 120341 h 153928"/>
              <a:gd name="T12" fmla="*/ 596764 w 1807029"/>
              <a:gd name="T13" fmla="*/ 109404 h 153928"/>
              <a:gd name="T14" fmla="*/ 629315 w 1807029"/>
              <a:gd name="T15" fmla="*/ 98466 h 153928"/>
              <a:gd name="T16" fmla="*/ 651011 w 1807029"/>
              <a:gd name="T17" fmla="*/ 76577 h 153928"/>
              <a:gd name="T18" fmla="*/ 705265 w 1807029"/>
              <a:gd name="T19" fmla="*/ 0 h 153928"/>
              <a:gd name="T20" fmla="*/ 911418 w 1807029"/>
              <a:gd name="T21" fmla="*/ 10938 h 153928"/>
              <a:gd name="T22" fmla="*/ 933116 w 1807029"/>
              <a:gd name="T23" fmla="*/ 32827 h 153928"/>
              <a:gd name="T24" fmla="*/ 965670 w 1807029"/>
              <a:gd name="T25" fmla="*/ 87518 h 153928"/>
              <a:gd name="T26" fmla="*/ 1063324 w 1807029"/>
              <a:gd name="T27" fmla="*/ 120341 h 153928"/>
              <a:gd name="T28" fmla="*/ 1367129 w 1807029"/>
              <a:gd name="T29" fmla="*/ 109404 h 153928"/>
              <a:gd name="T30" fmla="*/ 1475630 w 1807029"/>
              <a:gd name="T31" fmla="*/ 76577 h 153928"/>
              <a:gd name="T32" fmla="*/ 1508180 w 1807029"/>
              <a:gd name="T33" fmla="*/ 65640 h 153928"/>
              <a:gd name="T34" fmla="*/ 1562431 w 1807029"/>
              <a:gd name="T35" fmla="*/ 76577 h 153928"/>
              <a:gd name="T36" fmla="*/ 1605832 w 1807029"/>
              <a:gd name="T37" fmla="*/ 87518 h 153928"/>
              <a:gd name="T38" fmla="*/ 1801135 w 1807029"/>
              <a:gd name="T39" fmla="*/ 87518 h 153928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w 1807029"/>
              <a:gd name="T61" fmla="*/ 0 h 153928"/>
              <a:gd name="T62" fmla="*/ 1807029 w 1807029"/>
              <a:gd name="T63" fmla="*/ 153928 h 153928"/>
            </a:gdLst>
            <a:ahLst/>
            <a:cxnLst>
              <a:cxn ang="T40">
                <a:pos x="T0" y="T1"/>
              </a:cxn>
              <a:cxn ang="T41">
                <a:pos x="T2" y="T3"/>
              </a:cxn>
              <a:cxn ang="T42">
                <a:pos x="T4" y="T5"/>
              </a:cxn>
              <a:cxn ang="T43">
                <a:pos x="T6" y="T7"/>
              </a:cxn>
              <a:cxn ang="T44">
                <a:pos x="T8" y="T9"/>
              </a:cxn>
              <a:cxn ang="T45">
                <a:pos x="T10" y="T11"/>
              </a:cxn>
              <a:cxn ang="T46">
                <a:pos x="T12" y="T13"/>
              </a:cxn>
              <a:cxn ang="T47">
                <a:pos x="T14" y="T15"/>
              </a:cxn>
              <a:cxn ang="T48">
                <a:pos x="T16" y="T17"/>
              </a:cxn>
              <a:cxn ang="T49">
                <a:pos x="T18" y="T19"/>
              </a:cxn>
              <a:cxn ang="T50">
                <a:pos x="T20" y="T21"/>
              </a:cxn>
              <a:cxn ang="T51">
                <a:pos x="T22" y="T23"/>
              </a:cxn>
              <a:cxn ang="T52">
                <a:pos x="T24" y="T25"/>
              </a:cxn>
              <a:cxn ang="T53">
                <a:pos x="T26" y="T27"/>
              </a:cxn>
              <a:cxn ang="T54">
                <a:pos x="T28" y="T29"/>
              </a:cxn>
              <a:cxn ang="T55">
                <a:pos x="T30" y="T31"/>
              </a:cxn>
              <a:cxn ang="T56">
                <a:pos x="T32" y="T33"/>
              </a:cxn>
              <a:cxn ang="T57">
                <a:pos x="T34" y="T35"/>
              </a:cxn>
              <a:cxn ang="T58">
                <a:pos x="T36" y="T37"/>
              </a:cxn>
              <a:cxn ang="T59">
                <a:pos x="T38" y="T39"/>
              </a:cxn>
            </a:cxnLst>
            <a:rect l="T60" t="T61" r="T62" b="T63"/>
            <a:pathLst>
              <a:path w="1807029" h="153928">
                <a:moveTo>
                  <a:pt x="0" y="76200"/>
                </a:moveTo>
                <a:cubicBezTo>
                  <a:pt x="10886" y="68943"/>
                  <a:pt x="20702" y="59742"/>
                  <a:pt x="32657" y="54429"/>
                </a:cubicBezTo>
                <a:cubicBezTo>
                  <a:pt x="53628" y="45109"/>
                  <a:pt x="97971" y="32658"/>
                  <a:pt x="97971" y="32658"/>
                </a:cubicBezTo>
                <a:cubicBezTo>
                  <a:pt x="148771" y="36286"/>
                  <a:pt x="200654" y="32495"/>
                  <a:pt x="250371" y="43543"/>
                </a:cubicBezTo>
                <a:cubicBezTo>
                  <a:pt x="268082" y="47479"/>
                  <a:pt x="277687" y="68086"/>
                  <a:pt x="293914" y="76200"/>
                </a:cubicBezTo>
                <a:cubicBezTo>
                  <a:pt x="449369" y="153928"/>
                  <a:pt x="295823" y="55702"/>
                  <a:pt x="391886" y="119743"/>
                </a:cubicBezTo>
                <a:cubicBezTo>
                  <a:pt x="460829" y="116115"/>
                  <a:pt x="529959" y="115108"/>
                  <a:pt x="598714" y="108858"/>
                </a:cubicBezTo>
                <a:cubicBezTo>
                  <a:pt x="610141" y="107819"/>
                  <a:pt x="621532" y="103876"/>
                  <a:pt x="631371" y="97972"/>
                </a:cubicBezTo>
                <a:cubicBezTo>
                  <a:pt x="640172" y="92691"/>
                  <a:pt x="645886" y="83457"/>
                  <a:pt x="653143" y="76200"/>
                </a:cubicBezTo>
                <a:cubicBezTo>
                  <a:pt x="678543" y="0"/>
                  <a:pt x="653143" y="18143"/>
                  <a:pt x="707571" y="0"/>
                </a:cubicBezTo>
                <a:cubicBezTo>
                  <a:pt x="776514" y="3629"/>
                  <a:pt x="846055" y="1122"/>
                  <a:pt x="914400" y="10886"/>
                </a:cubicBezTo>
                <a:cubicBezTo>
                  <a:pt x="924560" y="12337"/>
                  <a:pt x="930891" y="23857"/>
                  <a:pt x="936171" y="32658"/>
                </a:cubicBezTo>
                <a:cubicBezTo>
                  <a:pt x="950811" y="57059"/>
                  <a:pt x="938488" y="73295"/>
                  <a:pt x="968829" y="87086"/>
                </a:cubicBezTo>
                <a:cubicBezTo>
                  <a:pt x="1000167" y="101330"/>
                  <a:pt x="1034143" y="108857"/>
                  <a:pt x="1066800" y="119743"/>
                </a:cubicBezTo>
                <a:cubicBezTo>
                  <a:pt x="1168400" y="116115"/>
                  <a:pt x="1270133" y="115200"/>
                  <a:pt x="1371600" y="108858"/>
                </a:cubicBezTo>
                <a:cubicBezTo>
                  <a:pt x="1391849" y="107592"/>
                  <a:pt x="1470832" y="79408"/>
                  <a:pt x="1480457" y="76200"/>
                </a:cubicBezTo>
                <a:lnTo>
                  <a:pt x="1513114" y="65315"/>
                </a:lnTo>
                <a:cubicBezTo>
                  <a:pt x="1531257" y="68943"/>
                  <a:pt x="1549481" y="72186"/>
                  <a:pt x="1567543" y="76200"/>
                </a:cubicBezTo>
                <a:cubicBezTo>
                  <a:pt x="1582148" y="79445"/>
                  <a:pt x="1596140" y="86407"/>
                  <a:pt x="1611086" y="87086"/>
                </a:cubicBezTo>
                <a:cubicBezTo>
                  <a:pt x="1676333" y="90052"/>
                  <a:pt x="1741715" y="87086"/>
                  <a:pt x="1807029" y="87086"/>
                </a:cubicBezTo>
              </a:path>
            </a:pathLst>
          </a:cu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6101" name="Oval 25"/>
          <p:cNvSpPr>
            <a:spLocks noChangeArrowheads="1"/>
          </p:cNvSpPr>
          <p:nvPr/>
        </p:nvSpPr>
        <p:spPr bwMode="auto">
          <a:xfrm>
            <a:off x="6705600" y="5983288"/>
            <a:ext cx="381000" cy="381000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 sz="1600"/>
          </a:p>
        </p:txBody>
      </p:sp>
      <p:sp>
        <p:nvSpPr>
          <p:cNvPr id="46102" name="TextBox 27"/>
          <p:cNvSpPr txBox="1">
            <a:spLocks noChangeArrowheads="1"/>
          </p:cNvSpPr>
          <p:nvPr/>
        </p:nvSpPr>
        <p:spPr bwMode="auto">
          <a:xfrm>
            <a:off x="5562600" y="5619750"/>
            <a:ext cx="369888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w</a:t>
            </a:r>
          </a:p>
        </p:txBody>
      </p:sp>
      <p:sp>
        <p:nvSpPr>
          <p:cNvPr id="46103" name="TextBox 22"/>
          <p:cNvSpPr txBox="1">
            <a:spLocks noChangeArrowheads="1"/>
          </p:cNvSpPr>
          <p:nvPr/>
        </p:nvSpPr>
        <p:spPr bwMode="auto">
          <a:xfrm>
            <a:off x="2057400" y="6172200"/>
            <a:ext cx="963613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ym typeface="Wingdings" pitchFamily="28" charset="2"/>
              </a:rPr>
              <a:t> </a:t>
            </a:r>
            <a:r>
              <a:rPr lang="en-US"/>
              <a:t>p</a:t>
            </a:r>
            <a:r>
              <a:rPr lang="en-US">
                <a:cs typeface="Arial" charset="0"/>
              </a:rPr>
              <a:t>≡</a:t>
            </a:r>
            <a:r>
              <a:rPr lang="en-US"/>
              <a:t>q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3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32A802B-44DF-49C5-9C6C-B38F536C84E8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4710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Computing equivalent states in a DFA</a:t>
            </a:r>
          </a:p>
        </p:txBody>
      </p:sp>
      <p:sp>
        <p:nvSpPr>
          <p:cNvPr id="47108" name="Oval 4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47109" name="Line 6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10" name="Oval 7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47111" name="Line 8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12" name="Oval 9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47113" name="Line 10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14" name="Oval 11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15" name="Oval 12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47116" name="Line 13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17" name="Oval 14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47118" name="Oval 15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47119" name="Line 16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0" name="Oval 17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47121" name="Line 18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2" name="Oval 20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47123" name="Line 21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4" name="Line 22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5" name="Line 23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6" name="Line 24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7" name="Line 25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8" name="Freeform 26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29" name="Freeform 27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30" name="Freeform 28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31" name="Freeform 29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32" name="Freeform 31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33" name="Text Box 32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34" name="Text Box 33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35" name="Text Box 34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36" name="Text Box 35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37" name="Text Box 37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38" name="Text Box 38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39" name="Text Box 39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40" name="Line 40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7141" name="Text Box 41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42" name="Text Box 42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43" name="Text Box 43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44" name="Text Box 44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45" name="Text Box 45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46" name="Text Box 46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47" name="Text Box 47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48" name="Text Box 48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7149" name="Text Box 49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7150" name="Text Box 50"/>
          <p:cNvSpPr txBox="1">
            <a:spLocks noChangeArrowheads="1"/>
          </p:cNvSpPr>
          <p:nvPr/>
        </p:nvSpPr>
        <p:spPr bwMode="auto">
          <a:xfrm>
            <a:off x="3856038" y="1219200"/>
            <a:ext cx="2697162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u="sng"/>
              <a:t>Table Filling Algorithm</a:t>
            </a:r>
          </a:p>
        </p:txBody>
      </p:sp>
      <p:sp>
        <p:nvSpPr>
          <p:cNvPr id="47151" name="Rectangle 51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39123" name="Group 531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9126" name="Text Box 534"/>
          <p:cNvSpPr txBox="1">
            <a:spLocks noChangeArrowheads="1"/>
          </p:cNvSpPr>
          <p:nvPr/>
        </p:nvSpPr>
        <p:spPr bwMode="auto">
          <a:xfrm>
            <a:off x="228600" y="4419600"/>
            <a:ext cx="6923088" cy="246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None/>
            </a:pPr>
            <a:r>
              <a:rPr lang="en-US" sz="1400" u="sng"/>
              <a:t>Pass #0</a:t>
            </a:r>
          </a:p>
          <a:p>
            <a:pPr marL="914400" lvl="1" indent="-457200">
              <a:buFont typeface="Arial" charset="0"/>
              <a:buAutoNum type="arabicPeriod"/>
            </a:pPr>
            <a:r>
              <a:rPr lang="en-US" sz="1400"/>
              <a:t>Mark  accepting states ≠ non-accepting states  </a:t>
            </a:r>
          </a:p>
          <a:p>
            <a:pPr marL="457200" indent="-457200">
              <a:buFont typeface="Arial" charset="0"/>
              <a:buNone/>
            </a:pPr>
            <a:r>
              <a:rPr lang="en-US" sz="1400" u="sng"/>
              <a:t>Pass #1</a:t>
            </a:r>
          </a:p>
          <a:p>
            <a:pPr marL="914400" lvl="1" indent="-457200">
              <a:buFont typeface="Arial" charset="0"/>
              <a:buAutoNum type="arabicPeriod"/>
            </a:pPr>
            <a:r>
              <a:rPr lang="en-US" sz="1400"/>
              <a:t>Compare every pair of states</a:t>
            </a:r>
          </a:p>
          <a:p>
            <a:pPr marL="914400" lvl="1" indent="-457200">
              <a:buFont typeface="Arial" charset="0"/>
              <a:buAutoNum type="arabicPeriod"/>
            </a:pPr>
            <a:r>
              <a:rPr lang="en-US" sz="1400"/>
              <a:t>Distinguish by one symbol transition</a:t>
            </a:r>
          </a:p>
          <a:p>
            <a:pPr marL="914400" lvl="1" indent="-457200">
              <a:buFont typeface="Arial" charset="0"/>
              <a:buAutoNum type="arabicPeriod"/>
            </a:pPr>
            <a:r>
              <a:rPr lang="en-US" sz="1400"/>
              <a:t>Mark = or ≠ or blank(tbd)</a:t>
            </a:r>
          </a:p>
          <a:p>
            <a:pPr marL="457200" indent="-457200">
              <a:buFont typeface="Arial" charset="0"/>
              <a:buNone/>
            </a:pPr>
            <a:r>
              <a:rPr lang="en-US" sz="1400" u="sng"/>
              <a:t>Pass #2</a:t>
            </a:r>
          </a:p>
          <a:p>
            <a:pPr marL="914400" lvl="1" indent="-457200">
              <a:buFont typeface="Arial" charset="0"/>
              <a:buAutoNum type="arabicPeriod"/>
            </a:pPr>
            <a:r>
              <a:rPr lang="en-US" sz="1400"/>
              <a:t>Compare every pair of states</a:t>
            </a:r>
          </a:p>
          <a:p>
            <a:pPr marL="914400" lvl="1" indent="-457200">
              <a:buFont typeface="Arial" charset="0"/>
              <a:buAutoNum type="arabicPeriod"/>
            </a:pPr>
            <a:r>
              <a:rPr lang="en-US" sz="1400"/>
              <a:t>Distinguish by up to two symbol transitions (until different or same or tbd) </a:t>
            </a:r>
          </a:p>
          <a:p>
            <a:pPr marL="457200" indent="-457200">
              <a:buFont typeface="Arial" charset="0"/>
              <a:buNone/>
            </a:pPr>
            <a:r>
              <a:rPr lang="en-US" sz="1400"/>
              <a:t>…. </a:t>
            </a:r>
          </a:p>
          <a:p>
            <a:pPr marL="457200" indent="-457200">
              <a:buFont typeface="Arial" charset="0"/>
              <a:buNone/>
            </a:pPr>
            <a:r>
              <a:rPr lang="en-US" sz="1400"/>
              <a:t>(keep repeating until table complete)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1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9BCF54E-F649-4945-B35C-3BEC818CB3C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481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48132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48133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34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48135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36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48137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38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39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48140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41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48142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48143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44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48145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46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48147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48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49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0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1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2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3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4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5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6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57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58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59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60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61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62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63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64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65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66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67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68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69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70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71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72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8173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8174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85743" name="Group 47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B1CDFE76-23B1-4620-9256-46B01D981A0B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491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49156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49157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58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49159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60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49161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62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63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49164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65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49166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49167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68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49169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0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49171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2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3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4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5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6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7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8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79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80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81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82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83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84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85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86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87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88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189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90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91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92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93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94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95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96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49197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49198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50025" name="Group 169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9299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4614863" cy="730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endParaRPr lang="en-US" sz="1400"/>
          </a:p>
          <a:p>
            <a:pPr marL="457200" indent="-457200">
              <a:buFont typeface="Arial" charset="0"/>
              <a:buAutoNum type="arabicPeriod"/>
            </a:pPr>
            <a:endParaRPr lang="en-US" sz="1400"/>
          </a:p>
        </p:txBody>
      </p:sp>
      <p:sp>
        <p:nvSpPr>
          <p:cNvPr id="49300" name="Line 166"/>
          <p:cNvSpPr>
            <a:spLocks noChangeShapeType="1"/>
          </p:cNvSpPr>
          <p:nvPr/>
        </p:nvSpPr>
        <p:spPr bwMode="auto">
          <a:xfrm flipV="1">
            <a:off x="7162800" y="5410200"/>
            <a:ext cx="0" cy="30480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9301" name="Line 167"/>
          <p:cNvSpPr>
            <a:spLocks noChangeShapeType="1"/>
          </p:cNvSpPr>
          <p:nvPr/>
        </p:nvSpPr>
        <p:spPr bwMode="auto">
          <a:xfrm flipV="1">
            <a:off x="4648200" y="3733800"/>
            <a:ext cx="4572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494DFCE5-34E6-48C2-BB3C-E65D6ADC4A38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01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0180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0181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82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0183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84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0185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86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87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0188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89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0190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0191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92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0193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94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0195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96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97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98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199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200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201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202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203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204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205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06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07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08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09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10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11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12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0213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14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15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16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17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18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19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20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0221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0222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52071" name="Group 167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0323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4732338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Look 1- hop away for distinguishing states or strings</a:t>
            </a:r>
          </a:p>
        </p:txBody>
      </p:sp>
      <p:sp>
        <p:nvSpPr>
          <p:cNvPr id="50324" name="Line 168"/>
          <p:cNvSpPr>
            <a:spLocks noChangeShapeType="1"/>
          </p:cNvSpPr>
          <p:nvPr/>
        </p:nvSpPr>
        <p:spPr bwMode="auto">
          <a:xfrm flipV="1">
            <a:off x="5638800" y="5410200"/>
            <a:ext cx="0" cy="30480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3BAA579-CB74-403B-B270-BDDCD24C7B02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120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1204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1205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06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1207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08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1209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10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11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1212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13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1214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1215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16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1217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18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1219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0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1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2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3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4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5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6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7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8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29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30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31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32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33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34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35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36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1237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38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39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40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41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42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43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44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1245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1246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53999" name="Group 47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1347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4732338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Look 1- hop away for distinguishing states or strings</a:t>
            </a:r>
          </a:p>
        </p:txBody>
      </p:sp>
      <p:sp>
        <p:nvSpPr>
          <p:cNvPr id="51348" name="Line 166"/>
          <p:cNvSpPr>
            <a:spLocks noChangeShapeType="1"/>
          </p:cNvSpPr>
          <p:nvPr/>
        </p:nvSpPr>
        <p:spPr bwMode="auto">
          <a:xfrm flipV="1">
            <a:off x="6019800" y="5410200"/>
            <a:ext cx="0" cy="30480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1415EAD-6290-4C2D-94AA-1B8DF47A74F0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22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2228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2229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30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2231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32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2233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34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35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2236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37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2238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2239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0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2241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2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2243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4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5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6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7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8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49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50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51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52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53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54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55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56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57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58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59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60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2261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62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63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64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65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66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67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68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2269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2270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56047" name="Group 47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2371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4732338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Look 1- hop away for distinguishing states or strings</a:t>
            </a:r>
          </a:p>
        </p:txBody>
      </p:sp>
      <p:sp>
        <p:nvSpPr>
          <p:cNvPr id="52372" name="Line 166"/>
          <p:cNvSpPr>
            <a:spLocks noChangeShapeType="1"/>
          </p:cNvSpPr>
          <p:nvPr/>
        </p:nvSpPr>
        <p:spPr bwMode="auto">
          <a:xfrm flipV="1">
            <a:off x="6400800" y="5410200"/>
            <a:ext cx="0" cy="30480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D17BD7B-EE41-4AE2-831B-65E5A7351357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53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3252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3253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54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3255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56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3257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58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59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3260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61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3262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3263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64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3265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66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3267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68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69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0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1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2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3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4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5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6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77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78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79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80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81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82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83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84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285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86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87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88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89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90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91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92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3293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3294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58095" name="Group 47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3395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4732338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Look 1- hop away for distinguishing states or strings</a:t>
            </a:r>
          </a:p>
        </p:txBody>
      </p:sp>
      <p:sp>
        <p:nvSpPr>
          <p:cNvPr id="53396" name="Line 166"/>
          <p:cNvSpPr>
            <a:spLocks noChangeShapeType="1"/>
          </p:cNvSpPr>
          <p:nvPr/>
        </p:nvSpPr>
        <p:spPr bwMode="auto">
          <a:xfrm flipV="1">
            <a:off x="6781800" y="5410200"/>
            <a:ext cx="0" cy="30480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40D3CC5-9F64-48EB-AF5E-E5FAAB0EF8F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54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4276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4277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78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4279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80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4281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82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83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4284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85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4286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4287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88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4289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0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4291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2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3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4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5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6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7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8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299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300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301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02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03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04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05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06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07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08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4309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10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11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12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13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14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15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16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4317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4318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60143" name="Group 47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4419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4732338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Look 1- hop away for distinguishing states or strings</a:t>
            </a:r>
          </a:p>
        </p:txBody>
      </p:sp>
      <p:sp>
        <p:nvSpPr>
          <p:cNvPr id="54420" name="Line 166"/>
          <p:cNvSpPr>
            <a:spLocks noChangeShapeType="1"/>
          </p:cNvSpPr>
          <p:nvPr/>
        </p:nvSpPr>
        <p:spPr bwMode="auto">
          <a:xfrm flipV="1">
            <a:off x="7543800" y="5410200"/>
            <a:ext cx="0" cy="30480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7341B62-09EF-4CAB-B5BB-E6AC21E5442F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52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5300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5301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02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5303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04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5305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06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07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5308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09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5310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5311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12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5313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14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5315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16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17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18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19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20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21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22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23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24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25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26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27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28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29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30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31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32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5333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34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35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36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37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38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39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40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5341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5342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62191" name="Group 47"/>
          <p:cNvGraphicFramePr>
            <a:graphicFrameLocks noGrp="1"/>
          </p:cNvGraphicFramePr>
          <p:nvPr/>
        </p:nvGraphicFramePr>
        <p:xfrm>
          <a:off x="5105400" y="2133600"/>
          <a:ext cx="3429000" cy="3291840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5443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4732338" cy="517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Look 1- hop away for distinguishing states or strings</a:t>
            </a:r>
          </a:p>
        </p:txBody>
      </p:sp>
      <p:sp>
        <p:nvSpPr>
          <p:cNvPr id="55444" name="Line 166"/>
          <p:cNvSpPr>
            <a:spLocks noChangeShapeType="1"/>
          </p:cNvSpPr>
          <p:nvPr/>
        </p:nvSpPr>
        <p:spPr bwMode="auto">
          <a:xfrm flipV="1">
            <a:off x="7924800" y="5410200"/>
            <a:ext cx="0" cy="30480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F0A7EB8-A1C1-449F-A754-ABCBABBE78DD}" type="slidenum">
              <a:rPr lang="en-US" smtClean="0"/>
              <a:pPr/>
              <a:t>41</a:t>
            </a:fld>
            <a:endParaRPr lang="en-US"/>
          </a:p>
        </p:txBody>
      </p:sp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6324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6325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26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6327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28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6329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30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31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6332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33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6334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6335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36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6337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38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6339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0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1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2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3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4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5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6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7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8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49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50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51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52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53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54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55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56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6357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58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59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60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61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62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63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64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6365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6366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64363" name="Group 171"/>
          <p:cNvGraphicFramePr>
            <a:graphicFrameLocks noGrp="1"/>
          </p:cNvGraphicFramePr>
          <p:nvPr/>
        </p:nvGraphicFramePr>
        <p:xfrm>
          <a:off x="5105400" y="2133600"/>
          <a:ext cx="3429000" cy="3292475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6467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56642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Pass 1: </a:t>
            </a:r>
            <a:br>
              <a:rPr lang="en-US" sz="1400"/>
            </a:br>
            <a:r>
              <a:rPr lang="en-US" sz="1400"/>
              <a:t>	Look 1- hop away for distinguishing states or strings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Pass 2:</a:t>
            </a:r>
          </a:p>
          <a:p>
            <a:pPr marL="914400" lvl="1" indent="-457200"/>
            <a:r>
              <a:rPr lang="en-US" sz="1400"/>
              <a:t>	Look 1-hop away again for distinguishing states or strings</a:t>
            </a:r>
          </a:p>
          <a:p>
            <a:pPr marL="914400" lvl="1" indent="-457200"/>
            <a:r>
              <a:rPr lang="en-US" sz="1400"/>
              <a:t>continue….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F2E69FDE-CD6C-4BA2-B7DB-199DAFAD7AD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73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7348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7349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50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7351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52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7353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54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55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7356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57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7358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7359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0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7361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2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7363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4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5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6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7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8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69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70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71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72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73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74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75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76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77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78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79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80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7381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82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83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84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85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86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87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88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7389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7390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64363" name="Group 171"/>
          <p:cNvGraphicFramePr>
            <a:graphicFrameLocks noGrp="1"/>
          </p:cNvGraphicFramePr>
          <p:nvPr/>
        </p:nvGraphicFramePr>
        <p:xfrm>
          <a:off x="5105400" y="2133600"/>
          <a:ext cx="3429000" cy="3292475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hlink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64359" name="Text Box 167"/>
          <p:cNvSpPr txBox="1">
            <a:spLocks noChangeArrowheads="1"/>
          </p:cNvSpPr>
          <p:nvPr/>
        </p:nvSpPr>
        <p:spPr bwMode="auto">
          <a:xfrm>
            <a:off x="5715000" y="5592763"/>
            <a:ext cx="1506538" cy="1069975"/>
          </a:xfrm>
          <a:prstGeom prst="rect">
            <a:avLst/>
          </a:prstGeom>
          <a:solidFill>
            <a:srgbClr val="CCFFCC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 u="sng">
                <a:solidFill>
                  <a:schemeClr val="folHlink"/>
                </a:solidFill>
              </a:rPr>
              <a:t>Equivalences:</a:t>
            </a:r>
            <a:r>
              <a:rPr lang="en-US" sz="1600">
                <a:solidFill>
                  <a:schemeClr val="folHlink"/>
                </a:solidFill>
              </a:rPr>
              <a:t> </a:t>
            </a:r>
          </a:p>
          <a:p>
            <a:pPr>
              <a:buFontTx/>
              <a:buChar char="•"/>
            </a:pPr>
            <a:r>
              <a:rPr lang="en-US" sz="1600">
                <a:solidFill>
                  <a:schemeClr val="folHlink"/>
                </a:solidFill>
              </a:rPr>
              <a:t> A=B</a:t>
            </a:r>
          </a:p>
          <a:p>
            <a:pPr>
              <a:buFontTx/>
              <a:buChar char="•"/>
            </a:pPr>
            <a:r>
              <a:rPr lang="en-US" sz="1600">
                <a:solidFill>
                  <a:schemeClr val="folHlink"/>
                </a:solidFill>
              </a:rPr>
              <a:t> C=H</a:t>
            </a:r>
          </a:p>
          <a:p>
            <a:pPr>
              <a:buFontTx/>
              <a:buChar char="•"/>
            </a:pPr>
            <a:r>
              <a:rPr lang="en-US" sz="1600">
                <a:solidFill>
                  <a:schemeClr val="folHlink"/>
                </a:solidFill>
              </a:rPr>
              <a:t> D=G      </a:t>
            </a:r>
          </a:p>
        </p:txBody>
      </p:sp>
      <p:sp>
        <p:nvSpPr>
          <p:cNvPr id="50" name="Oval 49"/>
          <p:cNvSpPr>
            <a:spLocks noChangeArrowheads="1"/>
          </p:cNvSpPr>
          <p:nvPr/>
        </p:nvSpPr>
        <p:spPr bwMode="auto">
          <a:xfrm>
            <a:off x="5410200" y="2438400"/>
            <a:ext cx="457200" cy="457200"/>
          </a:xfrm>
          <a:prstGeom prst="ellipse">
            <a:avLst/>
          </a:prstGeom>
          <a:solidFill>
            <a:srgbClr val="92D050">
              <a:alpha val="43137"/>
            </a:srgbClr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1" name="Oval 50"/>
          <p:cNvSpPr>
            <a:spLocks noChangeArrowheads="1"/>
          </p:cNvSpPr>
          <p:nvPr/>
        </p:nvSpPr>
        <p:spPr bwMode="auto">
          <a:xfrm>
            <a:off x="6172200" y="4648200"/>
            <a:ext cx="457200" cy="457200"/>
          </a:xfrm>
          <a:prstGeom prst="ellipse">
            <a:avLst/>
          </a:prstGeom>
          <a:solidFill>
            <a:srgbClr val="92D050">
              <a:alpha val="43137"/>
            </a:srgbClr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2" name="Oval 51"/>
          <p:cNvSpPr>
            <a:spLocks noChangeArrowheads="1"/>
          </p:cNvSpPr>
          <p:nvPr/>
        </p:nvSpPr>
        <p:spPr bwMode="auto">
          <a:xfrm>
            <a:off x="6553200" y="4267200"/>
            <a:ext cx="457200" cy="457200"/>
          </a:xfrm>
          <a:prstGeom prst="ellipse">
            <a:avLst/>
          </a:prstGeom>
          <a:solidFill>
            <a:srgbClr val="92D050">
              <a:alpha val="43137"/>
            </a:srgbClr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57495" name="Text Box 165"/>
          <p:cNvSpPr txBox="1">
            <a:spLocks noChangeArrowheads="1"/>
          </p:cNvSpPr>
          <p:nvPr/>
        </p:nvSpPr>
        <p:spPr bwMode="auto">
          <a:xfrm>
            <a:off x="228600" y="4814888"/>
            <a:ext cx="5664200" cy="1384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 sz="1400"/>
              <a:t>Mark </a:t>
            </a:r>
            <a:r>
              <a:rPr lang="en-US" sz="1400">
                <a:solidFill>
                  <a:schemeClr val="hlink"/>
                </a:solidFill>
              </a:rPr>
              <a:t>X</a:t>
            </a:r>
            <a:r>
              <a:rPr lang="en-US" sz="1400"/>
              <a:t> between accepting vs. non-accepting state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Pass 1: </a:t>
            </a:r>
            <a:br>
              <a:rPr lang="en-US" sz="1400"/>
            </a:br>
            <a:r>
              <a:rPr lang="en-US" sz="1400"/>
              <a:t>	Look 1- hop away for distinguishing states or strings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sz="1400"/>
              <a:t>Pass 2:</a:t>
            </a:r>
          </a:p>
          <a:p>
            <a:pPr marL="914400" lvl="1" indent="-457200"/>
            <a:r>
              <a:rPr lang="en-US" sz="1400"/>
              <a:t>	Look 1-hop away again for distinguishing states or strings</a:t>
            </a:r>
          </a:p>
          <a:p>
            <a:pPr marL="914400" lvl="1" indent="-457200"/>
            <a:r>
              <a:rPr lang="en-US" sz="1400"/>
              <a:t>continue….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4359" grpId="0" animBg="1"/>
      <p:bldP spid="50" grpId="0" animBg="1"/>
      <p:bldP spid="51" grpId="0" animBg="1"/>
      <p:bldP spid="5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822B618-5165-4E97-B0C1-ED3928CBBD54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8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- step by step</a:t>
            </a:r>
          </a:p>
        </p:txBody>
      </p:sp>
      <p:sp>
        <p:nvSpPr>
          <p:cNvPr id="58372" name="Oval 3"/>
          <p:cNvSpPr>
            <a:spLocks noChangeArrowheads="1"/>
          </p:cNvSpPr>
          <p:nvPr/>
        </p:nvSpPr>
        <p:spPr bwMode="auto">
          <a:xfrm>
            <a:off x="1295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58373" name="Line 4"/>
          <p:cNvSpPr>
            <a:spLocks noChangeShapeType="1"/>
          </p:cNvSpPr>
          <p:nvPr/>
        </p:nvSpPr>
        <p:spPr bwMode="auto">
          <a:xfrm>
            <a:off x="914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74" name="Oval 5"/>
          <p:cNvSpPr>
            <a:spLocks noChangeArrowheads="1"/>
          </p:cNvSpPr>
          <p:nvPr/>
        </p:nvSpPr>
        <p:spPr bwMode="auto">
          <a:xfrm>
            <a:off x="2057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58375" name="Line 6"/>
          <p:cNvSpPr>
            <a:spLocks noChangeShapeType="1"/>
          </p:cNvSpPr>
          <p:nvPr/>
        </p:nvSpPr>
        <p:spPr bwMode="auto">
          <a:xfrm>
            <a:off x="1600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76" name="Oval 7"/>
          <p:cNvSpPr>
            <a:spLocks noChangeArrowheads="1"/>
          </p:cNvSpPr>
          <p:nvPr/>
        </p:nvSpPr>
        <p:spPr bwMode="auto">
          <a:xfrm>
            <a:off x="2895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58377" name="Line 8"/>
          <p:cNvSpPr>
            <a:spLocks noChangeShapeType="1"/>
          </p:cNvSpPr>
          <p:nvPr/>
        </p:nvSpPr>
        <p:spPr bwMode="auto">
          <a:xfrm>
            <a:off x="2362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78" name="Oval 9"/>
          <p:cNvSpPr>
            <a:spLocks noChangeArrowheads="1"/>
          </p:cNvSpPr>
          <p:nvPr/>
        </p:nvSpPr>
        <p:spPr bwMode="auto">
          <a:xfrm>
            <a:off x="2819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79" name="Oval 10"/>
          <p:cNvSpPr>
            <a:spLocks noChangeArrowheads="1"/>
          </p:cNvSpPr>
          <p:nvPr/>
        </p:nvSpPr>
        <p:spPr bwMode="auto">
          <a:xfrm>
            <a:off x="37338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G</a:t>
            </a:r>
          </a:p>
        </p:txBody>
      </p:sp>
      <p:sp>
        <p:nvSpPr>
          <p:cNvPr id="58380" name="Line 11"/>
          <p:cNvSpPr>
            <a:spLocks noChangeShapeType="1"/>
          </p:cNvSpPr>
          <p:nvPr/>
        </p:nvSpPr>
        <p:spPr bwMode="auto">
          <a:xfrm flipH="1">
            <a:off x="32766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81" name="Oval 12"/>
          <p:cNvSpPr>
            <a:spLocks noChangeArrowheads="1"/>
          </p:cNvSpPr>
          <p:nvPr/>
        </p:nvSpPr>
        <p:spPr bwMode="auto">
          <a:xfrm>
            <a:off x="1295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B</a:t>
            </a:r>
          </a:p>
        </p:txBody>
      </p:sp>
      <p:sp>
        <p:nvSpPr>
          <p:cNvPr id="58382" name="Oval 13"/>
          <p:cNvSpPr>
            <a:spLocks noChangeArrowheads="1"/>
          </p:cNvSpPr>
          <p:nvPr/>
        </p:nvSpPr>
        <p:spPr bwMode="auto">
          <a:xfrm>
            <a:off x="2057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58383" name="Line 14"/>
          <p:cNvSpPr>
            <a:spLocks noChangeShapeType="1"/>
          </p:cNvSpPr>
          <p:nvPr/>
        </p:nvSpPr>
        <p:spPr bwMode="auto">
          <a:xfrm>
            <a:off x="1600200" y="38100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84" name="Oval 15"/>
          <p:cNvSpPr>
            <a:spLocks noChangeArrowheads="1"/>
          </p:cNvSpPr>
          <p:nvPr/>
        </p:nvSpPr>
        <p:spPr bwMode="auto">
          <a:xfrm>
            <a:off x="2895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58385" name="Line 16"/>
          <p:cNvSpPr>
            <a:spLocks noChangeShapeType="1"/>
          </p:cNvSpPr>
          <p:nvPr/>
        </p:nvSpPr>
        <p:spPr bwMode="auto">
          <a:xfrm>
            <a:off x="2362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86" name="Oval 17"/>
          <p:cNvSpPr>
            <a:spLocks noChangeArrowheads="1"/>
          </p:cNvSpPr>
          <p:nvPr/>
        </p:nvSpPr>
        <p:spPr bwMode="auto">
          <a:xfrm>
            <a:off x="37338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H</a:t>
            </a:r>
          </a:p>
        </p:txBody>
      </p:sp>
      <p:sp>
        <p:nvSpPr>
          <p:cNvPr id="58387" name="Line 18"/>
          <p:cNvSpPr>
            <a:spLocks noChangeShapeType="1"/>
          </p:cNvSpPr>
          <p:nvPr/>
        </p:nvSpPr>
        <p:spPr bwMode="auto">
          <a:xfrm flipH="1">
            <a:off x="32004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88" name="Line 19"/>
          <p:cNvSpPr>
            <a:spLocks noChangeShapeType="1"/>
          </p:cNvSpPr>
          <p:nvPr/>
        </p:nvSpPr>
        <p:spPr bwMode="auto">
          <a:xfrm>
            <a:off x="1524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89" name="Line 20"/>
          <p:cNvSpPr>
            <a:spLocks noChangeShapeType="1"/>
          </p:cNvSpPr>
          <p:nvPr/>
        </p:nvSpPr>
        <p:spPr bwMode="auto">
          <a:xfrm flipV="1">
            <a:off x="2286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0" name="Line 21"/>
          <p:cNvSpPr>
            <a:spLocks noChangeShapeType="1"/>
          </p:cNvSpPr>
          <p:nvPr/>
        </p:nvSpPr>
        <p:spPr bwMode="auto">
          <a:xfrm>
            <a:off x="2286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1" name="Line 22"/>
          <p:cNvSpPr>
            <a:spLocks noChangeShapeType="1"/>
          </p:cNvSpPr>
          <p:nvPr/>
        </p:nvSpPr>
        <p:spPr bwMode="auto">
          <a:xfrm flipH="1">
            <a:off x="31242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2" name="Freeform 23"/>
          <p:cNvSpPr>
            <a:spLocks/>
          </p:cNvSpPr>
          <p:nvPr/>
        </p:nvSpPr>
        <p:spPr bwMode="auto">
          <a:xfrm>
            <a:off x="1524000" y="3962400"/>
            <a:ext cx="1447800" cy="304800"/>
          </a:xfrm>
          <a:custGeom>
            <a:avLst/>
            <a:gdLst>
              <a:gd name="T0" fmla="*/ 2147483647 w 912"/>
              <a:gd name="T1" fmla="*/ 0 h 192"/>
              <a:gd name="T2" fmla="*/ 2147483647 w 912"/>
              <a:gd name="T3" fmla="*/ 2147483647 h 192"/>
              <a:gd name="T4" fmla="*/ 0 w 912"/>
              <a:gd name="T5" fmla="*/ 0 h 192"/>
              <a:gd name="T6" fmla="*/ 0 60000 65536"/>
              <a:gd name="T7" fmla="*/ 0 60000 65536"/>
              <a:gd name="T8" fmla="*/ 0 60000 65536"/>
              <a:gd name="T9" fmla="*/ 0 w 912"/>
              <a:gd name="T10" fmla="*/ 0 h 192"/>
              <a:gd name="T11" fmla="*/ 912 w 912"/>
              <a:gd name="T12" fmla="*/ 192 h 19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92">
                <a:moveTo>
                  <a:pt x="912" y="0"/>
                </a:moveTo>
                <a:cubicBezTo>
                  <a:pt x="724" y="96"/>
                  <a:pt x="536" y="192"/>
                  <a:pt x="384" y="192"/>
                </a:cubicBezTo>
                <a:cubicBezTo>
                  <a:pt x="232" y="192"/>
                  <a:pt x="116" y="96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3" name="Freeform 24"/>
          <p:cNvSpPr>
            <a:spLocks/>
          </p:cNvSpPr>
          <p:nvPr/>
        </p:nvSpPr>
        <p:spPr bwMode="auto">
          <a:xfrm>
            <a:off x="1447800" y="3962400"/>
            <a:ext cx="2286000" cy="533400"/>
          </a:xfrm>
          <a:custGeom>
            <a:avLst/>
            <a:gdLst>
              <a:gd name="T0" fmla="*/ 0 w 1440"/>
              <a:gd name="T1" fmla="*/ 0 h 336"/>
              <a:gd name="T2" fmla="*/ 2147483647 w 1440"/>
              <a:gd name="T3" fmla="*/ 2147483647 h 336"/>
              <a:gd name="T4" fmla="*/ 2147483647 w 1440"/>
              <a:gd name="T5" fmla="*/ 0 h 336"/>
              <a:gd name="T6" fmla="*/ 0 60000 65536"/>
              <a:gd name="T7" fmla="*/ 0 60000 65536"/>
              <a:gd name="T8" fmla="*/ 0 60000 65536"/>
              <a:gd name="T9" fmla="*/ 0 w 1440"/>
              <a:gd name="T10" fmla="*/ 0 h 336"/>
              <a:gd name="T11" fmla="*/ 1440 w 1440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440" h="336">
                <a:moveTo>
                  <a:pt x="0" y="0"/>
                </a:moveTo>
                <a:cubicBezTo>
                  <a:pt x="192" y="168"/>
                  <a:pt x="384" y="336"/>
                  <a:pt x="624" y="336"/>
                </a:cubicBezTo>
                <a:cubicBezTo>
                  <a:pt x="864" y="336"/>
                  <a:pt x="1152" y="168"/>
                  <a:pt x="144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4" name="Freeform 25"/>
          <p:cNvSpPr>
            <a:spLocks/>
          </p:cNvSpPr>
          <p:nvPr/>
        </p:nvSpPr>
        <p:spPr bwMode="auto">
          <a:xfrm>
            <a:off x="3022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5" name="Freeform 26"/>
          <p:cNvSpPr>
            <a:spLocks/>
          </p:cNvSpPr>
          <p:nvPr/>
        </p:nvSpPr>
        <p:spPr bwMode="auto">
          <a:xfrm>
            <a:off x="2768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6" name="Freeform 27"/>
          <p:cNvSpPr>
            <a:spLocks/>
          </p:cNvSpPr>
          <p:nvPr/>
        </p:nvSpPr>
        <p:spPr bwMode="auto">
          <a:xfrm>
            <a:off x="1447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397" name="Text Box 28"/>
          <p:cNvSpPr txBox="1">
            <a:spLocks noChangeArrowheads="1"/>
          </p:cNvSpPr>
          <p:nvPr/>
        </p:nvSpPr>
        <p:spPr bwMode="auto">
          <a:xfrm>
            <a:off x="1622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398" name="Text Box 29"/>
          <p:cNvSpPr txBox="1">
            <a:spLocks noChangeArrowheads="1"/>
          </p:cNvSpPr>
          <p:nvPr/>
        </p:nvSpPr>
        <p:spPr bwMode="auto">
          <a:xfrm>
            <a:off x="1676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399" name="Text Box 30"/>
          <p:cNvSpPr txBox="1">
            <a:spLocks noChangeArrowheads="1"/>
          </p:cNvSpPr>
          <p:nvPr/>
        </p:nvSpPr>
        <p:spPr bwMode="auto">
          <a:xfrm>
            <a:off x="1600200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400" name="Text Box 31"/>
          <p:cNvSpPr txBox="1">
            <a:spLocks noChangeArrowheads="1"/>
          </p:cNvSpPr>
          <p:nvPr/>
        </p:nvSpPr>
        <p:spPr bwMode="auto">
          <a:xfrm>
            <a:off x="2155825" y="3962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401" name="Text Box 32"/>
          <p:cNvSpPr txBox="1">
            <a:spLocks noChangeArrowheads="1"/>
          </p:cNvSpPr>
          <p:nvPr/>
        </p:nvSpPr>
        <p:spPr bwMode="auto">
          <a:xfrm>
            <a:off x="2460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402" name="Text Box 33"/>
          <p:cNvSpPr txBox="1">
            <a:spLocks noChangeArrowheads="1"/>
          </p:cNvSpPr>
          <p:nvPr/>
        </p:nvSpPr>
        <p:spPr bwMode="auto">
          <a:xfrm>
            <a:off x="3581400" y="3200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403" name="Text Box 34"/>
          <p:cNvSpPr txBox="1">
            <a:spLocks noChangeArrowheads="1"/>
          </p:cNvSpPr>
          <p:nvPr/>
        </p:nvSpPr>
        <p:spPr bwMode="auto">
          <a:xfrm>
            <a:off x="3222625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404" name="Line 35"/>
          <p:cNvSpPr>
            <a:spLocks noChangeShapeType="1"/>
          </p:cNvSpPr>
          <p:nvPr/>
        </p:nvSpPr>
        <p:spPr bwMode="auto">
          <a:xfrm flipH="1" flipV="1">
            <a:off x="3124200" y="3124200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8405" name="Text Box 36"/>
          <p:cNvSpPr txBox="1">
            <a:spLocks noChangeArrowheads="1"/>
          </p:cNvSpPr>
          <p:nvPr/>
        </p:nvSpPr>
        <p:spPr bwMode="auto">
          <a:xfrm>
            <a:off x="28416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406" name="Text Box 37"/>
          <p:cNvSpPr txBox="1">
            <a:spLocks noChangeArrowheads="1"/>
          </p:cNvSpPr>
          <p:nvPr/>
        </p:nvSpPr>
        <p:spPr bwMode="auto">
          <a:xfrm>
            <a:off x="19272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407" name="Text Box 38"/>
          <p:cNvSpPr txBox="1">
            <a:spLocks noChangeArrowheads="1"/>
          </p:cNvSpPr>
          <p:nvPr/>
        </p:nvSpPr>
        <p:spPr bwMode="auto">
          <a:xfrm>
            <a:off x="2384425" y="4267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408" name="Text Box 39"/>
          <p:cNvSpPr txBox="1">
            <a:spLocks noChangeArrowheads="1"/>
          </p:cNvSpPr>
          <p:nvPr/>
        </p:nvSpPr>
        <p:spPr bwMode="auto">
          <a:xfrm>
            <a:off x="32988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409" name="Text Box 40"/>
          <p:cNvSpPr txBox="1">
            <a:spLocks noChangeArrowheads="1"/>
          </p:cNvSpPr>
          <p:nvPr/>
        </p:nvSpPr>
        <p:spPr bwMode="auto">
          <a:xfrm>
            <a:off x="2917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410" name="Text Box 41"/>
          <p:cNvSpPr txBox="1">
            <a:spLocks noChangeArrowheads="1"/>
          </p:cNvSpPr>
          <p:nvPr/>
        </p:nvSpPr>
        <p:spPr bwMode="auto">
          <a:xfrm>
            <a:off x="33750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411" name="Text Box 42"/>
          <p:cNvSpPr txBox="1">
            <a:spLocks noChangeArrowheads="1"/>
          </p:cNvSpPr>
          <p:nvPr/>
        </p:nvSpPr>
        <p:spPr bwMode="auto">
          <a:xfrm>
            <a:off x="2384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412" name="Text Box 43"/>
          <p:cNvSpPr txBox="1">
            <a:spLocks noChangeArrowheads="1"/>
          </p:cNvSpPr>
          <p:nvPr/>
        </p:nvSpPr>
        <p:spPr bwMode="auto">
          <a:xfrm>
            <a:off x="2232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58413" name="Text Box 44"/>
          <p:cNvSpPr txBox="1">
            <a:spLocks noChangeArrowheads="1"/>
          </p:cNvSpPr>
          <p:nvPr/>
        </p:nvSpPr>
        <p:spPr bwMode="auto">
          <a:xfrm>
            <a:off x="2384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266286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266407" name="Oval 167"/>
          <p:cNvSpPr>
            <a:spLocks noChangeArrowheads="1"/>
          </p:cNvSpPr>
          <p:nvPr/>
        </p:nvSpPr>
        <p:spPr bwMode="auto">
          <a:xfrm>
            <a:off x="5486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A</a:t>
            </a:r>
          </a:p>
        </p:txBody>
      </p:sp>
      <p:sp>
        <p:nvSpPr>
          <p:cNvPr id="266408" name="Line 168"/>
          <p:cNvSpPr>
            <a:spLocks noChangeShapeType="1"/>
          </p:cNvSpPr>
          <p:nvPr/>
        </p:nvSpPr>
        <p:spPr bwMode="auto">
          <a:xfrm>
            <a:off x="5105400" y="29718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09" name="Oval 169"/>
          <p:cNvSpPr>
            <a:spLocks noChangeArrowheads="1"/>
          </p:cNvSpPr>
          <p:nvPr/>
        </p:nvSpPr>
        <p:spPr bwMode="auto">
          <a:xfrm>
            <a:off x="62484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C</a:t>
            </a:r>
          </a:p>
        </p:txBody>
      </p:sp>
      <p:sp>
        <p:nvSpPr>
          <p:cNvPr id="266410" name="Line 170"/>
          <p:cNvSpPr>
            <a:spLocks noChangeShapeType="1"/>
          </p:cNvSpPr>
          <p:nvPr/>
        </p:nvSpPr>
        <p:spPr bwMode="auto">
          <a:xfrm>
            <a:off x="5791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11" name="Oval 171"/>
          <p:cNvSpPr>
            <a:spLocks noChangeArrowheads="1"/>
          </p:cNvSpPr>
          <p:nvPr/>
        </p:nvSpPr>
        <p:spPr bwMode="auto">
          <a:xfrm>
            <a:off x="7086600" y="28194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E</a:t>
            </a:r>
          </a:p>
        </p:txBody>
      </p:sp>
      <p:sp>
        <p:nvSpPr>
          <p:cNvPr id="266412" name="Line 172"/>
          <p:cNvSpPr>
            <a:spLocks noChangeShapeType="1"/>
          </p:cNvSpPr>
          <p:nvPr/>
        </p:nvSpPr>
        <p:spPr bwMode="auto">
          <a:xfrm>
            <a:off x="6553200" y="297180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13" name="Oval 173"/>
          <p:cNvSpPr>
            <a:spLocks noChangeArrowheads="1"/>
          </p:cNvSpPr>
          <p:nvPr/>
        </p:nvSpPr>
        <p:spPr bwMode="auto">
          <a:xfrm>
            <a:off x="7010400" y="2743200"/>
            <a:ext cx="457200" cy="457200"/>
          </a:xfrm>
          <a:prstGeom prst="ellipse">
            <a:avLst/>
          </a:prstGeom>
          <a:solidFill>
            <a:schemeClr val="accent1">
              <a:alpha val="1176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17" name="Oval 177"/>
          <p:cNvSpPr>
            <a:spLocks noChangeArrowheads="1"/>
          </p:cNvSpPr>
          <p:nvPr/>
        </p:nvSpPr>
        <p:spPr bwMode="auto">
          <a:xfrm>
            <a:off x="62484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D</a:t>
            </a:r>
          </a:p>
        </p:txBody>
      </p:sp>
      <p:sp>
        <p:nvSpPr>
          <p:cNvPr id="266419" name="Oval 179"/>
          <p:cNvSpPr>
            <a:spLocks noChangeArrowheads="1"/>
          </p:cNvSpPr>
          <p:nvPr/>
        </p:nvSpPr>
        <p:spPr bwMode="auto">
          <a:xfrm>
            <a:off x="7086600" y="3657600"/>
            <a:ext cx="304800" cy="3048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/>
              <a:t>F</a:t>
            </a:r>
          </a:p>
        </p:txBody>
      </p:sp>
      <p:sp>
        <p:nvSpPr>
          <p:cNvPr id="266420" name="Line 180"/>
          <p:cNvSpPr>
            <a:spLocks noChangeShapeType="1"/>
          </p:cNvSpPr>
          <p:nvPr/>
        </p:nvSpPr>
        <p:spPr bwMode="auto">
          <a:xfrm>
            <a:off x="6553200" y="3810000"/>
            <a:ext cx="53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23" name="Line 183"/>
          <p:cNvSpPr>
            <a:spLocks noChangeShapeType="1"/>
          </p:cNvSpPr>
          <p:nvPr/>
        </p:nvSpPr>
        <p:spPr bwMode="auto">
          <a:xfrm>
            <a:off x="5715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24" name="Line 184"/>
          <p:cNvSpPr>
            <a:spLocks noChangeShapeType="1"/>
          </p:cNvSpPr>
          <p:nvPr/>
        </p:nvSpPr>
        <p:spPr bwMode="auto">
          <a:xfrm flipV="1">
            <a:off x="6477000" y="3124200"/>
            <a:ext cx="6096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25" name="Line 185"/>
          <p:cNvSpPr>
            <a:spLocks noChangeShapeType="1"/>
          </p:cNvSpPr>
          <p:nvPr/>
        </p:nvSpPr>
        <p:spPr bwMode="auto">
          <a:xfrm>
            <a:off x="6477000" y="3124200"/>
            <a:ext cx="68580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29" name="Freeform 189"/>
          <p:cNvSpPr>
            <a:spLocks/>
          </p:cNvSpPr>
          <p:nvPr/>
        </p:nvSpPr>
        <p:spPr bwMode="auto">
          <a:xfrm>
            <a:off x="7213600" y="3886200"/>
            <a:ext cx="190500" cy="241300"/>
          </a:xfrm>
          <a:custGeom>
            <a:avLst/>
            <a:gdLst>
              <a:gd name="T0" fmla="*/ 2147483647 w 120"/>
              <a:gd name="T1" fmla="*/ 0 h 152"/>
              <a:gd name="T2" fmla="*/ 2147483647 w 120"/>
              <a:gd name="T3" fmla="*/ 2147483647 h 152"/>
              <a:gd name="T4" fmla="*/ 2147483647 w 120"/>
              <a:gd name="T5" fmla="*/ 2147483647 h 152"/>
              <a:gd name="T6" fmla="*/ 2147483647 w 120"/>
              <a:gd name="T7" fmla="*/ 2147483647 h 152"/>
              <a:gd name="T8" fmla="*/ 0 60000 65536"/>
              <a:gd name="T9" fmla="*/ 0 60000 65536"/>
              <a:gd name="T10" fmla="*/ 0 60000 65536"/>
              <a:gd name="T11" fmla="*/ 0 60000 65536"/>
              <a:gd name="T12" fmla="*/ 0 w 120"/>
              <a:gd name="T13" fmla="*/ 0 h 152"/>
              <a:gd name="T14" fmla="*/ 120 w 120"/>
              <a:gd name="T15" fmla="*/ 152 h 15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120" h="152">
                <a:moveTo>
                  <a:pt x="64" y="0"/>
                </a:moveTo>
                <a:cubicBezTo>
                  <a:pt x="92" y="36"/>
                  <a:pt x="120" y="72"/>
                  <a:pt x="112" y="96"/>
                </a:cubicBezTo>
                <a:cubicBezTo>
                  <a:pt x="104" y="120"/>
                  <a:pt x="32" y="152"/>
                  <a:pt x="16" y="144"/>
                </a:cubicBezTo>
                <a:cubicBezTo>
                  <a:pt x="0" y="136"/>
                  <a:pt x="8" y="92"/>
                  <a:pt x="16" y="4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30" name="Freeform 190"/>
          <p:cNvSpPr>
            <a:spLocks/>
          </p:cNvSpPr>
          <p:nvPr/>
        </p:nvSpPr>
        <p:spPr bwMode="auto">
          <a:xfrm>
            <a:off x="6959600" y="2565400"/>
            <a:ext cx="482600" cy="177800"/>
          </a:xfrm>
          <a:custGeom>
            <a:avLst/>
            <a:gdLst>
              <a:gd name="T0" fmla="*/ 2147483647 w 304"/>
              <a:gd name="T1" fmla="*/ 2147483647 h 112"/>
              <a:gd name="T2" fmla="*/ 2147483647 w 304"/>
              <a:gd name="T3" fmla="*/ 2147483647 h 112"/>
              <a:gd name="T4" fmla="*/ 2147483647 w 304"/>
              <a:gd name="T5" fmla="*/ 2147483647 h 112"/>
              <a:gd name="T6" fmla="*/ 2147483647 w 304"/>
              <a:gd name="T7" fmla="*/ 2147483647 h 112"/>
              <a:gd name="T8" fmla="*/ 0 60000 65536"/>
              <a:gd name="T9" fmla="*/ 0 60000 65536"/>
              <a:gd name="T10" fmla="*/ 0 60000 65536"/>
              <a:gd name="T11" fmla="*/ 0 60000 65536"/>
              <a:gd name="T12" fmla="*/ 0 w 304"/>
              <a:gd name="T13" fmla="*/ 0 h 112"/>
              <a:gd name="T14" fmla="*/ 304 w 304"/>
              <a:gd name="T15" fmla="*/ 112 h 11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304" h="112">
                <a:moveTo>
                  <a:pt x="80" y="112"/>
                </a:moveTo>
                <a:cubicBezTo>
                  <a:pt x="40" y="72"/>
                  <a:pt x="0" y="32"/>
                  <a:pt x="32" y="16"/>
                </a:cubicBezTo>
                <a:cubicBezTo>
                  <a:pt x="64" y="0"/>
                  <a:pt x="240" y="0"/>
                  <a:pt x="272" y="16"/>
                </a:cubicBezTo>
                <a:cubicBezTo>
                  <a:pt x="304" y="32"/>
                  <a:pt x="264" y="72"/>
                  <a:pt x="224" y="11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31" name="Freeform 191"/>
          <p:cNvSpPr>
            <a:spLocks/>
          </p:cNvSpPr>
          <p:nvPr/>
        </p:nvSpPr>
        <p:spPr bwMode="auto">
          <a:xfrm>
            <a:off x="5638800" y="2590800"/>
            <a:ext cx="1447800" cy="228600"/>
          </a:xfrm>
          <a:custGeom>
            <a:avLst/>
            <a:gdLst>
              <a:gd name="T0" fmla="*/ 2147483647 w 912"/>
              <a:gd name="T1" fmla="*/ 2147483647 h 144"/>
              <a:gd name="T2" fmla="*/ 2147483647 w 912"/>
              <a:gd name="T3" fmla="*/ 0 h 144"/>
              <a:gd name="T4" fmla="*/ 0 w 912"/>
              <a:gd name="T5" fmla="*/ 2147483647 h 144"/>
              <a:gd name="T6" fmla="*/ 0 60000 65536"/>
              <a:gd name="T7" fmla="*/ 0 60000 65536"/>
              <a:gd name="T8" fmla="*/ 0 60000 65536"/>
              <a:gd name="T9" fmla="*/ 0 w 912"/>
              <a:gd name="T10" fmla="*/ 0 h 144"/>
              <a:gd name="T11" fmla="*/ 912 w 912"/>
              <a:gd name="T12" fmla="*/ 144 h 1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12" h="144">
                <a:moveTo>
                  <a:pt x="912" y="144"/>
                </a:moveTo>
                <a:cubicBezTo>
                  <a:pt x="748" y="72"/>
                  <a:pt x="584" y="0"/>
                  <a:pt x="432" y="0"/>
                </a:cubicBezTo>
                <a:cubicBezTo>
                  <a:pt x="280" y="0"/>
                  <a:pt x="140" y="72"/>
                  <a:pt x="0" y="1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32" name="Text Box 192"/>
          <p:cNvSpPr txBox="1">
            <a:spLocks noChangeArrowheads="1"/>
          </p:cNvSpPr>
          <p:nvPr/>
        </p:nvSpPr>
        <p:spPr bwMode="auto">
          <a:xfrm>
            <a:off x="5813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266433" name="Text Box 193"/>
          <p:cNvSpPr txBox="1">
            <a:spLocks noChangeArrowheads="1"/>
          </p:cNvSpPr>
          <p:nvPr/>
        </p:nvSpPr>
        <p:spPr bwMode="auto">
          <a:xfrm>
            <a:off x="5867400" y="3124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266436" name="Text Box 196"/>
          <p:cNvSpPr txBox="1">
            <a:spLocks noChangeArrowheads="1"/>
          </p:cNvSpPr>
          <p:nvPr/>
        </p:nvSpPr>
        <p:spPr bwMode="auto">
          <a:xfrm>
            <a:off x="6651625" y="35814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266442" name="Text Box 202"/>
          <p:cNvSpPr txBox="1">
            <a:spLocks noChangeArrowheads="1"/>
          </p:cNvSpPr>
          <p:nvPr/>
        </p:nvSpPr>
        <p:spPr bwMode="auto">
          <a:xfrm>
            <a:off x="7108825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266444" name="Text Box 204"/>
          <p:cNvSpPr txBox="1">
            <a:spLocks noChangeArrowheads="1"/>
          </p:cNvSpPr>
          <p:nvPr/>
        </p:nvSpPr>
        <p:spPr bwMode="auto">
          <a:xfrm>
            <a:off x="6575425" y="30480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266445" name="Text Box 205"/>
          <p:cNvSpPr txBox="1">
            <a:spLocks noChangeArrowheads="1"/>
          </p:cNvSpPr>
          <p:nvPr/>
        </p:nvSpPr>
        <p:spPr bwMode="auto">
          <a:xfrm>
            <a:off x="6423025" y="3276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266446" name="Text Box 206"/>
          <p:cNvSpPr txBox="1">
            <a:spLocks noChangeArrowheads="1"/>
          </p:cNvSpPr>
          <p:nvPr/>
        </p:nvSpPr>
        <p:spPr bwMode="auto">
          <a:xfrm>
            <a:off x="6575425" y="2743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266447" name="AutoShape 207"/>
          <p:cNvSpPr>
            <a:spLocks noChangeArrowheads="1"/>
          </p:cNvSpPr>
          <p:nvPr/>
        </p:nvSpPr>
        <p:spPr bwMode="auto">
          <a:xfrm>
            <a:off x="4267200" y="3200400"/>
            <a:ext cx="762000" cy="304800"/>
          </a:xfrm>
          <a:prstGeom prst="rightArrow">
            <a:avLst>
              <a:gd name="adj1" fmla="val 50000"/>
              <a:gd name="adj2" fmla="val 625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2" name="Group 211"/>
          <p:cNvGrpSpPr>
            <a:grpSpLocks/>
          </p:cNvGrpSpPr>
          <p:nvPr/>
        </p:nvGrpSpPr>
        <p:grpSpPr bwMode="auto">
          <a:xfrm>
            <a:off x="1295400" y="3657600"/>
            <a:ext cx="228600" cy="228600"/>
            <a:chOff x="1968" y="3216"/>
            <a:chExt cx="144" cy="144"/>
          </a:xfrm>
        </p:grpSpPr>
        <p:sp>
          <p:nvSpPr>
            <p:cNvPr id="58452" name="Line 212"/>
            <p:cNvSpPr>
              <a:spLocks noChangeShapeType="1"/>
            </p:cNvSpPr>
            <p:nvPr/>
          </p:nvSpPr>
          <p:spPr bwMode="auto">
            <a:xfrm>
              <a:off x="1968" y="3216"/>
              <a:ext cx="144" cy="144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453" name="Line 213"/>
            <p:cNvSpPr>
              <a:spLocks noChangeShapeType="1"/>
            </p:cNvSpPr>
            <p:nvPr/>
          </p:nvSpPr>
          <p:spPr bwMode="auto">
            <a:xfrm flipV="1">
              <a:off x="1968" y="3216"/>
              <a:ext cx="144" cy="144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3" name="Group 214"/>
          <p:cNvGrpSpPr>
            <a:grpSpLocks/>
          </p:cNvGrpSpPr>
          <p:nvPr/>
        </p:nvGrpSpPr>
        <p:grpSpPr bwMode="auto">
          <a:xfrm>
            <a:off x="3733800" y="3657600"/>
            <a:ext cx="228600" cy="228600"/>
            <a:chOff x="1968" y="3216"/>
            <a:chExt cx="144" cy="144"/>
          </a:xfrm>
        </p:grpSpPr>
        <p:sp>
          <p:nvSpPr>
            <p:cNvPr id="58450" name="Line 215"/>
            <p:cNvSpPr>
              <a:spLocks noChangeShapeType="1"/>
            </p:cNvSpPr>
            <p:nvPr/>
          </p:nvSpPr>
          <p:spPr bwMode="auto">
            <a:xfrm>
              <a:off x="1968" y="3216"/>
              <a:ext cx="144" cy="144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451" name="Line 216"/>
            <p:cNvSpPr>
              <a:spLocks noChangeShapeType="1"/>
            </p:cNvSpPr>
            <p:nvPr/>
          </p:nvSpPr>
          <p:spPr bwMode="auto">
            <a:xfrm flipV="1">
              <a:off x="1968" y="3216"/>
              <a:ext cx="144" cy="144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217"/>
          <p:cNvGrpSpPr>
            <a:grpSpLocks/>
          </p:cNvGrpSpPr>
          <p:nvPr/>
        </p:nvGrpSpPr>
        <p:grpSpPr bwMode="auto">
          <a:xfrm>
            <a:off x="3733800" y="2819400"/>
            <a:ext cx="228600" cy="228600"/>
            <a:chOff x="1968" y="3216"/>
            <a:chExt cx="144" cy="144"/>
          </a:xfrm>
        </p:grpSpPr>
        <p:sp>
          <p:nvSpPr>
            <p:cNvPr id="58448" name="Line 218"/>
            <p:cNvSpPr>
              <a:spLocks noChangeShapeType="1"/>
            </p:cNvSpPr>
            <p:nvPr/>
          </p:nvSpPr>
          <p:spPr bwMode="auto">
            <a:xfrm>
              <a:off x="1968" y="3216"/>
              <a:ext cx="144" cy="144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449" name="Line 219"/>
            <p:cNvSpPr>
              <a:spLocks noChangeShapeType="1"/>
            </p:cNvSpPr>
            <p:nvPr/>
          </p:nvSpPr>
          <p:spPr bwMode="auto">
            <a:xfrm flipV="1">
              <a:off x="1968" y="3216"/>
              <a:ext cx="144" cy="144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266460" name="Text Box 220"/>
          <p:cNvSpPr txBox="1">
            <a:spLocks noChangeArrowheads="1"/>
          </p:cNvSpPr>
          <p:nvPr/>
        </p:nvSpPr>
        <p:spPr bwMode="auto">
          <a:xfrm>
            <a:off x="7108825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266461" name="Text Box 221"/>
          <p:cNvSpPr txBox="1">
            <a:spLocks noChangeArrowheads="1"/>
          </p:cNvSpPr>
          <p:nvPr/>
        </p:nvSpPr>
        <p:spPr bwMode="auto">
          <a:xfrm>
            <a:off x="6096000" y="23622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folHlink"/>
                </a:solidFill>
              </a:rPr>
              <a:t>0</a:t>
            </a:r>
          </a:p>
        </p:txBody>
      </p:sp>
      <p:sp>
        <p:nvSpPr>
          <p:cNvPr id="266462" name="Freeform 222"/>
          <p:cNvSpPr>
            <a:spLocks/>
          </p:cNvSpPr>
          <p:nvPr/>
        </p:nvSpPr>
        <p:spPr bwMode="auto">
          <a:xfrm>
            <a:off x="5638800" y="3124200"/>
            <a:ext cx="1524000" cy="1130300"/>
          </a:xfrm>
          <a:custGeom>
            <a:avLst/>
            <a:gdLst>
              <a:gd name="T0" fmla="*/ 2147483647 w 960"/>
              <a:gd name="T1" fmla="*/ 2147483647 h 712"/>
              <a:gd name="T2" fmla="*/ 2147483647 w 960"/>
              <a:gd name="T3" fmla="*/ 2147483647 h 712"/>
              <a:gd name="T4" fmla="*/ 0 w 960"/>
              <a:gd name="T5" fmla="*/ 0 h 712"/>
              <a:gd name="T6" fmla="*/ 0 60000 65536"/>
              <a:gd name="T7" fmla="*/ 0 60000 65536"/>
              <a:gd name="T8" fmla="*/ 0 60000 65536"/>
              <a:gd name="T9" fmla="*/ 0 w 960"/>
              <a:gd name="T10" fmla="*/ 0 h 712"/>
              <a:gd name="T11" fmla="*/ 960 w 960"/>
              <a:gd name="T12" fmla="*/ 712 h 7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960" h="712">
                <a:moveTo>
                  <a:pt x="960" y="528"/>
                </a:moveTo>
                <a:cubicBezTo>
                  <a:pt x="752" y="620"/>
                  <a:pt x="544" y="712"/>
                  <a:pt x="384" y="624"/>
                </a:cubicBezTo>
                <a:cubicBezTo>
                  <a:pt x="224" y="536"/>
                  <a:pt x="112" y="268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6463" name="Text Box 223"/>
          <p:cNvSpPr txBox="1">
            <a:spLocks noChangeArrowheads="1"/>
          </p:cNvSpPr>
          <p:nvPr/>
        </p:nvSpPr>
        <p:spPr bwMode="auto">
          <a:xfrm>
            <a:off x="6705600" y="4038600"/>
            <a:ext cx="2825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400">
                <a:solidFill>
                  <a:schemeClr val="hlink"/>
                </a:solidFill>
              </a:rPr>
              <a:t>1</a:t>
            </a:r>
          </a:p>
        </p:txBody>
      </p:sp>
      <p:sp>
        <p:nvSpPr>
          <p:cNvPr id="58446" name="Text Box 224"/>
          <p:cNvSpPr txBox="1">
            <a:spLocks noChangeArrowheads="1"/>
          </p:cNvSpPr>
          <p:nvPr/>
        </p:nvSpPr>
        <p:spPr bwMode="auto">
          <a:xfrm>
            <a:off x="5715000" y="5592763"/>
            <a:ext cx="1506538" cy="1069975"/>
          </a:xfrm>
          <a:prstGeom prst="rect">
            <a:avLst/>
          </a:prstGeom>
          <a:solidFill>
            <a:srgbClr val="CCFFCC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 u="sng">
                <a:solidFill>
                  <a:schemeClr val="folHlink"/>
                </a:solidFill>
              </a:rPr>
              <a:t>Equivalences:</a:t>
            </a:r>
            <a:r>
              <a:rPr lang="en-US" sz="1600">
                <a:solidFill>
                  <a:schemeClr val="folHlink"/>
                </a:solidFill>
              </a:rPr>
              <a:t> </a:t>
            </a:r>
          </a:p>
          <a:p>
            <a:pPr>
              <a:buFontTx/>
              <a:buChar char="•"/>
            </a:pPr>
            <a:r>
              <a:rPr lang="en-US" sz="1600">
                <a:solidFill>
                  <a:schemeClr val="folHlink"/>
                </a:solidFill>
              </a:rPr>
              <a:t> A=B</a:t>
            </a:r>
          </a:p>
          <a:p>
            <a:pPr>
              <a:buFontTx/>
              <a:buChar char="•"/>
            </a:pPr>
            <a:r>
              <a:rPr lang="en-US" sz="1600">
                <a:solidFill>
                  <a:schemeClr val="folHlink"/>
                </a:solidFill>
              </a:rPr>
              <a:t> C=H</a:t>
            </a:r>
          </a:p>
          <a:p>
            <a:pPr>
              <a:buFontTx/>
              <a:buChar char="•"/>
            </a:pPr>
            <a:r>
              <a:rPr lang="en-US" sz="1600">
                <a:solidFill>
                  <a:schemeClr val="folHlink"/>
                </a:solidFill>
              </a:rPr>
              <a:t> D=G      </a:t>
            </a:r>
          </a:p>
        </p:txBody>
      </p:sp>
      <p:sp>
        <p:nvSpPr>
          <p:cNvPr id="86" name="TextBox 85"/>
          <p:cNvSpPr txBox="1">
            <a:spLocks noChangeArrowheads="1"/>
          </p:cNvSpPr>
          <p:nvPr/>
        </p:nvSpPr>
        <p:spPr bwMode="auto">
          <a:xfrm>
            <a:off x="4419600" y="4724400"/>
            <a:ext cx="4554538" cy="7080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Retrain only one copy for </a:t>
            </a:r>
            <a:br>
              <a:rPr lang="en-US"/>
            </a:br>
            <a:r>
              <a:rPr lang="en-US"/>
              <a:t>	each equivalence set of states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86" grpId="0"/>
      <p:bldP spid="266407" grpId="0" animBg="1"/>
      <p:bldP spid="266408" grpId="0" animBg="1"/>
      <p:bldP spid="266409" grpId="0" animBg="1"/>
      <p:bldP spid="266410" grpId="0" animBg="1"/>
      <p:bldP spid="266411" grpId="0" animBg="1"/>
      <p:bldP spid="266412" grpId="0" animBg="1"/>
      <p:bldP spid="266413" grpId="0" animBg="1"/>
      <p:bldP spid="266417" grpId="0" animBg="1"/>
      <p:bldP spid="266419" grpId="0" animBg="1"/>
      <p:bldP spid="266420" grpId="0" animBg="1"/>
      <p:bldP spid="266423" grpId="0" animBg="1"/>
      <p:bldP spid="266424" grpId="0" animBg="1"/>
      <p:bldP spid="266425" grpId="0" animBg="1"/>
      <p:bldP spid="266429" grpId="0" animBg="1"/>
      <p:bldP spid="266430" grpId="0" animBg="1"/>
      <p:bldP spid="266431" grpId="0" animBg="1"/>
      <p:bldP spid="266432" grpId="0"/>
      <p:bldP spid="266433" grpId="0"/>
      <p:bldP spid="266436" grpId="0"/>
      <p:bldP spid="266442" grpId="0"/>
      <p:bldP spid="266444" grpId="0"/>
      <p:bldP spid="266445" grpId="0"/>
      <p:bldP spid="266446" grpId="0"/>
      <p:bldP spid="266447" grpId="0" animBg="1"/>
      <p:bldP spid="266460" grpId="0"/>
      <p:bldP spid="266461" grpId="0"/>
      <p:bldP spid="266462" grpId="0" animBg="1"/>
      <p:bldP spid="266463" grpId="0"/>
      <p:bldP spid="8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241EEAC-EA57-447B-9E49-6746C0782475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593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Table Filling Algorithm – special case</a:t>
            </a:r>
          </a:p>
        </p:txBody>
      </p:sp>
      <p:sp>
        <p:nvSpPr>
          <p:cNvPr id="59396" name="Rectangle 46"/>
          <p:cNvSpPr>
            <a:spLocks noChangeArrowheads="1"/>
          </p:cNvSpPr>
          <p:nvPr/>
        </p:nvSpPr>
        <p:spPr bwMode="auto">
          <a:xfrm>
            <a:off x="6767513" y="2493963"/>
            <a:ext cx="184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endParaRPr lang="en-US"/>
          </a:p>
        </p:txBody>
      </p:sp>
      <p:graphicFrame>
        <p:nvGraphicFramePr>
          <p:cNvPr id="285743" name="Group 47"/>
          <p:cNvGraphicFramePr>
            <a:graphicFrameLocks noGrp="1"/>
          </p:cNvGraphicFramePr>
          <p:nvPr/>
        </p:nvGraphicFramePr>
        <p:xfrm>
          <a:off x="5105400" y="2133600"/>
          <a:ext cx="3429000" cy="3292475"/>
        </p:xfrm>
        <a:graphic>
          <a:graphicData uri="http://schemas.openxmlformats.org/drawingml/2006/table">
            <a:tbl>
              <a:tblPr/>
              <a:tblGrid>
                <a:gridCol w="38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hlink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1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=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F9F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7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cap="flat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8" charset="2"/>
                        <a:buNone/>
                        <a:tabLst/>
                      </a:pPr>
                      <a:r>
                        <a:rPr kumimoji="0" lang="en-US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8" name="TextBox 47"/>
          <p:cNvSpPr txBox="1">
            <a:spLocks noChangeArrowheads="1"/>
          </p:cNvSpPr>
          <p:nvPr/>
        </p:nvSpPr>
        <p:spPr bwMode="auto">
          <a:xfrm>
            <a:off x="381000" y="5181600"/>
            <a:ext cx="4699000" cy="132397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Q) What happens if the input DFA</a:t>
            </a:r>
            <a:br>
              <a:rPr lang="en-US"/>
            </a:br>
            <a:r>
              <a:rPr lang="en-US"/>
              <a:t>	has more than one final state?</a:t>
            </a:r>
            <a:br>
              <a:rPr lang="en-US"/>
            </a:br>
            <a:r>
              <a:rPr lang="en-US"/>
              <a:t>     </a:t>
            </a:r>
            <a:r>
              <a:rPr lang="en-US">
                <a:solidFill>
                  <a:srgbClr val="FF0000"/>
                </a:solidFill>
              </a:rPr>
              <a:t>Can all final states initially be treated</a:t>
            </a:r>
            <a:br>
              <a:rPr lang="en-US">
                <a:solidFill>
                  <a:srgbClr val="FF0000"/>
                </a:solidFill>
              </a:rPr>
            </a:br>
            <a:r>
              <a:rPr lang="en-US">
                <a:solidFill>
                  <a:srgbClr val="FF0000"/>
                </a:solidFill>
              </a:rPr>
              <a:t>	as equivalent to one another?</a:t>
            </a:r>
          </a:p>
        </p:txBody>
      </p:sp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914400" y="2362200"/>
            <a:ext cx="3124200" cy="2209800"/>
            <a:chOff x="914400" y="2362200"/>
            <a:chExt cx="3124200" cy="2209800"/>
          </a:xfrm>
        </p:grpSpPr>
        <p:sp>
          <p:nvSpPr>
            <p:cNvPr id="59500" name="Oval 3"/>
            <p:cNvSpPr>
              <a:spLocks noChangeArrowheads="1"/>
            </p:cNvSpPr>
            <p:nvPr/>
          </p:nvSpPr>
          <p:spPr bwMode="auto">
            <a:xfrm>
              <a:off x="1295400" y="28194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A</a:t>
              </a:r>
            </a:p>
          </p:txBody>
        </p:sp>
        <p:sp>
          <p:nvSpPr>
            <p:cNvPr id="59501" name="Line 4"/>
            <p:cNvSpPr>
              <a:spLocks noChangeShapeType="1"/>
            </p:cNvSpPr>
            <p:nvPr/>
          </p:nvSpPr>
          <p:spPr bwMode="auto">
            <a:xfrm>
              <a:off x="914400" y="2971800"/>
              <a:ext cx="381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02" name="Oval 5"/>
            <p:cNvSpPr>
              <a:spLocks noChangeArrowheads="1"/>
            </p:cNvSpPr>
            <p:nvPr/>
          </p:nvSpPr>
          <p:spPr bwMode="auto">
            <a:xfrm>
              <a:off x="2057400" y="28194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C</a:t>
              </a:r>
            </a:p>
          </p:txBody>
        </p:sp>
        <p:sp>
          <p:nvSpPr>
            <p:cNvPr id="59503" name="Line 6"/>
            <p:cNvSpPr>
              <a:spLocks noChangeShapeType="1"/>
            </p:cNvSpPr>
            <p:nvPr/>
          </p:nvSpPr>
          <p:spPr bwMode="auto">
            <a:xfrm>
              <a:off x="1600200" y="2971800"/>
              <a:ext cx="457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04" name="Oval 7"/>
            <p:cNvSpPr>
              <a:spLocks noChangeArrowheads="1"/>
            </p:cNvSpPr>
            <p:nvPr/>
          </p:nvSpPr>
          <p:spPr bwMode="auto">
            <a:xfrm>
              <a:off x="2895600" y="28194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E</a:t>
              </a:r>
            </a:p>
          </p:txBody>
        </p:sp>
        <p:sp>
          <p:nvSpPr>
            <p:cNvPr id="59505" name="Line 8"/>
            <p:cNvSpPr>
              <a:spLocks noChangeShapeType="1"/>
            </p:cNvSpPr>
            <p:nvPr/>
          </p:nvSpPr>
          <p:spPr bwMode="auto">
            <a:xfrm>
              <a:off x="2362200" y="2971800"/>
              <a:ext cx="457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06" name="Oval 9"/>
            <p:cNvSpPr>
              <a:spLocks noChangeArrowheads="1"/>
            </p:cNvSpPr>
            <p:nvPr/>
          </p:nvSpPr>
          <p:spPr bwMode="auto">
            <a:xfrm>
              <a:off x="2819400" y="2743200"/>
              <a:ext cx="457200" cy="457200"/>
            </a:xfrm>
            <a:prstGeom prst="ellipse">
              <a:avLst/>
            </a:prstGeom>
            <a:solidFill>
              <a:schemeClr val="accent1">
                <a:alpha val="117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07" name="Oval 10"/>
            <p:cNvSpPr>
              <a:spLocks noChangeArrowheads="1"/>
            </p:cNvSpPr>
            <p:nvPr/>
          </p:nvSpPr>
          <p:spPr bwMode="auto">
            <a:xfrm>
              <a:off x="3733800" y="28194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G</a:t>
              </a:r>
            </a:p>
          </p:txBody>
        </p:sp>
        <p:sp>
          <p:nvSpPr>
            <p:cNvPr id="59508" name="Line 11"/>
            <p:cNvSpPr>
              <a:spLocks noChangeShapeType="1"/>
            </p:cNvSpPr>
            <p:nvPr/>
          </p:nvSpPr>
          <p:spPr bwMode="auto">
            <a:xfrm flipH="1">
              <a:off x="3276600" y="2971800"/>
              <a:ext cx="457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09" name="Oval 12"/>
            <p:cNvSpPr>
              <a:spLocks noChangeArrowheads="1"/>
            </p:cNvSpPr>
            <p:nvPr/>
          </p:nvSpPr>
          <p:spPr bwMode="auto">
            <a:xfrm>
              <a:off x="1295400" y="36576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B</a:t>
              </a:r>
            </a:p>
          </p:txBody>
        </p:sp>
        <p:sp>
          <p:nvSpPr>
            <p:cNvPr id="59510" name="Oval 13"/>
            <p:cNvSpPr>
              <a:spLocks noChangeArrowheads="1"/>
            </p:cNvSpPr>
            <p:nvPr/>
          </p:nvSpPr>
          <p:spPr bwMode="auto">
            <a:xfrm>
              <a:off x="2057400" y="36576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D</a:t>
              </a:r>
            </a:p>
          </p:txBody>
        </p:sp>
        <p:sp>
          <p:nvSpPr>
            <p:cNvPr id="59511" name="Line 14"/>
            <p:cNvSpPr>
              <a:spLocks noChangeShapeType="1"/>
            </p:cNvSpPr>
            <p:nvPr/>
          </p:nvSpPr>
          <p:spPr bwMode="auto">
            <a:xfrm>
              <a:off x="1600200" y="3810000"/>
              <a:ext cx="457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12" name="Oval 15"/>
            <p:cNvSpPr>
              <a:spLocks noChangeArrowheads="1"/>
            </p:cNvSpPr>
            <p:nvPr/>
          </p:nvSpPr>
          <p:spPr bwMode="auto">
            <a:xfrm>
              <a:off x="2895600" y="36576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F</a:t>
              </a:r>
            </a:p>
          </p:txBody>
        </p:sp>
        <p:sp>
          <p:nvSpPr>
            <p:cNvPr id="59513" name="Line 16"/>
            <p:cNvSpPr>
              <a:spLocks noChangeShapeType="1"/>
            </p:cNvSpPr>
            <p:nvPr/>
          </p:nvSpPr>
          <p:spPr bwMode="auto">
            <a:xfrm>
              <a:off x="2362200" y="3810000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14" name="Oval 17"/>
            <p:cNvSpPr>
              <a:spLocks noChangeArrowheads="1"/>
            </p:cNvSpPr>
            <p:nvPr/>
          </p:nvSpPr>
          <p:spPr bwMode="auto">
            <a:xfrm>
              <a:off x="3733800" y="3657600"/>
              <a:ext cx="304800" cy="304800"/>
            </a:xfrm>
            <a:prstGeom prst="ellipse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800"/>
                <a:t>H</a:t>
              </a:r>
            </a:p>
          </p:txBody>
        </p:sp>
        <p:sp>
          <p:nvSpPr>
            <p:cNvPr id="59515" name="Line 18"/>
            <p:cNvSpPr>
              <a:spLocks noChangeShapeType="1"/>
            </p:cNvSpPr>
            <p:nvPr/>
          </p:nvSpPr>
          <p:spPr bwMode="auto">
            <a:xfrm flipH="1">
              <a:off x="3200400" y="3810000"/>
              <a:ext cx="533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16" name="Line 19"/>
            <p:cNvSpPr>
              <a:spLocks noChangeShapeType="1"/>
            </p:cNvSpPr>
            <p:nvPr/>
          </p:nvSpPr>
          <p:spPr bwMode="auto">
            <a:xfrm>
              <a:off x="1524000" y="3124200"/>
              <a:ext cx="609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17" name="Line 20"/>
            <p:cNvSpPr>
              <a:spLocks noChangeShapeType="1"/>
            </p:cNvSpPr>
            <p:nvPr/>
          </p:nvSpPr>
          <p:spPr bwMode="auto">
            <a:xfrm flipV="1">
              <a:off x="2286000" y="3124200"/>
              <a:ext cx="6096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18" name="Line 21"/>
            <p:cNvSpPr>
              <a:spLocks noChangeShapeType="1"/>
            </p:cNvSpPr>
            <p:nvPr/>
          </p:nvSpPr>
          <p:spPr bwMode="auto">
            <a:xfrm>
              <a:off x="2286000" y="3124200"/>
              <a:ext cx="6858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19" name="Line 22"/>
            <p:cNvSpPr>
              <a:spLocks noChangeShapeType="1"/>
            </p:cNvSpPr>
            <p:nvPr/>
          </p:nvSpPr>
          <p:spPr bwMode="auto">
            <a:xfrm flipH="1">
              <a:off x="3124200" y="3124200"/>
              <a:ext cx="6858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20" name="Freeform 23"/>
            <p:cNvSpPr>
              <a:spLocks/>
            </p:cNvSpPr>
            <p:nvPr/>
          </p:nvSpPr>
          <p:spPr bwMode="auto">
            <a:xfrm>
              <a:off x="1524000" y="3962400"/>
              <a:ext cx="1447800" cy="304800"/>
            </a:xfrm>
            <a:custGeom>
              <a:avLst/>
              <a:gdLst>
                <a:gd name="T0" fmla="*/ 2147483647 w 912"/>
                <a:gd name="T1" fmla="*/ 0 h 192"/>
                <a:gd name="T2" fmla="*/ 2147483647 w 912"/>
                <a:gd name="T3" fmla="*/ 2147483647 h 192"/>
                <a:gd name="T4" fmla="*/ 0 w 912"/>
                <a:gd name="T5" fmla="*/ 0 h 192"/>
                <a:gd name="T6" fmla="*/ 0 60000 65536"/>
                <a:gd name="T7" fmla="*/ 0 60000 65536"/>
                <a:gd name="T8" fmla="*/ 0 60000 65536"/>
                <a:gd name="T9" fmla="*/ 0 w 912"/>
                <a:gd name="T10" fmla="*/ 0 h 192"/>
                <a:gd name="T11" fmla="*/ 912 w 912"/>
                <a:gd name="T12" fmla="*/ 192 h 19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12" h="192">
                  <a:moveTo>
                    <a:pt x="912" y="0"/>
                  </a:moveTo>
                  <a:cubicBezTo>
                    <a:pt x="724" y="96"/>
                    <a:pt x="536" y="192"/>
                    <a:pt x="384" y="192"/>
                  </a:cubicBezTo>
                  <a:cubicBezTo>
                    <a:pt x="232" y="192"/>
                    <a:pt x="116" y="96"/>
                    <a:pt x="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21" name="Freeform 24"/>
            <p:cNvSpPr>
              <a:spLocks/>
            </p:cNvSpPr>
            <p:nvPr/>
          </p:nvSpPr>
          <p:spPr bwMode="auto">
            <a:xfrm>
              <a:off x="1447800" y="3962400"/>
              <a:ext cx="2286000" cy="533400"/>
            </a:xfrm>
            <a:custGeom>
              <a:avLst/>
              <a:gdLst>
                <a:gd name="T0" fmla="*/ 0 w 1440"/>
                <a:gd name="T1" fmla="*/ 0 h 336"/>
                <a:gd name="T2" fmla="*/ 2147483647 w 1440"/>
                <a:gd name="T3" fmla="*/ 2147483647 h 336"/>
                <a:gd name="T4" fmla="*/ 2147483647 w 1440"/>
                <a:gd name="T5" fmla="*/ 0 h 336"/>
                <a:gd name="T6" fmla="*/ 0 60000 65536"/>
                <a:gd name="T7" fmla="*/ 0 60000 65536"/>
                <a:gd name="T8" fmla="*/ 0 60000 65536"/>
                <a:gd name="T9" fmla="*/ 0 w 1440"/>
                <a:gd name="T10" fmla="*/ 0 h 336"/>
                <a:gd name="T11" fmla="*/ 1440 w 1440"/>
                <a:gd name="T12" fmla="*/ 336 h 3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40" h="336">
                  <a:moveTo>
                    <a:pt x="0" y="0"/>
                  </a:moveTo>
                  <a:cubicBezTo>
                    <a:pt x="192" y="168"/>
                    <a:pt x="384" y="336"/>
                    <a:pt x="624" y="336"/>
                  </a:cubicBezTo>
                  <a:cubicBezTo>
                    <a:pt x="864" y="336"/>
                    <a:pt x="1152" y="168"/>
                    <a:pt x="144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22" name="Freeform 25"/>
            <p:cNvSpPr>
              <a:spLocks/>
            </p:cNvSpPr>
            <p:nvPr/>
          </p:nvSpPr>
          <p:spPr bwMode="auto">
            <a:xfrm>
              <a:off x="3022600" y="3886200"/>
              <a:ext cx="190500" cy="241300"/>
            </a:xfrm>
            <a:custGeom>
              <a:avLst/>
              <a:gdLst>
                <a:gd name="T0" fmla="*/ 2147483647 w 120"/>
                <a:gd name="T1" fmla="*/ 0 h 152"/>
                <a:gd name="T2" fmla="*/ 2147483647 w 120"/>
                <a:gd name="T3" fmla="*/ 2147483647 h 152"/>
                <a:gd name="T4" fmla="*/ 2147483647 w 120"/>
                <a:gd name="T5" fmla="*/ 2147483647 h 152"/>
                <a:gd name="T6" fmla="*/ 2147483647 w 120"/>
                <a:gd name="T7" fmla="*/ 2147483647 h 15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20"/>
                <a:gd name="T13" fmla="*/ 0 h 152"/>
                <a:gd name="T14" fmla="*/ 120 w 120"/>
                <a:gd name="T15" fmla="*/ 152 h 15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20" h="152">
                  <a:moveTo>
                    <a:pt x="64" y="0"/>
                  </a:moveTo>
                  <a:cubicBezTo>
                    <a:pt x="92" y="36"/>
                    <a:pt x="120" y="72"/>
                    <a:pt x="112" y="96"/>
                  </a:cubicBezTo>
                  <a:cubicBezTo>
                    <a:pt x="104" y="120"/>
                    <a:pt x="32" y="152"/>
                    <a:pt x="16" y="144"/>
                  </a:cubicBezTo>
                  <a:cubicBezTo>
                    <a:pt x="0" y="136"/>
                    <a:pt x="8" y="92"/>
                    <a:pt x="16" y="4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23" name="Freeform 26"/>
            <p:cNvSpPr>
              <a:spLocks/>
            </p:cNvSpPr>
            <p:nvPr/>
          </p:nvSpPr>
          <p:spPr bwMode="auto">
            <a:xfrm>
              <a:off x="2768600" y="2565400"/>
              <a:ext cx="482600" cy="177800"/>
            </a:xfrm>
            <a:custGeom>
              <a:avLst/>
              <a:gdLst>
                <a:gd name="T0" fmla="*/ 2147483647 w 304"/>
                <a:gd name="T1" fmla="*/ 2147483647 h 112"/>
                <a:gd name="T2" fmla="*/ 2147483647 w 304"/>
                <a:gd name="T3" fmla="*/ 2147483647 h 112"/>
                <a:gd name="T4" fmla="*/ 2147483647 w 304"/>
                <a:gd name="T5" fmla="*/ 2147483647 h 112"/>
                <a:gd name="T6" fmla="*/ 2147483647 w 304"/>
                <a:gd name="T7" fmla="*/ 2147483647 h 112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304"/>
                <a:gd name="T13" fmla="*/ 0 h 112"/>
                <a:gd name="T14" fmla="*/ 304 w 304"/>
                <a:gd name="T15" fmla="*/ 112 h 112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304" h="112">
                  <a:moveTo>
                    <a:pt x="80" y="112"/>
                  </a:moveTo>
                  <a:cubicBezTo>
                    <a:pt x="40" y="72"/>
                    <a:pt x="0" y="32"/>
                    <a:pt x="32" y="16"/>
                  </a:cubicBezTo>
                  <a:cubicBezTo>
                    <a:pt x="64" y="0"/>
                    <a:pt x="240" y="0"/>
                    <a:pt x="272" y="16"/>
                  </a:cubicBezTo>
                  <a:cubicBezTo>
                    <a:pt x="304" y="32"/>
                    <a:pt x="264" y="72"/>
                    <a:pt x="224" y="112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24" name="Freeform 27"/>
            <p:cNvSpPr>
              <a:spLocks/>
            </p:cNvSpPr>
            <p:nvPr/>
          </p:nvSpPr>
          <p:spPr bwMode="auto">
            <a:xfrm>
              <a:off x="1447800" y="2590800"/>
              <a:ext cx="1447800" cy="228600"/>
            </a:xfrm>
            <a:custGeom>
              <a:avLst/>
              <a:gdLst>
                <a:gd name="T0" fmla="*/ 2147483647 w 912"/>
                <a:gd name="T1" fmla="*/ 2147483647 h 144"/>
                <a:gd name="T2" fmla="*/ 2147483647 w 912"/>
                <a:gd name="T3" fmla="*/ 0 h 144"/>
                <a:gd name="T4" fmla="*/ 0 w 912"/>
                <a:gd name="T5" fmla="*/ 2147483647 h 144"/>
                <a:gd name="T6" fmla="*/ 0 60000 65536"/>
                <a:gd name="T7" fmla="*/ 0 60000 65536"/>
                <a:gd name="T8" fmla="*/ 0 60000 65536"/>
                <a:gd name="T9" fmla="*/ 0 w 912"/>
                <a:gd name="T10" fmla="*/ 0 h 144"/>
                <a:gd name="T11" fmla="*/ 912 w 912"/>
                <a:gd name="T12" fmla="*/ 144 h 14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912" h="144">
                  <a:moveTo>
                    <a:pt x="912" y="144"/>
                  </a:moveTo>
                  <a:cubicBezTo>
                    <a:pt x="748" y="72"/>
                    <a:pt x="584" y="0"/>
                    <a:pt x="432" y="0"/>
                  </a:cubicBezTo>
                  <a:cubicBezTo>
                    <a:pt x="280" y="0"/>
                    <a:pt x="140" y="72"/>
                    <a:pt x="0" y="144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arrow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25" name="Text Box 28"/>
            <p:cNvSpPr txBox="1">
              <a:spLocks noChangeArrowheads="1"/>
            </p:cNvSpPr>
            <p:nvPr/>
          </p:nvSpPr>
          <p:spPr bwMode="auto">
            <a:xfrm>
              <a:off x="1622425" y="2743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26" name="Text Box 29"/>
            <p:cNvSpPr txBox="1">
              <a:spLocks noChangeArrowheads="1"/>
            </p:cNvSpPr>
            <p:nvPr/>
          </p:nvSpPr>
          <p:spPr bwMode="auto">
            <a:xfrm>
              <a:off x="1676400" y="3124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27" name="Text Box 30"/>
            <p:cNvSpPr txBox="1">
              <a:spLocks noChangeArrowheads="1"/>
            </p:cNvSpPr>
            <p:nvPr/>
          </p:nvSpPr>
          <p:spPr bwMode="auto">
            <a:xfrm>
              <a:off x="1600200" y="35814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28" name="Text Box 31"/>
            <p:cNvSpPr txBox="1">
              <a:spLocks noChangeArrowheads="1"/>
            </p:cNvSpPr>
            <p:nvPr/>
          </p:nvSpPr>
          <p:spPr bwMode="auto">
            <a:xfrm>
              <a:off x="2155825" y="39624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29" name="Text Box 32"/>
            <p:cNvSpPr txBox="1">
              <a:spLocks noChangeArrowheads="1"/>
            </p:cNvSpPr>
            <p:nvPr/>
          </p:nvSpPr>
          <p:spPr bwMode="auto">
            <a:xfrm>
              <a:off x="2460625" y="35814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30" name="Text Box 33"/>
            <p:cNvSpPr txBox="1">
              <a:spLocks noChangeArrowheads="1"/>
            </p:cNvSpPr>
            <p:nvPr/>
          </p:nvSpPr>
          <p:spPr bwMode="auto">
            <a:xfrm>
              <a:off x="3581400" y="32004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31" name="Text Box 34"/>
            <p:cNvSpPr txBox="1">
              <a:spLocks noChangeArrowheads="1"/>
            </p:cNvSpPr>
            <p:nvPr/>
          </p:nvSpPr>
          <p:spPr bwMode="auto">
            <a:xfrm>
              <a:off x="3222625" y="3124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32" name="Line 35"/>
            <p:cNvSpPr>
              <a:spLocks noChangeShapeType="1"/>
            </p:cNvSpPr>
            <p:nvPr/>
          </p:nvSpPr>
          <p:spPr bwMode="auto">
            <a:xfrm flipH="1" flipV="1">
              <a:off x="3124200" y="3124200"/>
              <a:ext cx="609600" cy="609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533" name="Text Box 36"/>
            <p:cNvSpPr txBox="1">
              <a:spLocks noChangeArrowheads="1"/>
            </p:cNvSpPr>
            <p:nvPr/>
          </p:nvSpPr>
          <p:spPr bwMode="auto">
            <a:xfrm>
              <a:off x="2841625" y="2362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34" name="Text Box 37"/>
            <p:cNvSpPr txBox="1">
              <a:spLocks noChangeArrowheads="1"/>
            </p:cNvSpPr>
            <p:nvPr/>
          </p:nvSpPr>
          <p:spPr bwMode="auto">
            <a:xfrm>
              <a:off x="1927225" y="2362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35" name="Text Box 38"/>
            <p:cNvSpPr txBox="1">
              <a:spLocks noChangeArrowheads="1"/>
            </p:cNvSpPr>
            <p:nvPr/>
          </p:nvSpPr>
          <p:spPr bwMode="auto">
            <a:xfrm>
              <a:off x="2384425" y="4267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36" name="Text Box 39"/>
            <p:cNvSpPr txBox="1">
              <a:spLocks noChangeArrowheads="1"/>
            </p:cNvSpPr>
            <p:nvPr/>
          </p:nvSpPr>
          <p:spPr bwMode="auto">
            <a:xfrm>
              <a:off x="3298825" y="35814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37" name="Text Box 40"/>
            <p:cNvSpPr txBox="1">
              <a:spLocks noChangeArrowheads="1"/>
            </p:cNvSpPr>
            <p:nvPr/>
          </p:nvSpPr>
          <p:spPr bwMode="auto">
            <a:xfrm>
              <a:off x="2917825" y="40386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38" name="Text Box 41"/>
            <p:cNvSpPr txBox="1">
              <a:spLocks noChangeArrowheads="1"/>
            </p:cNvSpPr>
            <p:nvPr/>
          </p:nvSpPr>
          <p:spPr bwMode="auto">
            <a:xfrm>
              <a:off x="3375025" y="2743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39" name="Text Box 42"/>
            <p:cNvSpPr txBox="1">
              <a:spLocks noChangeArrowheads="1"/>
            </p:cNvSpPr>
            <p:nvPr/>
          </p:nvSpPr>
          <p:spPr bwMode="auto">
            <a:xfrm>
              <a:off x="2384425" y="30480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40" name="Text Box 43"/>
            <p:cNvSpPr txBox="1">
              <a:spLocks noChangeArrowheads="1"/>
            </p:cNvSpPr>
            <p:nvPr/>
          </p:nvSpPr>
          <p:spPr bwMode="auto">
            <a:xfrm>
              <a:off x="2232025" y="32766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folHlink"/>
                  </a:solidFill>
                </a:rPr>
                <a:t>0</a:t>
              </a:r>
            </a:p>
          </p:txBody>
        </p:sp>
        <p:sp>
          <p:nvSpPr>
            <p:cNvPr id="59541" name="Text Box 44"/>
            <p:cNvSpPr txBox="1">
              <a:spLocks noChangeArrowheads="1"/>
            </p:cNvSpPr>
            <p:nvPr/>
          </p:nvSpPr>
          <p:spPr bwMode="auto">
            <a:xfrm>
              <a:off x="2384425" y="2743200"/>
              <a:ext cx="28257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>
                  <a:solidFill>
                    <a:schemeClr val="hlink"/>
                  </a:solidFill>
                </a:rPr>
                <a:t>1</a:t>
              </a:r>
            </a:p>
          </p:txBody>
        </p:sp>
        <p:sp>
          <p:nvSpPr>
            <p:cNvPr id="59542" name="Oval 9"/>
            <p:cNvSpPr>
              <a:spLocks noChangeArrowheads="1"/>
            </p:cNvSpPr>
            <p:nvPr/>
          </p:nvSpPr>
          <p:spPr bwMode="auto">
            <a:xfrm>
              <a:off x="1981200" y="3581400"/>
              <a:ext cx="457200" cy="457200"/>
            </a:xfrm>
            <a:prstGeom prst="ellipse">
              <a:avLst/>
            </a:prstGeom>
            <a:solidFill>
              <a:schemeClr val="accent1">
                <a:alpha val="1176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51" name="TextBox 50"/>
          <p:cNvSpPr txBox="1">
            <a:spLocks noChangeArrowheads="1"/>
          </p:cNvSpPr>
          <p:nvPr/>
        </p:nvSpPr>
        <p:spPr bwMode="auto">
          <a:xfrm>
            <a:off x="6705600" y="3581400"/>
            <a:ext cx="341313" cy="400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  <p:bldP spid="5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7A5E01A-A94E-4C4D-A831-9947F393C80B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604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How to minimize a DFA?</a:t>
            </a:r>
          </a:p>
        </p:txBody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</a:pPr>
            <a:r>
              <a:rPr lang="en-US" u="sng"/>
              <a:t>Goal:</a:t>
            </a:r>
            <a:r>
              <a:rPr lang="en-US"/>
              <a:t> Minimize the number of states in a DFA</a:t>
            </a:r>
          </a:p>
          <a:p>
            <a:pPr marL="609600" indent="-609600" eaLnBrk="1" hangingPunct="1">
              <a:lnSpc>
                <a:spcPct val="90000"/>
              </a:lnSpc>
            </a:pPr>
            <a:r>
              <a:rPr lang="en-US" u="sng"/>
              <a:t>Algorithm:</a:t>
            </a:r>
            <a:endParaRPr lang="en-US"/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/>
              <a:t>Eliminate states unreachable from the start state</a:t>
            </a: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/>
              <a:t>Identify and remove equivalent states</a:t>
            </a:r>
          </a:p>
          <a:p>
            <a:pPr marL="990600" lvl="1" indent="-533400" eaLnBrk="1" hangingPunct="1">
              <a:lnSpc>
                <a:spcPct val="90000"/>
              </a:lnSpc>
              <a:buFont typeface="Arial" charset="0"/>
              <a:buAutoNum type="arabicPeriod"/>
            </a:pPr>
            <a:r>
              <a:rPr lang="en-US"/>
              <a:t>Output the resultant DFA 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3581400" y="2819400"/>
            <a:ext cx="5121275" cy="1676400"/>
            <a:chOff x="2256" y="1776"/>
            <a:chExt cx="3226" cy="1056"/>
          </a:xfrm>
        </p:grpSpPr>
        <p:sp>
          <p:nvSpPr>
            <p:cNvPr id="60423" name="Text Box 4"/>
            <p:cNvSpPr txBox="1">
              <a:spLocks noChangeArrowheads="1"/>
            </p:cNvSpPr>
            <p:nvPr/>
          </p:nvSpPr>
          <p:spPr bwMode="auto">
            <a:xfrm>
              <a:off x="2592" y="1776"/>
              <a:ext cx="2890" cy="250"/>
            </a:xfrm>
            <a:prstGeom prst="rect">
              <a:avLst/>
            </a:prstGeom>
            <a:solidFill>
              <a:srgbClr val="CCFFCC"/>
            </a:solidFill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folHlink"/>
                  </a:solidFill>
                </a:rPr>
                <a:t>Depth-first traversal from the start state</a:t>
              </a:r>
            </a:p>
          </p:txBody>
        </p:sp>
        <p:sp>
          <p:nvSpPr>
            <p:cNvPr id="60424" name="Text Box 5"/>
            <p:cNvSpPr txBox="1">
              <a:spLocks noChangeArrowheads="1"/>
            </p:cNvSpPr>
            <p:nvPr/>
          </p:nvSpPr>
          <p:spPr bwMode="auto">
            <a:xfrm>
              <a:off x="2726" y="2544"/>
              <a:ext cx="1628" cy="250"/>
            </a:xfrm>
            <a:prstGeom prst="rect">
              <a:avLst/>
            </a:prstGeom>
            <a:solidFill>
              <a:srgbClr val="CCFFCC"/>
            </a:solidFill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chemeClr val="folHlink"/>
                  </a:solidFill>
                </a:rPr>
                <a:t>Table filling algorithm</a:t>
              </a:r>
            </a:p>
          </p:txBody>
        </p:sp>
        <p:sp>
          <p:nvSpPr>
            <p:cNvPr id="60425" name="Line 6"/>
            <p:cNvSpPr>
              <a:spLocks noChangeShapeType="1"/>
            </p:cNvSpPr>
            <p:nvPr/>
          </p:nvSpPr>
          <p:spPr bwMode="auto">
            <a:xfrm flipH="1">
              <a:off x="3216" y="2016"/>
              <a:ext cx="240" cy="2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426" name="Line 7"/>
            <p:cNvSpPr>
              <a:spLocks noChangeShapeType="1"/>
            </p:cNvSpPr>
            <p:nvPr/>
          </p:nvSpPr>
          <p:spPr bwMode="auto">
            <a:xfrm flipH="1">
              <a:off x="2256" y="2736"/>
              <a:ext cx="480" cy="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60422" name="TextBox 9"/>
          <p:cNvSpPr txBox="1">
            <a:spLocks noChangeArrowheads="1"/>
          </p:cNvSpPr>
          <p:nvPr/>
        </p:nvSpPr>
        <p:spPr bwMode="auto">
          <a:xfrm>
            <a:off x="228600" y="228600"/>
            <a:ext cx="3921125" cy="523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800"/>
              <a:t>Putting it all together …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63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563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63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563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563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8479D66-7778-4E0B-9949-BCBA685EF0EC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Are Two DFAs Equivalent?</a:t>
            </a:r>
          </a:p>
        </p:txBody>
      </p:sp>
      <p:sp>
        <p:nvSpPr>
          <p:cNvPr id="61444" name="Line 3"/>
          <p:cNvSpPr>
            <a:spLocks noChangeShapeType="1"/>
          </p:cNvSpPr>
          <p:nvPr/>
        </p:nvSpPr>
        <p:spPr bwMode="auto">
          <a:xfrm>
            <a:off x="3276600" y="2895600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445" name="Oval 4"/>
          <p:cNvSpPr>
            <a:spLocks noChangeArrowheads="1"/>
          </p:cNvSpPr>
          <p:nvPr/>
        </p:nvSpPr>
        <p:spPr bwMode="auto">
          <a:xfrm>
            <a:off x="3657600" y="2743200"/>
            <a:ext cx="381000" cy="3810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600"/>
              <a:t>q</a:t>
            </a:r>
            <a:r>
              <a:rPr lang="en-US" sz="1600" baseline="-25000"/>
              <a:t>0</a:t>
            </a:r>
            <a:endParaRPr lang="en-US" sz="1600"/>
          </a:p>
        </p:txBody>
      </p:sp>
      <p:sp>
        <p:nvSpPr>
          <p:cNvPr id="61446" name="Line 7"/>
          <p:cNvSpPr>
            <a:spLocks noChangeShapeType="1"/>
          </p:cNvSpPr>
          <p:nvPr/>
        </p:nvSpPr>
        <p:spPr bwMode="auto">
          <a:xfrm flipV="1">
            <a:off x="4038600" y="2743200"/>
            <a:ext cx="6096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447" name="Line 21"/>
          <p:cNvSpPr>
            <a:spLocks noChangeShapeType="1"/>
          </p:cNvSpPr>
          <p:nvPr/>
        </p:nvSpPr>
        <p:spPr bwMode="auto">
          <a:xfrm>
            <a:off x="4038600" y="2971800"/>
            <a:ext cx="533400" cy="76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448" name="Text Box 22"/>
          <p:cNvSpPr txBox="1">
            <a:spLocks noChangeArrowheads="1"/>
          </p:cNvSpPr>
          <p:nvPr/>
        </p:nvSpPr>
        <p:spPr bwMode="auto">
          <a:xfrm>
            <a:off x="4632325" y="2762250"/>
            <a:ext cx="438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61449" name="AutoShape 23"/>
          <p:cNvSpPr>
            <a:spLocks noChangeArrowheads="1"/>
          </p:cNvSpPr>
          <p:nvPr/>
        </p:nvSpPr>
        <p:spPr bwMode="auto">
          <a:xfrm>
            <a:off x="3505200" y="2362200"/>
            <a:ext cx="3048000" cy="1066800"/>
          </a:xfrm>
          <a:prstGeom prst="roundRect">
            <a:avLst>
              <a:gd name="adj" fmla="val 16667"/>
            </a:avLst>
          </a:prstGeom>
          <a:solidFill>
            <a:schemeClr val="accent1">
              <a:alpha val="5882"/>
            </a:schemeClr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61450" name="Line 24"/>
          <p:cNvSpPr>
            <a:spLocks noChangeShapeType="1"/>
          </p:cNvSpPr>
          <p:nvPr/>
        </p:nvSpPr>
        <p:spPr bwMode="auto">
          <a:xfrm>
            <a:off x="3311525" y="4384675"/>
            <a:ext cx="381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451" name="Oval 25"/>
          <p:cNvSpPr>
            <a:spLocks noChangeArrowheads="1"/>
          </p:cNvSpPr>
          <p:nvPr/>
        </p:nvSpPr>
        <p:spPr bwMode="auto">
          <a:xfrm>
            <a:off x="3692525" y="4232275"/>
            <a:ext cx="381000" cy="3810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600"/>
              <a:t>q</a:t>
            </a:r>
            <a:r>
              <a:rPr lang="en-US" sz="1600" baseline="-25000"/>
              <a:t>0</a:t>
            </a:r>
            <a:r>
              <a:rPr lang="en-US" sz="1600"/>
              <a:t>’</a:t>
            </a:r>
          </a:p>
        </p:txBody>
      </p:sp>
      <p:sp>
        <p:nvSpPr>
          <p:cNvPr id="61452" name="Line 26"/>
          <p:cNvSpPr>
            <a:spLocks noChangeShapeType="1"/>
          </p:cNvSpPr>
          <p:nvPr/>
        </p:nvSpPr>
        <p:spPr bwMode="auto">
          <a:xfrm flipV="1">
            <a:off x="4073525" y="4232275"/>
            <a:ext cx="6096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453" name="Line 27"/>
          <p:cNvSpPr>
            <a:spLocks noChangeShapeType="1"/>
          </p:cNvSpPr>
          <p:nvPr/>
        </p:nvSpPr>
        <p:spPr bwMode="auto">
          <a:xfrm>
            <a:off x="4073525" y="4460875"/>
            <a:ext cx="533400" cy="76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454" name="Text Box 28"/>
          <p:cNvSpPr txBox="1">
            <a:spLocks noChangeArrowheads="1"/>
          </p:cNvSpPr>
          <p:nvPr/>
        </p:nvSpPr>
        <p:spPr bwMode="auto">
          <a:xfrm>
            <a:off x="4667250" y="4251325"/>
            <a:ext cx="43815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61455" name="AutoShape 30"/>
          <p:cNvSpPr>
            <a:spLocks noChangeArrowheads="1"/>
          </p:cNvSpPr>
          <p:nvPr/>
        </p:nvSpPr>
        <p:spPr bwMode="auto">
          <a:xfrm>
            <a:off x="3505200" y="3886200"/>
            <a:ext cx="3048000" cy="1066800"/>
          </a:xfrm>
          <a:prstGeom prst="roundRect">
            <a:avLst>
              <a:gd name="adj" fmla="val 16667"/>
            </a:avLst>
          </a:prstGeom>
          <a:solidFill>
            <a:schemeClr val="accent1">
              <a:alpha val="5882"/>
            </a:schemeClr>
          </a:solidFill>
          <a:ln w="9525">
            <a:solidFill>
              <a:schemeClr val="tx1"/>
            </a:solidFill>
            <a:prstDash val="dash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1456" name="Text Box 32"/>
          <p:cNvSpPr txBox="1">
            <a:spLocks noChangeArrowheads="1"/>
          </p:cNvSpPr>
          <p:nvPr/>
        </p:nvSpPr>
        <p:spPr bwMode="auto">
          <a:xfrm>
            <a:off x="3559175" y="2041525"/>
            <a:ext cx="7842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DFA</a:t>
            </a:r>
            <a:r>
              <a:rPr lang="en-US" baseline="-25000"/>
              <a:t>1</a:t>
            </a:r>
            <a:endParaRPr lang="en-US"/>
          </a:p>
        </p:txBody>
      </p:sp>
      <p:sp>
        <p:nvSpPr>
          <p:cNvPr id="61457" name="Text Box 33"/>
          <p:cNvSpPr txBox="1">
            <a:spLocks noChangeArrowheads="1"/>
          </p:cNvSpPr>
          <p:nvPr/>
        </p:nvSpPr>
        <p:spPr bwMode="auto">
          <a:xfrm>
            <a:off x="3505200" y="3505200"/>
            <a:ext cx="7842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DFA</a:t>
            </a:r>
            <a:r>
              <a:rPr lang="en-US" baseline="-25000"/>
              <a:t>2</a:t>
            </a:r>
            <a:endParaRPr lang="en-US"/>
          </a:p>
        </p:txBody>
      </p:sp>
      <p:sp>
        <p:nvSpPr>
          <p:cNvPr id="268322" name="Freeform 34"/>
          <p:cNvSpPr>
            <a:spLocks/>
          </p:cNvSpPr>
          <p:nvPr/>
        </p:nvSpPr>
        <p:spPr bwMode="auto">
          <a:xfrm>
            <a:off x="1752600" y="2857500"/>
            <a:ext cx="1524000" cy="825500"/>
          </a:xfrm>
          <a:custGeom>
            <a:avLst/>
            <a:gdLst>
              <a:gd name="T0" fmla="*/ 0 w 960"/>
              <a:gd name="T1" fmla="*/ 2147483647 h 520"/>
              <a:gd name="T2" fmla="*/ 2147483647 w 960"/>
              <a:gd name="T3" fmla="*/ 2147483647 h 520"/>
              <a:gd name="T4" fmla="*/ 2147483647 w 960"/>
              <a:gd name="T5" fmla="*/ 2147483647 h 520"/>
              <a:gd name="T6" fmla="*/ 2147483647 w 960"/>
              <a:gd name="T7" fmla="*/ 2147483647 h 520"/>
              <a:gd name="T8" fmla="*/ 0 60000 65536"/>
              <a:gd name="T9" fmla="*/ 0 60000 65536"/>
              <a:gd name="T10" fmla="*/ 0 60000 65536"/>
              <a:gd name="T11" fmla="*/ 0 60000 65536"/>
              <a:gd name="T12" fmla="*/ 0 w 960"/>
              <a:gd name="T13" fmla="*/ 0 h 520"/>
              <a:gd name="T14" fmla="*/ 960 w 960"/>
              <a:gd name="T15" fmla="*/ 520 h 52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960" h="520">
                <a:moveTo>
                  <a:pt x="0" y="456"/>
                </a:moveTo>
                <a:cubicBezTo>
                  <a:pt x="116" y="488"/>
                  <a:pt x="232" y="520"/>
                  <a:pt x="288" y="456"/>
                </a:cubicBezTo>
                <a:cubicBezTo>
                  <a:pt x="344" y="392"/>
                  <a:pt x="224" y="144"/>
                  <a:pt x="336" y="72"/>
                </a:cubicBezTo>
                <a:cubicBezTo>
                  <a:pt x="448" y="0"/>
                  <a:pt x="704" y="12"/>
                  <a:pt x="960" y="2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8323" name="AutoShape 35"/>
          <p:cNvSpPr>
            <a:spLocks noChangeArrowheads="1"/>
          </p:cNvSpPr>
          <p:nvPr/>
        </p:nvSpPr>
        <p:spPr bwMode="auto">
          <a:xfrm>
            <a:off x="2743200" y="1981200"/>
            <a:ext cx="4572000" cy="3124200"/>
          </a:xfrm>
          <a:prstGeom prst="roundRect">
            <a:avLst>
              <a:gd name="adj" fmla="val 16667"/>
            </a:avLst>
          </a:prstGeom>
          <a:solidFill>
            <a:srgbClr val="FFCC99">
              <a:alpha val="12941"/>
            </a:srgbClr>
          </a:solidFill>
          <a:ln w="9525" cap="rnd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68324" name="Text Box 36"/>
          <p:cNvSpPr txBox="1">
            <a:spLocks noChangeArrowheads="1"/>
          </p:cNvSpPr>
          <p:nvPr/>
        </p:nvSpPr>
        <p:spPr bwMode="auto">
          <a:xfrm>
            <a:off x="1508125" y="2076450"/>
            <a:ext cx="1554163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Unified DFA</a:t>
            </a:r>
          </a:p>
        </p:txBody>
      </p:sp>
      <p:sp>
        <p:nvSpPr>
          <p:cNvPr id="55317" name="Text Box 37"/>
          <p:cNvSpPr txBox="1">
            <a:spLocks noChangeArrowheads="1"/>
          </p:cNvSpPr>
          <p:nvPr/>
        </p:nvSpPr>
        <p:spPr bwMode="auto">
          <a:xfrm>
            <a:off x="457200" y="5105400"/>
            <a:ext cx="7851775" cy="1938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457200" indent="-457200">
              <a:buFont typeface="Arial" charset="0"/>
              <a:buAutoNum type="arabicPeriod"/>
            </a:pPr>
            <a:r>
              <a:rPr lang="en-US"/>
              <a:t>Make a new dummy DFA by just putting together both DFAs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/>
              <a:t>Run table-filling algorithm on the unified DFA</a:t>
            </a:r>
          </a:p>
          <a:p>
            <a:pPr marL="457200" indent="-457200">
              <a:buFont typeface="Arial" charset="0"/>
              <a:buAutoNum type="arabicPeriod"/>
            </a:pPr>
            <a:r>
              <a:rPr lang="en-US" i="1"/>
              <a:t>IF</a:t>
            </a:r>
            <a:r>
              <a:rPr lang="en-US"/>
              <a:t> the start states of both DFAs are found to be equivalent, </a:t>
            </a:r>
            <a:br>
              <a:rPr lang="en-US"/>
            </a:br>
            <a:r>
              <a:rPr lang="en-US"/>
              <a:t>		</a:t>
            </a:r>
            <a:r>
              <a:rPr lang="en-US" i="1"/>
              <a:t>THEN:</a:t>
            </a:r>
            <a:r>
              <a:rPr lang="en-US"/>
              <a:t>	DFA</a:t>
            </a:r>
            <a:r>
              <a:rPr lang="en-US" baseline="-25000"/>
              <a:t>1</a:t>
            </a:r>
            <a:r>
              <a:rPr lang="en-US"/>
              <a:t>≡ DFA</a:t>
            </a:r>
            <a:r>
              <a:rPr lang="en-US" baseline="-25000"/>
              <a:t>2	</a:t>
            </a:r>
            <a:br>
              <a:rPr lang="en-US"/>
            </a:br>
            <a:r>
              <a:rPr lang="en-US"/>
              <a:t>		</a:t>
            </a:r>
            <a:r>
              <a:rPr lang="en-US" i="1"/>
              <a:t>ELSE:</a:t>
            </a:r>
            <a:r>
              <a:rPr lang="en-US"/>
              <a:t>	different</a:t>
            </a:r>
            <a:endParaRPr lang="en-US" baseline="-25000"/>
          </a:p>
          <a:p>
            <a:pPr marL="457200" indent="-457200">
              <a:buFont typeface="Arial" charset="0"/>
              <a:buAutoNum type="arabicPeriod"/>
            </a:pPr>
            <a:endParaRPr lang="en-US"/>
          </a:p>
        </p:txBody>
      </p:sp>
      <p:sp>
        <p:nvSpPr>
          <p:cNvPr id="24" name="TextBox 23"/>
          <p:cNvSpPr txBox="1">
            <a:spLocks noChangeArrowheads="1"/>
          </p:cNvSpPr>
          <p:nvPr/>
        </p:nvSpPr>
        <p:spPr bwMode="auto">
          <a:xfrm>
            <a:off x="6629400" y="3124200"/>
            <a:ext cx="2474913" cy="830263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600"/>
              <a:t>Is q</a:t>
            </a:r>
            <a:r>
              <a:rPr lang="en-US" sz="1600" baseline="-25000"/>
              <a:t>0</a:t>
            </a:r>
            <a:r>
              <a:rPr lang="en-US" sz="1600"/>
              <a:t> ≡ q</a:t>
            </a:r>
            <a:r>
              <a:rPr lang="en-US" sz="1600" baseline="-25000"/>
              <a:t>0</a:t>
            </a:r>
            <a:r>
              <a:rPr lang="en-US" sz="1600"/>
              <a:t>’?</a:t>
            </a:r>
            <a:br>
              <a:rPr lang="en-US" sz="1600"/>
            </a:br>
            <a:r>
              <a:rPr lang="en-US" sz="1600"/>
              <a:t> : if yes, then DFA</a:t>
            </a:r>
            <a:r>
              <a:rPr lang="en-US" sz="1600" baseline="-25000"/>
              <a:t>1</a:t>
            </a:r>
            <a:r>
              <a:rPr lang="en-US" sz="1600">
                <a:cs typeface="Arial" charset="0"/>
              </a:rPr>
              <a:t>≡DFA</a:t>
            </a:r>
            <a:r>
              <a:rPr lang="en-US" sz="1600" baseline="-25000">
                <a:cs typeface="Arial" charset="0"/>
              </a:rPr>
              <a:t>2</a:t>
            </a:r>
          </a:p>
          <a:p>
            <a:r>
              <a:rPr lang="en-US" sz="1600"/>
              <a:t> : else, not equiv.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55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8322" grpId="0" animBg="1"/>
      <p:bldP spid="268323" grpId="0" animBg="1"/>
      <p:bldP spid="268324" grpId="0"/>
      <p:bldP spid="55317" grpId="0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D6D0259-1826-4F0D-9F61-CD9C3F803B5C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624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Summary</a:t>
            </a:r>
          </a:p>
        </p:txBody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sz="2000"/>
              <a:t>How to prove languages are not regular?</a:t>
            </a:r>
          </a:p>
          <a:p>
            <a:pPr lvl="1" eaLnBrk="1" hangingPunct="1"/>
            <a:r>
              <a:rPr lang="en-US" sz="2000"/>
              <a:t>Pumping lemma &amp; its applications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Closure properties of regular languages</a:t>
            </a:r>
          </a:p>
          <a:p>
            <a:pPr eaLnBrk="1" hangingPunct="1"/>
            <a:endParaRPr lang="en-US" sz="2000"/>
          </a:p>
          <a:p>
            <a:pPr eaLnBrk="1" hangingPunct="1"/>
            <a:r>
              <a:rPr lang="en-US" sz="2000"/>
              <a:t>Simplification of DFAs</a:t>
            </a:r>
          </a:p>
          <a:p>
            <a:pPr lvl="1" eaLnBrk="1" hangingPunct="1"/>
            <a:r>
              <a:rPr lang="en-US" sz="2000"/>
              <a:t>How to remove unreachable states?</a:t>
            </a:r>
          </a:p>
          <a:p>
            <a:pPr lvl="1" eaLnBrk="1" hangingPunct="1"/>
            <a:r>
              <a:rPr lang="en-US" sz="2000"/>
              <a:t>How to identify and collapse equivalent states?</a:t>
            </a:r>
          </a:p>
          <a:p>
            <a:pPr lvl="1" eaLnBrk="1" hangingPunct="1"/>
            <a:r>
              <a:rPr lang="en-US" sz="2000"/>
              <a:t>How to minimize a DFA?</a:t>
            </a:r>
          </a:p>
          <a:p>
            <a:pPr lvl="1" eaLnBrk="1" hangingPunct="1"/>
            <a:r>
              <a:rPr lang="en-US" sz="2000"/>
              <a:t>How to tell whether two DFAs are equivalent?</a:t>
            </a:r>
            <a:endParaRPr lang="en-US" sz="2000">
              <a:ea typeface="ＭＳ Ｐゴシック" pitchFamily="28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ends">
  <a:themeElements>
    <a:clrScheme name="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28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28" charset="-128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Macintosh HD:Applications:Microsoft Office 2004:Templates:Presentations:Designs:Blends</Template>
  <TotalTime>2966</TotalTime>
  <Words>3756</Words>
  <Application>Microsoft Office PowerPoint</Application>
  <PresentationFormat>On-screen Show (4:3)</PresentationFormat>
  <Paragraphs>1277</Paragraphs>
  <Slides>47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ＭＳ Ｐゴシック</vt:lpstr>
      <vt:lpstr>Arial</vt:lpstr>
      <vt:lpstr>Symbol</vt:lpstr>
      <vt:lpstr>Wingdings</vt:lpstr>
      <vt:lpstr>Blends</vt:lpstr>
      <vt:lpstr>Properties of Regular Languages</vt:lpstr>
      <vt:lpstr>Topics</vt:lpstr>
      <vt:lpstr>Some languages are not regular</vt:lpstr>
      <vt:lpstr>How to prove languages are not regular?</vt:lpstr>
      <vt:lpstr>Example of a non-regular language </vt:lpstr>
      <vt:lpstr>The Pumping Lemma for Regular Languages</vt:lpstr>
      <vt:lpstr>Pumping Lemma for Regular Languages</vt:lpstr>
      <vt:lpstr>Pumping Lemma: Proof</vt:lpstr>
      <vt:lpstr>Pumping Lemma: Proof…</vt:lpstr>
      <vt:lpstr>Pumping Lemma: Proof…</vt:lpstr>
      <vt:lpstr>The Purpose of the Pumping Lemma for RL</vt:lpstr>
      <vt:lpstr>How to use the pumping lemma? </vt:lpstr>
      <vt:lpstr>How to use the pumping lemma? (The Steps)</vt:lpstr>
      <vt:lpstr>Using the Pumping Lemma </vt:lpstr>
      <vt:lpstr>Example of using the Pumping Lemma to prove that a language is not regular</vt:lpstr>
      <vt:lpstr>Proof…  </vt:lpstr>
      <vt:lpstr> </vt:lpstr>
      <vt:lpstr> </vt:lpstr>
      <vt:lpstr> </vt:lpstr>
      <vt:lpstr>Exercise 2</vt:lpstr>
      <vt:lpstr> </vt:lpstr>
      <vt:lpstr> </vt:lpstr>
      <vt:lpstr> </vt:lpstr>
      <vt:lpstr>Example 3: Pumping Lemma</vt:lpstr>
      <vt:lpstr>Example 3: Pumping Lemma</vt:lpstr>
      <vt:lpstr> </vt:lpstr>
      <vt:lpstr> </vt:lpstr>
      <vt:lpstr> </vt:lpstr>
      <vt:lpstr>Equivalence &amp; Minimization of DFAs</vt:lpstr>
      <vt:lpstr>Applications of interest</vt:lpstr>
      <vt:lpstr>When to call two states in a DFA “equivalent”?</vt:lpstr>
      <vt:lpstr>Computing equivalent states in a DFA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- step by step</vt:lpstr>
      <vt:lpstr>Table Filling Algorithm – special case</vt:lpstr>
      <vt:lpstr>How to minimize a DFA?</vt:lpstr>
      <vt:lpstr>Are Two DFAs Equivalent?</vt:lpstr>
      <vt:lpstr>Summary</vt:lpstr>
    </vt:vector>
  </TitlesOfParts>
  <Company>Office 2004 ananth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CPT S 223: Advanced Data Structures</dc:title>
  <dc:creator>Office 2004 ananth</dc:creator>
  <cp:lastModifiedBy>Emad Alsuwat</cp:lastModifiedBy>
  <cp:revision>670</cp:revision>
  <cp:lastPrinted>2007-08-15T03:01:31Z</cp:lastPrinted>
  <dcterms:created xsi:type="dcterms:W3CDTF">2007-08-14T22:08:29Z</dcterms:created>
  <dcterms:modified xsi:type="dcterms:W3CDTF">2025-11-01T09:53:44Z</dcterms:modified>
</cp:coreProperties>
</file>